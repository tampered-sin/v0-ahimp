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083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3294B"/>
          </a:solidFill>
          <a:ln w="12700">
            <a:solidFill>
              <a:srgbClr val="13294B"/>
            </a:solidFill>
            <a:prstDash val="solid"/>
          </a:ln>
        </p:spPr>
        <p:txBody>
          <a:bodyPr/>
          <a:lstStyle/>
          <a:p>
            <a:endParaRPr lang="en-IN"/>
          </a:p>
        </p:txBody>
      </p:sp>
      <p:sp>
        <p:nvSpPr>
          <p:cNvPr id="3" name="Shape 1"/>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292608" y="457200"/>
            <a:ext cx="3017520" cy="1188720"/>
          </a:xfrm>
          <a:prstGeom prst="rect">
            <a:avLst/>
          </a:prstGeom>
          <a:noFill/>
          <a:ln/>
        </p:spPr>
        <p:txBody>
          <a:bodyPr wrap="square" rtlCol="0" anchor="ctr"/>
          <a:lstStyle/>
          <a:p>
            <a:pPr marL="0" indent="0">
              <a:buNone/>
            </a:pPr>
            <a:r>
              <a:rPr lang="en-US" sz="5800" b="1" kern="0" spc="600" dirty="0">
                <a:solidFill>
                  <a:srgbClr val="FFFFFF"/>
                </a:solidFill>
                <a:latin typeface="Calibri" pitchFamily="34" charset="0"/>
                <a:ea typeface="Calibri" pitchFamily="34" charset="-122"/>
                <a:cs typeface="Calibri" pitchFamily="34" charset="-120"/>
              </a:rPr>
              <a:t>AHIM</a:t>
            </a:r>
            <a:endParaRPr lang="en-US" sz="5800" dirty="0"/>
          </a:p>
        </p:txBody>
      </p:sp>
      <p:sp>
        <p:nvSpPr>
          <p:cNvPr id="5" name="Text 3"/>
          <p:cNvSpPr/>
          <p:nvPr/>
        </p:nvSpPr>
        <p:spPr>
          <a:xfrm>
            <a:off x="292608" y="1572768"/>
            <a:ext cx="3017520" cy="914400"/>
          </a:xfrm>
          <a:prstGeom prst="rect">
            <a:avLst/>
          </a:prstGeom>
          <a:noFill/>
          <a:ln/>
        </p:spPr>
        <p:txBody>
          <a:bodyPr wrap="square" rtlCol="0" anchor="ctr"/>
          <a:lstStyle/>
          <a:p>
            <a:pPr marL="0" indent="0">
              <a:lnSpc>
                <a:spcPct val="140000"/>
              </a:lnSpc>
              <a:buNone/>
            </a:pPr>
            <a:r>
              <a:rPr lang="en-US" sz="1350" dirty="0">
                <a:solidFill>
                  <a:srgbClr val="8AB4D4"/>
                </a:solidFill>
                <a:latin typeface="Calibri" pitchFamily="34" charset="0"/>
                <a:ea typeface="Calibri" pitchFamily="34" charset="-122"/>
                <a:cs typeface="Calibri" pitchFamily="34" charset="-120"/>
              </a:rPr>
              <a:t>AI-Powered Hospital</a:t>
            </a:r>
            <a:endParaRPr lang="en-US" sz="1350" dirty="0"/>
          </a:p>
          <a:p>
            <a:pPr marL="0" indent="0">
              <a:lnSpc>
                <a:spcPct val="140000"/>
              </a:lnSpc>
              <a:buNone/>
            </a:pPr>
            <a:r>
              <a:rPr lang="en-US" sz="1350" dirty="0">
                <a:solidFill>
                  <a:srgbClr val="8AB4D4"/>
                </a:solidFill>
                <a:latin typeface="Calibri" pitchFamily="34" charset="0"/>
                <a:ea typeface="Calibri" pitchFamily="34" charset="-122"/>
                <a:cs typeface="Calibri" pitchFamily="34" charset="-120"/>
              </a:rPr>
              <a:t>Inventory Management</a:t>
            </a:r>
            <a:endParaRPr lang="en-US" sz="1350" dirty="0"/>
          </a:p>
        </p:txBody>
      </p:sp>
      <p:sp>
        <p:nvSpPr>
          <p:cNvPr id="6" name="Shape 4"/>
          <p:cNvSpPr/>
          <p:nvPr/>
        </p:nvSpPr>
        <p:spPr>
          <a:xfrm>
            <a:off x="292608" y="2651760"/>
            <a:ext cx="2651760" cy="36576"/>
          </a:xfrm>
          <a:prstGeom prst="rect">
            <a:avLst/>
          </a:prstGeom>
          <a:solidFill>
            <a:srgbClr val="1A6FBF"/>
          </a:solidFill>
          <a:ln w="12700">
            <a:solidFill>
              <a:srgbClr val="1A6FBF"/>
            </a:solidFill>
            <a:prstDash val="solid"/>
          </a:ln>
        </p:spPr>
        <p:txBody>
          <a:bodyPr/>
          <a:lstStyle/>
          <a:p>
            <a:endParaRPr lang="en-IN"/>
          </a:p>
        </p:txBody>
      </p:sp>
      <p:sp>
        <p:nvSpPr>
          <p:cNvPr id="7" name="Text 5"/>
          <p:cNvSpPr/>
          <p:nvPr/>
        </p:nvSpPr>
        <p:spPr>
          <a:xfrm>
            <a:off x="292608" y="2816352"/>
            <a:ext cx="3017520" cy="320040"/>
          </a:xfrm>
          <a:prstGeom prst="rect">
            <a:avLst/>
          </a:prstGeom>
          <a:noFill/>
          <a:ln/>
        </p:spPr>
        <p:txBody>
          <a:bodyPr wrap="square" rtlCol="0" anchor="ctr"/>
          <a:lstStyle/>
          <a:p>
            <a:pPr marL="0" indent="0">
              <a:buNone/>
            </a:pPr>
            <a:r>
              <a:rPr lang="en-US" sz="1000" b="1" dirty="0">
                <a:solidFill>
                  <a:srgbClr val="8AB4D4"/>
                </a:solidFill>
                <a:latin typeface="Calibri" pitchFamily="34" charset="0"/>
                <a:ea typeface="Calibri" pitchFamily="34" charset="-122"/>
                <a:cs typeface="Calibri" pitchFamily="34" charset="-120"/>
              </a:rPr>
              <a:t>Team Members</a:t>
            </a:r>
            <a:endParaRPr lang="en-US" sz="1000" dirty="0"/>
          </a:p>
        </p:txBody>
      </p:sp>
      <p:sp>
        <p:nvSpPr>
          <p:cNvPr id="8" name="Shape 6"/>
          <p:cNvSpPr/>
          <p:nvPr/>
        </p:nvSpPr>
        <p:spPr>
          <a:xfrm>
            <a:off x="292608" y="3154680"/>
            <a:ext cx="2980944" cy="502920"/>
          </a:xfrm>
          <a:prstGeom prst="rect">
            <a:avLst/>
          </a:prstGeom>
          <a:solidFill>
            <a:srgbClr val="1A3A5C"/>
          </a:solidFill>
          <a:ln w="12700">
            <a:solidFill>
              <a:srgbClr val="1A6FBF"/>
            </a:solidFill>
            <a:prstDash val="solid"/>
          </a:ln>
        </p:spPr>
        <p:txBody>
          <a:bodyPr/>
          <a:lstStyle/>
          <a:p>
            <a:endParaRPr lang="en-IN"/>
          </a:p>
        </p:txBody>
      </p:sp>
      <p:sp>
        <p:nvSpPr>
          <p:cNvPr id="9" name="Text 7"/>
          <p:cNvSpPr/>
          <p:nvPr/>
        </p:nvSpPr>
        <p:spPr>
          <a:xfrm>
            <a:off x="402336" y="3191256"/>
            <a:ext cx="274320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Tenzin Kunga</a:t>
            </a:r>
            <a:endParaRPr lang="en-US" sz="1200" dirty="0"/>
          </a:p>
        </p:txBody>
      </p:sp>
      <p:sp>
        <p:nvSpPr>
          <p:cNvPr id="10" name="Text 8"/>
          <p:cNvSpPr/>
          <p:nvPr/>
        </p:nvSpPr>
        <p:spPr>
          <a:xfrm>
            <a:off x="402336" y="3410712"/>
            <a:ext cx="2743200" cy="201168"/>
          </a:xfrm>
          <a:prstGeom prst="rect">
            <a:avLst/>
          </a:prstGeom>
          <a:noFill/>
          <a:ln/>
        </p:spPr>
        <p:txBody>
          <a:bodyPr wrap="square" rtlCol="0" anchor="ctr"/>
          <a:lstStyle/>
          <a:p>
            <a:pPr marL="0" indent="0">
              <a:buNone/>
            </a:pPr>
            <a:r>
              <a:rPr lang="en-US" sz="1000" dirty="0">
                <a:solidFill>
                  <a:srgbClr val="8AB4D4"/>
                </a:solidFill>
                <a:latin typeface="Calibri" pitchFamily="34" charset="0"/>
                <a:ea typeface="Calibri" pitchFamily="34" charset="-122"/>
                <a:cs typeface="Calibri" pitchFamily="34" charset="-120"/>
              </a:rPr>
              <a:t>23BTRCL088</a:t>
            </a:r>
            <a:endParaRPr lang="en-US" sz="1000" dirty="0"/>
          </a:p>
        </p:txBody>
      </p:sp>
      <p:sp>
        <p:nvSpPr>
          <p:cNvPr id="11" name="Shape 9"/>
          <p:cNvSpPr/>
          <p:nvPr/>
        </p:nvSpPr>
        <p:spPr>
          <a:xfrm>
            <a:off x="292608" y="3721608"/>
            <a:ext cx="2980944" cy="502920"/>
          </a:xfrm>
          <a:prstGeom prst="rect">
            <a:avLst/>
          </a:prstGeom>
          <a:solidFill>
            <a:srgbClr val="1A3A5C"/>
          </a:solidFill>
          <a:ln w="12700">
            <a:solidFill>
              <a:srgbClr val="1A6FBF"/>
            </a:solidFill>
            <a:prstDash val="solid"/>
          </a:ln>
        </p:spPr>
        <p:txBody>
          <a:bodyPr/>
          <a:lstStyle/>
          <a:p>
            <a:endParaRPr lang="en-IN"/>
          </a:p>
        </p:txBody>
      </p:sp>
      <p:sp>
        <p:nvSpPr>
          <p:cNvPr id="12" name="Text 10"/>
          <p:cNvSpPr/>
          <p:nvPr/>
        </p:nvSpPr>
        <p:spPr>
          <a:xfrm>
            <a:off x="402336" y="3758184"/>
            <a:ext cx="274320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Saunak Mahapatra</a:t>
            </a:r>
            <a:endParaRPr lang="en-US" sz="1200" dirty="0"/>
          </a:p>
        </p:txBody>
      </p:sp>
      <p:sp>
        <p:nvSpPr>
          <p:cNvPr id="13" name="Text 11"/>
          <p:cNvSpPr/>
          <p:nvPr/>
        </p:nvSpPr>
        <p:spPr>
          <a:xfrm>
            <a:off x="402336" y="3977640"/>
            <a:ext cx="2743200" cy="201168"/>
          </a:xfrm>
          <a:prstGeom prst="rect">
            <a:avLst/>
          </a:prstGeom>
          <a:noFill/>
          <a:ln/>
        </p:spPr>
        <p:txBody>
          <a:bodyPr wrap="square" rtlCol="0" anchor="ctr"/>
          <a:lstStyle/>
          <a:p>
            <a:pPr marL="0" indent="0">
              <a:buNone/>
            </a:pPr>
            <a:r>
              <a:rPr lang="en-US" sz="1000" dirty="0">
                <a:solidFill>
                  <a:srgbClr val="8AB4D4"/>
                </a:solidFill>
                <a:latin typeface="Calibri" pitchFamily="34" charset="0"/>
                <a:ea typeface="Calibri" pitchFamily="34" charset="-122"/>
                <a:cs typeface="Calibri" pitchFamily="34" charset="-120"/>
              </a:rPr>
              <a:t>23BTRCL077</a:t>
            </a:r>
            <a:endParaRPr lang="en-US" sz="1000" dirty="0"/>
          </a:p>
        </p:txBody>
      </p:sp>
      <p:sp>
        <p:nvSpPr>
          <p:cNvPr id="14" name="Shape 12"/>
          <p:cNvSpPr/>
          <p:nvPr/>
        </p:nvSpPr>
        <p:spPr>
          <a:xfrm>
            <a:off x="292608" y="4288536"/>
            <a:ext cx="2980944" cy="502920"/>
          </a:xfrm>
          <a:prstGeom prst="rect">
            <a:avLst/>
          </a:prstGeom>
          <a:solidFill>
            <a:srgbClr val="1A3A5C"/>
          </a:solidFill>
          <a:ln w="12700">
            <a:solidFill>
              <a:srgbClr val="1A6FBF"/>
            </a:solidFill>
            <a:prstDash val="solid"/>
          </a:ln>
        </p:spPr>
        <p:txBody>
          <a:bodyPr/>
          <a:lstStyle/>
          <a:p>
            <a:endParaRPr lang="en-IN"/>
          </a:p>
        </p:txBody>
      </p:sp>
      <p:sp>
        <p:nvSpPr>
          <p:cNvPr id="15" name="Text 13"/>
          <p:cNvSpPr/>
          <p:nvPr/>
        </p:nvSpPr>
        <p:spPr>
          <a:xfrm>
            <a:off x="402336" y="4325112"/>
            <a:ext cx="2743200" cy="23774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Saumitra Purkayastha</a:t>
            </a:r>
            <a:endParaRPr lang="en-US" sz="1200" dirty="0"/>
          </a:p>
        </p:txBody>
      </p:sp>
      <p:sp>
        <p:nvSpPr>
          <p:cNvPr id="16" name="Text 14"/>
          <p:cNvSpPr/>
          <p:nvPr/>
        </p:nvSpPr>
        <p:spPr>
          <a:xfrm>
            <a:off x="402336" y="4544568"/>
            <a:ext cx="2743200" cy="201168"/>
          </a:xfrm>
          <a:prstGeom prst="rect">
            <a:avLst/>
          </a:prstGeom>
          <a:noFill/>
          <a:ln/>
        </p:spPr>
        <p:txBody>
          <a:bodyPr wrap="square" rtlCol="0" anchor="ctr"/>
          <a:lstStyle/>
          <a:p>
            <a:pPr marL="0" indent="0">
              <a:buNone/>
            </a:pPr>
            <a:r>
              <a:rPr lang="en-US" sz="1000" dirty="0">
                <a:solidFill>
                  <a:srgbClr val="8AB4D4"/>
                </a:solidFill>
                <a:latin typeface="Calibri" pitchFamily="34" charset="0"/>
                <a:ea typeface="Calibri" pitchFamily="34" charset="-122"/>
                <a:cs typeface="Calibri" pitchFamily="34" charset="-120"/>
              </a:rPr>
              <a:t>23BTRCL113</a:t>
            </a:r>
            <a:endParaRPr lang="en-US" sz="1000" dirty="0"/>
          </a:p>
        </p:txBody>
      </p:sp>
      <p:sp>
        <p:nvSpPr>
          <p:cNvPr id="17" name="Shape 15"/>
          <p:cNvSpPr/>
          <p:nvPr/>
        </p:nvSpPr>
        <p:spPr>
          <a:xfrm>
            <a:off x="3520440" y="502920"/>
            <a:ext cx="5349240" cy="4114800"/>
          </a:xfrm>
          <a:prstGeom prst="rect">
            <a:avLst/>
          </a:prstGeom>
          <a:solidFill>
            <a:srgbClr val="1A3A5C"/>
          </a:solidFill>
          <a:ln w="12700">
            <a:solidFill>
              <a:srgbClr val="1A3A5C"/>
            </a:solidFill>
            <a:prstDash val="solid"/>
          </a:ln>
        </p:spPr>
        <p:txBody>
          <a:bodyPr/>
          <a:lstStyle/>
          <a:p>
            <a:endParaRPr lang="en-IN"/>
          </a:p>
        </p:txBody>
      </p:sp>
      <p:sp>
        <p:nvSpPr>
          <p:cNvPr id="18" name="Shape 16"/>
          <p:cNvSpPr/>
          <p:nvPr/>
        </p:nvSpPr>
        <p:spPr>
          <a:xfrm>
            <a:off x="3520440" y="502920"/>
            <a:ext cx="5349240" cy="54864"/>
          </a:xfrm>
          <a:prstGeom prst="rect">
            <a:avLst/>
          </a:prstGeom>
          <a:solidFill>
            <a:srgbClr val="1A6FBF"/>
          </a:solidFill>
          <a:ln w="12700">
            <a:solidFill>
              <a:srgbClr val="1A6FBF"/>
            </a:solidFill>
            <a:prstDash val="solid"/>
          </a:ln>
        </p:spPr>
        <p:txBody>
          <a:bodyPr/>
          <a:lstStyle/>
          <a:p>
            <a:endParaRPr lang="en-IN"/>
          </a:p>
        </p:txBody>
      </p:sp>
      <p:sp>
        <p:nvSpPr>
          <p:cNvPr id="19" name="Text 17"/>
          <p:cNvSpPr/>
          <p:nvPr/>
        </p:nvSpPr>
        <p:spPr>
          <a:xfrm>
            <a:off x="3703320" y="685800"/>
            <a:ext cx="5074920" cy="1554480"/>
          </a:xfrm>
          <a:prstGeom prst="rect">
            <a:avLst/>
          </a:prstGeom>
          <a:noFill/>
          <a:ln/>
        </p:spPr>
        <p:txBody>
          <a:bodyPr wrap="square" rtlCol="0" anchor="ctr"/>
          <a:lstStyle/>
          <a:p>
            <a:pPr marL="0" indent="0">
              <a:lnSpc>
                <a:spcPct val="135000"/>
              </a:lnSpc>
              <a:buNone/>
            </a:pPr>
            <a:r>
              <a:rPr lang="en-US" sz="2800" b="1" dirty="0">
                <a:solidFill>
                  <a:srgbClr val="FFFFFF"/>
                </a:solidFill>
                <a:latin typeface="Calibri" pitchFamily="34" charset="0"/>
                <a:ea typeface="Calibri" pitchFamily="34" charset="-122"/>
                <a:cs typeface="Calibri" pitchFamily="34" charset="-120"/>
              </a:rPr>
              <a:t>Intelligent Supply Chain</a:t>
            </a:r>
            <a:endParaRPr lang="en-US" sz="2800" dirty="0"/>
          </a:p>
          <a:p>
            <a:pPr marL="0" indent="0">
              <a:lnSpc>
                <a:spcPct val="135000"/>
              </a:lnSpc>
              <a:buNone/>
            </a:pPr>
            <a:r>
              <a:rPr lang="en-US" sz="2800" b="1" dirty="0">
                <a:solidFill>
                  <a:srgbClr val="FFFFFF"/>
                </a:solidFill>
                <a:latin typeface="Calibri" pitchFamily="34" charset="0"/>
                <a:ea typeface="Calibri" pitchFamily="34" charset="-122"/>
                <a:cs typeface="Calibri" pitchFamily="34" charset="-120"/>
              </a:rPr>
              <a:t>for Modern Healthcare</a:t>
            </a:r>
            <a:endParaRPr lang="en-US" sz="2800" dirty="0"/>
          </a:p>
        </p:txBody>
      </p:sp>
      <p:sp>
        <p:nvSpPr>
          <p:cNvPr id="20" name="Shape 18"/>
          <p:cNvSpPr/>
          <p:nvPr/>
        </p:nvSpPr>
        <p:spPr>
          <a:xfrm>
            <a:off x="3703320" y="2176272"/>
            <a:ext cx="1280160" cy="64008"/>
          </a:xfrm>
          <a:prstGeom prst="rect">
            <a:avLst/>
          </a:prstGeom>
          <a:solidFill>
            <a:srgbClr val="1A6FBF"/>
          </a:solidFill>
          <a:ln w="12700">
            <a:solidFill>
              <a:srgbClr val="1A6FBF"/>
            </a:solidFill>
            <a:prstDash val="solid"/>
          </a:ln>
        </p:spPr>
        <p:txBody>
          <a:bodyPr/>
          <a:lstStyle/>
          <a:p>
            <a:endParaRPr lang="en-IN"/>
          </a:p>
        </p:txBody>
      </p:sp>
      <p:sp>
        <p:nvSpPr>
          <p:cNvPr id="21" name="Text 19"/>
          <p:cNvSpPr/>
          <p:nvPr/>
        </p:nvSpPr>
        <p:spPr>
          <a:xfrm>
            <a:off x="3703320" y="2340864"/>
            <a:ext cx="5029200" cy="1097280"/>
          </a:xfrm>
          <a:prstGeom prst="rect">
            <a:avLst/>
          </a:prstGeom>
          <a:noFill/>
          <a:ln/>
        </p:spPr>
        <p:txBody>
          <a:bodyPr wrap="square" rtlCol="0" anchor="ctr"/>
          <a:lstStyle/>
          <a:p>
            <a:pPr marL="0" indent="0">
              <a:lnSpc>
                <a:spcPct val="155000"/>
              </a:lnSpc>
              <a:buNone/>
            </a:pPr>
            <a:r>
              <a:rPr lang="en-US" sz="1300" dirty="0">
                <a:solidFill>
                  <a:srgbClr val="A8C4DE"/>
                </a:solidFill>
                <a:latin typeface="Calibri" pitchFamily="34" charset="0"/>
                <a:ea typeface="Calibri" pitchFamily="34" charset="-122"/>
                <a:cs typeface="Calibri" pitchFamily="34" charset="-120"/>
              </a:rPr>
              <a:t>A full-stack ML platform that eliminates drug shortages,</a:t>
            </a:r>
            <a:endParaRPr lang="en-US" sz="1300" dirty="0"/>
          </a:p>
          <a:p>
            <a:pPr marL="0" indent="0">
              <a:lnSpc>
                <a:spcPct val="155000"/>
              </a:lnSpc>
              <a:buNone/>
            </a:pPr>
            <a:r>
              <a:rPr lang="en-US" sz="1300" dirty="0">
                <a:solidFill>
                  <a:srgbClr val="A8C4DE"/>
                </a:solidFill>
                <a:latin typeface="Calibri" pitchFamily="34" charset="0"/>
                <a:ea typeface="Calibri" pitchFamily="34" charset="-122"/>
                <a:cs typeface="Calibri" pitchFamily="34" charset="-120"/>
              </a:rPr>
              <a:t>reduces expiry waste, and optimises hospital procurement</a:t>
            </a:r>
            <a:endParaRPr lang="en-US" sz="1300" dirty="0"/>
          </a:p>
          <a:p>
            <a:pPr marL="0" indent="0">
              <a:lnSpc>
                <a:spcPct val="155000"/>
              </a:lnSpc>
              <a:buNone/>
            </a:pPr>
            <a:r>
              <a:rPr lang="en-US" sz="1300" dirty="0">
                <a:solidFill>
                  <a:srgbClr val="A8C4DE"/>
                </a:solidFill>
                <a:latin typeface="Calibri" pitchFamily="34" charset="0"/>
                <a:ea typeface="Calibri" pitchFamily="34" charset="-122"/>
                <a:cs typeface="Calibri" pitchFamily="34" charset="-120"/>
              </a:rPr>
              <a:t>through real-time AI-driven predictions.</a:t>
            </a:r>
            <a:endParaRPr lang="en-US" sz="1300" dirty="0"/>
          </a:p>
        </p:txBody>
      </p:sp>
      <p:sp>
        <p:nvSpPr>
          <p:cNvPr id="22" name="Shape 20"/>
          <p:cNvSpPr/>
          <p:nvPr/>
        </p:nvSpPr>
        <p:spPr>
          <a:xfrm>
            <a:off x="3703320" y="3749040"/>
            <a:ext cx="1207008" cy="329184"/>
          </a:xfrm>
          <a:prstGeom prst="rect">
            <a:avLst/>
          </a:prstGeom>
          <a:solidFill>
            <a:srgbClr val="1A6FBF"/>
          </a:solidFill>
          <a:ln w="12700">
            <a:solidFill>
              <a:srgbClr val="1A6FBF"/>
            </a:solidFill>
            <a:prstDash val="solid"/>
          </a:ln>
        </p:spPr>
        <p:txBody>
          <a:bodyPr/>
          <a:lstStyle/>
          <a:p>
            <a:endParaRPr lang="en-IN"/>
          </a:p>
        </p:txBody>
      </p:sp>
      <p:sp>
        <p:nvSpPr>
          <p:cNvPr id="23" name="Text 21"/>
          <p:cNvSpPr/>
          <p:nvPr/>
        </p:nvSpPr>
        <p:spPr>
          <a:xfrm>
            <a:off x="3703320" y="3749040"/>
            <a:ext cx="1207008"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Academic Project</a:t>
            </a:r>
            <a:endParaRPr lang="en-US" sz="950" dirty="0"/>
          </a:p>
        </p:txBody>
      </p:sp>
      <p:sp>
        <p:nvSpPr>
          <p:cNvPr id="24" name="Shape 22"/>
          <p:cNvSpPr/>
          <p:nvPr/>
        </p:nvSpPr>
        <p:spPr>
          <a:xfrm>
            <a:off x="4983480" y="3749040"/>
            <a:ext cx="1207008" cy="329184"/>
          </a:xfrm>
          <a:prstGeom prst="rect">
            <a:avLst/>
          </a:prstGeom>
          <a:solidFill>
            <a:srgbClr val="1A6FBF"/>
          </a:solidFill>
          <a:ln w="12700">
            <a:solidFill>
              <a:srgbClr val="1A6FBF"/>
            </a:solidFill>
            <a:prstDash val="solid"/>
          </a:ln>
        </p:spPr>
        <p:txBody>
          <a:bodyPr/>
          <a:lstStyle/>
          <a:p>
            <a:endParaRPr lang="en-IN"/>
          </a:p>
        </p:txBody>
      </p:sp>
      <p:sp>
        <p:nvSpPr>
          <p:cNvPr id="25" name="Text 23"/>
          <p:cNvSpPr/>
          <p:nvPr/>
        </p:nvSpPr>
        <p:spPr>
          <a:xfrm>
            <a:off x="4983480" y="3749040"/>
            <a:ext cx="1207008"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Full-Stack</a:t>
            </a:r>
            <a:endParaRPr lang="en-US" sz="950" dirty="0"/>
          </a:p>
        </p:txBody>
      </p:sp>
      <p:sp>
        <p:nvSpPr>
          <p:cNvPr id="26" name="Shape 24"/>
          <p:cNvSpPr/>
          <p:nvPr/>
        </p:nvSpPr>
        <p:spPr>
          <a:xfrm>
            <a:off x="6263640" y="3749040"/>
            <a:ext cx="1207008" cy="329184"/>
          </a:xfrm>
          <a:prstGeom prst="rect">
            <a:avLst/>
          </a:prstGeom>
          <a:solidFill>
            <a:srgbClr val="1A6FBF"/>
          </a:solidFill>
          <a:ln w="12700">
            <a:solidFill>
              <a:srgbClr val="1A6FBF"/>
            </a:solidFill>
            <a:prstDash val="solid"/>
          </a:ln>
        </p:spPr>
        <p:txBody>
          <a:bodyPr/>
          <a:lstStyle/>
          <a:p>
            <a:endParaRPr lang="en-IN"/>
          </a:p>
        </p:txBody>
      </p:sp>
      <p:sp>
        <p:nvSpPr>
          <p:cNvPr id="27" name="Text 25"/>
          <p:cNvSpPr/>
          <p:nvPr/>
        </p:nvSpPr>
        <p:spPr>
          <a:xfrm>
            <a:off x="6263640" y="3749040"/>
            <a:ext cx="1207008"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ML-Powered</a:t>
            </a:r>
            <a:endParaRPr lang="en-US" sz="950" dirty="0"/>
          </a:p>
        </p:txBody>
      </p:sp>
      <p:sp>
        <p:nvSpPr>
          <p:cNvPr id="28" name="Shape 26"/>
          <p:cNvSpPr/>
          <p:nvPr/>
        </p:nvSpPr>
        <p:spPr>
          <a:xfrm>
            <a:off x="7543800" y="3749040"/>
            <a:ext cx="1207008" cy="329184"/>
          </a:xfrm>
          <a:prstGeom prst="rect">
            <a:avLst/>
          </a:prstGeom>
          <a:solidFill>
            <a:srgbClr val="1A6FBF"/>
          </a:solidFill>
          <a:ln w="12700">
            <a:solidFill>
              <a:srgbClr val="1A6FBF"/>
            </a:solidFill>
            <a:prstDash val="solid"/>
          </a:ln>
        </p:spPr>
        <p:txBody>
          <a:bodyPr/>
          <a:lstStyle/>
          <a:p>
            <a:endParaRPr lang="en-IN"/>
          </a:p>
        </p:txBody>
      </p:sp>
      <p:sp>
        <p:nvSpPr>
          <p:cNvPr id="29" name="Text 27"/>
          <p:cNvSpPr/>
          <p:nvPr/>
        </p:nvSpPr>
        <p:spPr>
          <a:xfrm>
            <a:off x="7543800" y="3749040"/>
            <a:ext cx="1207008" cy="329184"/>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CrewAI Agents</a:t>
            </a:r>
            <a:endParaRPr lang="en-US" sz="950" dirty="0"/>
          </a:p>
        </p:txBody>
      </p:sp>
      <p:sp>
        <p:nvSpPr>
          <p:cNvPr id="30" name="Text 28"/>
          <p:cNvSpPr/>
          <p:nvPr/>
        </p:nvSpPr>
        <p:spPr>
          <a:xfrm>
            <a:off x="3520440" y="4480560"/>
            <a:ext cx="5349240" cy="256032"/>
          </a:xfrm>
          <a:prstGeom prst="rect">
            <a:avLst/>
          </a:prstGeom>
          <a:noFill/>
          <a:ln/>
        </p:spPr>
        <p:txBody>
          <a:bodyPr wrap="square" rtlCol="0" anchor="ctr"/>
          <a:lstStyle/>
          <a:p>
            <a:pPr marL="0" indent="0" algn="r">
              <a:buNone/>
            </a:pPr>
            <a:r>
              <a:rPr lang="en-US" sz="900" dirty="0">
                <a:solidFill>
                  <a:srgbClr val="8AB4D4"/>
                </a:solidFill>
                <a:latin typeface="Calibri" pitchFamily="34" charset="0"/>
                <a:ea typeface="Calibri" pitchFamily="34" charset="-122"/>
                <a:cs typeface="Calibri" pitchFamily="34" charset="-120"/>
              </a:rPr>
              <a:t>github.com/tampered-sin/v0-ahimp  |  branch: develop</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Presentation Contents</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56032" y="80467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7" name="Shape 5"/>
          <p:cNvSpPr/>
          <p:nvPr/>
        </p:nvSpPr>
        <p:spPr>
          <a:xfrm>
            <a:off x="256032" y="804672"/>
            <a:ext cx="475488" cy="713232"/>
          </a:xfrm>
          <a:prstGeom prst="rect">
            <a:avLst/>
          </a:prstGeom>
          <a:solidFill>
            <a:srgbClr val="B71C1C"/>
          </a:solidFill>
          <a:ln w="12700">
            <a:solidFill>
              <a:srgbClr val="B71C1C"/>
            </a:solidFill>
            <a:prstDash val="solid"/>
          </a:ln>
        </p:spPr>
        <p:txBody>
          <a:bodyPr/>
          <a:lstStyle/>
          <a:p>
            <a:endParaRPr lang="en-IN"/>
          </a:p>
        </p:txBody>
      </p:sp>
      <p:sp>
        <p:nvSpPr>
          <p:cNvPr id="8" name="Text 6"/>
          <p:cNvSpPr/>
          <p:nvPr/>
        </p:nvSpPr>
        <p:spPr>
          <a:xfrm>
            <a:off x="256032" y="80467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822960" y="86868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Problem Statement</a:t>
            </a:r>
            <a:endParaRPr lang="en-US" sz="1250" dirty="0"/>
          </a:p>
        </p:txBody>
      </p:sp>
      <p:sp>
        <p:nvSpPr>
          <p:cNvPr id="10" name="Text 8"/>
          <p:cNvSpPr/>
          <p:nvPr/>
        </p:nvSpPr>
        <p:spPr>
          <a:xfrm>
            <a:off x="822960" y="117043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Why hospital inventory needs disruption</a:t>
            </a:r>
            <a:endParaRPr lang="en-US" sz="950" dirty="0"/>
          </a:p>
        </p:txBody>
      </p:sp>
      <p:sp>
        <p:nvSpPr>
          <p:cNvPr id="11" name="Shape 9"/>
          <p:cNvSpPr/>
          <p:nvPr/>
        </p:nvSpPr>
        <p:spPr>
          <a:xfrm>
            <a:off x="256032" y="162763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12" name="Shape 10"/>
          <p:cNvSpPr/>
          <p:nvPr/>
        </p:nvSpPr>
        <p:spPr>
          <a:xfrm>
            <a:off x="256032" y="1627632"/>
            <a:ext cx="475488" cy="713232"/>
          </a:xfrm>
          <a:prstGeom prst="rect">
            <a:avLst/>
          </a:prstGeom>
          <a:solidFill>
            <a:srgbClr val="1A6FBF"/>
          </a:solidFill>
          <a:ln w="12700">
            <a:solidFill>
              <a:srgbClr val="1A6FBF"/>
            </a:solidFill>
            <a:prstDash val="solid"/>
          </a:ln>
        </p:spPr>
        <p:txBody>
          <a:bodyPr/>
          <a:lstStyle/>
          <a:p>
            <a:endParaRPr lang="en-IN"/>
          </a:p>
        </p:txBody>
      </p:sp>
      <p:sp>
        <p:nvSpPr>
          <p:cNvPr id="13" name="Text 11"/>
          <p:cNvSpPr/>
          <p:nvPr/>
        </p:nvSpPr>
        <p:spPr>
          <a:xfrm>
            <a:off x="256032" y="162763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822960" y="169164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Introducing AHIM</a:t>
            </a:r>
            <a:endParaRPr lang="en-US" sz="1250" dirty="0"/>
          </a:p>
        </p:txBody>
      </p:sp>
      <p:sp>
        <p:nvSpPr>
          <p:cNvPr id="15" name="Text 13"/>
          <p:cNvSpPr/>
          <p:nvPr/>
        </p:nvSpPr>
        <p:spPr>
          <a:xfrm>
            <a:off x="822960" y="199339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Platform overview and core capabilities</a:t>
            </a:r>
            <a:endParaRPr lang="en-US" sz="950" dirty="0"/>
          </a:p>
        </p:txBody>
      </p:sp>
      <p:sp>
        <p:nvSpPr>
          <p:cNvPr id="16" name="Shape 14"/>
          <p:cNvSpPr/>
          <p:nvPr/>
        </p:nvSpPr>
        <p:spPr>
          <a:xfrm>
            <a:off x="256032" y="245059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17" name="Shape 15"/>
          <p:cNvSpPr/>
          <p:nvPr/>
        </p:nvSpPr>
        <p:spPr>
          <a:xfrm>
            <a:off x="256032" y="2450592"/>
            <a:ext cx="475488" cy="713232"/>
          </a:xfrm>
          <a:prstGeom prst="rect">
            <a:avLst/>
          </a:prstGeom>
          <a:solidFill>
            <a:srgbClr val="00796B"/>
          </a:solidFill>
          <a:ln w="12700">
            <a:solidFill>
              <a:srgbClr val="00796B"/>
            </a:solidFill>
            <a:prstDash val="solid"/>
          </a:ln>
        </p:spPr>
        <p:txBody>
          <a:bodyPr/>
          <a:lstStyle/>
          <a:p>
            <a:endParaRPr lang="en-IN"/>
          </a:p>
        </p:txBody>
      </p:sp>
      <p:sp>
        <p:nvSpPr>
          <p:cNvPr id="18" name="Text 16"/>
          <p:cNvSpPr/>
          <p:nvPr/>
        </p:nvSpPr>
        <p:spPr>
          <a:xfrm>
            <a:off x="256032" y="245059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822960" y="251460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System Architecture</a:t>
            </a:r>
            <a:endParaRPr lang="en-US" sz="1250" dirty="0"/>
          </a:p>
        </p:txBody>
      </p:sp>
      <p:sp>
        <p:nvSpPr>
          <p:cNvPr id="20" name="Text 18"/>
          <p:cNvSpPr/>
          <p:nvPr/>
        </p:nvSpPr>
        <p:spPr>
          <a:xfrm>
            <a:off x="822960" y="281635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Full-stack design, folder structure, Docker</a:t>
            </a:r>
            <a:endParaRPr lang="en-US" sz="950" dirty="0"/>
          </a:p>
        </p:txBody>
      </p:sp>
      <p:sp>
        <p:nvSpPr>
          <p:cNvPr id="21" name="Shape 19"/>
          <p:cNvSpPr/>
          <p:nvPr/>
        </p:nvSpPr>
        <p:spPr>
          <a:xfrm>
            <a:off x="256032" y="327355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2" name="Shape 20"/>
          <p:cNvSpPr/>
          <p:nvPr/>
        </p:nvSpPr>
        <p:spPr>
          <a:xfrm>
            <a:off x="256032" y="3273552"/>
            <a:ext cx="475488" cy="713232"/>
          </a:xfrm>
          <a:prstGeom prst="rect">
            <a:avLst/>
          </a:prstGeom>
          <a:solidFill>
            <a:srgbClr val="1A6FBF"/>
          </a:solidFill>
          <a:ln w="12700">
            <a:solidFill>
              <a:srgbClr val="1A6FBF"/>
            </a:solidFill>
            <a:prstDash val="solid"/>
          </a:ln>
        </p:spPr>
        <p:txBody>
          <a:bodyPr/>
          <a:lstStyle/>
          <a:p>
            <a:endParaRPr lang="en-IN"/>
          </a:p>
        </p:txBody>
      </p:sp>
      <p:sp>
        <p:nvSpPr>
          <p:cNvPr id="23" name="Text 21"/>
          <p:cNvSpPr/>
          <p:nvPr/>
        </p:nvSpPr>
        <p:spPr>
          <a:xfrm>
            <a:off x="256032" y="327355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822960" y="333756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Technology Stack</a:t>
            </a:r>
            <a:endParaRPr lang="en-US" sz="1250" dirty="0"/>
          </a:p>
        </p:txBody>
      </p:sp>
      <p:sp>
        <p:nvSpPr>
          <p:cNvPr id="25" name="Text 23"/>
          <p:cNvSpPr/>
          <p:nvPr/>
        </p:nvSpPr>
        <p:spPr>
          <a:xfrm>
            <a:off x="822960" y="363931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Frontend · Backend · ML · Data &amp; Infra</a:t>
            </a:r>
            <a:endParaRPr lang="en-US" sz="950" dirty="0"/>
          </a:p>
        </p:txBody>
      </p:sp>
      <p:sp>
        <p:nvSpPr>
          <p:cNvPr id="26" name="Shape 24"/>
          <p:cNvSpPr/>
          <p:nvPr/>
        </p:nvSpPr>
        <p:spPr>
          <a:xfrm>
            <a:off x="256032" y="409651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7" name="Shape 25"/>
          <p:cNvSpPr/>
          <p:nvPr/>
        </p:nvSpPr>
        <p:spPr>
          <a:xfrm>
            <a:off x="256032" y="4096512"/>
            <a:ext cx="475488" cy="713232"/>
          </a:xfrm>
          <a:prstGeom prst="rect">
            <a:avLst/>
          </a:prstGeom>
          <a:solidFill>
            <a:srgbClr val="00796B"/>
          </a:solidFill>
          <a:ln w="12700">
            <a:solidFill>
              <a:srgbClr val="00796B"/>
            </a:solidFill>
            <a:prstDash val="solid"/>
          </a:ln>
        </p:spPr>
        <p:txBody>
          <a:bodyPr/>
          <a:lstStyle/>
          <a:p>
            <a:endParaRPr lang="en-IN"/>
          </a:p>
        </p:txBody>
      </p:sp>
      <p:sp>
        <p:nvSpPr>
          <p:cNvPr id="28" name="Text 26"/>
          <p:cNvSpPr/>
          <p:nvPr/>
        </p:nvSpPr>
        <p:spPr>
          <a:xfrm>
            <a:off x="256032" y="409651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9" name="Text 27"/>
          <p:cNvSpPr/>
          <p:nvPr/>
        </p:nvSpPr>
        <p:spPr>
          <a:xfrm>
            <a:off x="822960" y="416052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Key Features</a:t>
            </a:r>
            <a:endParaRPr lang="en-US" sz="1250" dirty="0"/>
          </a:p>
        </p:txBody>
      </p:sp>
      <p:sp>
        <p:nvSpPr>
          <p:cNvPr id="30" name="Text 28"/>
          <p:cNvSpPr/>
          <p:nvPr/>
        </p:nvSpPr>
        <p:spPr>
          <a:xfrm>
            <a:off x="822960" y="446227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Dashboard, inventory, suppliers, departments, alerts</a:t>
            </a:r>
            <a:endParaRPr lang="en-US" sz="950" dirty="0"/>
          </a:p>
        </p:txBody>
      </p:sp>
      <p:sp>
        <p:nvSpPr>
          <p:cNvPr id="31" name="Shape 29"/>
          <p:cNvSpPr/>
          <p:nvPr/>
        </p:nvSpPr>
        <p:spPr>
          <a:xfrm>
            <a:off x="4782312" y="80467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32" name="Shape 30"/>
          <p:cNvSpPr/>
          <p:nvPr/>
        </p:nvSpPr>
        <p:spPr>
          <a:xfrm>
            <a:off x="4782312" y="804672"/>
            <a:ext cx="475488" cy="713232"/>
          </a:xfrm>
          <a:prstGeom prst="rect">
            <a:avLst/>
          </a:prstGeom>
          <a:solidFill>
            <a:srgbClr val="E65100"/>
          </a:solidFill>
          <a:ln w="12700">
            <a:solidFill>
              <a:srgbClr val="E65100"/>
            </a:solidFill>
            <a:prstDash val="solid"/>
          </a:ln>
        </p:spPr>
        <p:txBody>
          <a:bodyPr/>
          <a:lstStyle/>
          <a:p>
            <a:endParaRPr lang="en-IN"/>
          </a:p>
        </p:txBody>
      </p:sp>
      <p:sp>
        <p:nvSpPr>
          <p:cNvPr id="33" name="Text 31"/>
          <p:cNvSpPr/>
          <p:nvPr/>
        </p:nvSpPr>
        <p:spPr>
          <a:xfrm>
            <a:off x="4782312" y="80467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5349240" y="86868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AI &amp; Predictive Analytics</a:t>
            </a:r>
            <a:endParaRPr lang="en-US" sz="1250" dirty="0"/>
          </a:p>
        </p:txBody>
      </p:sp>
      <p:sp>
        <p:nvSpPr>
          <p:cNvPr id="35" name="Text 33"/>
          <p:cNvSpPr/>
          <p:nvPr/>
        </p:nvSpPr>
        <p:spPr>
          <a:xfrm>
            <a:off x="5349240" y="117043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LightGBM · CatBoost · LSTM · Ensemble · SHAP</a:t>
            </a:r>
            <a:endParaRPr lang="en-US" sz="950" dirty="0"/>
          </a:p>
        </p:txBody>
      </p:sp>
      <p:sp>
        <p:nvSpPr>
          <p:cNvPr id="36" name="Shape 34"/>
          <p:cNvSpPr/>
          <p:nvPr/>
        </p:nvSpPr>
        <p:spPr>
          <a:xfrm>
            <a:off x="4782312" y="162763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37" name="Shape 35"/>
          <p:cNvSpPr/>
          <p:nvPr/>
        </p:nvSpPr>
        <p:spPr>
          <a:xfrm>
            <a:off x="4782312" y="1627632"/>
            <a:ext cx="475488" cy="713232"/>
          </a:xfrm>
          <a:prstGeom prst="rect">
            <a:avLst/>
          </a:prstGeom>
          <a:solidFill>
            <a:srgbClr val="1A6FBF"/>
          </a:solidFill>
          <a:ln w="12700">
            <a:solidFill>
              <a:srgbClr val="1A6FBF"/>
            </a:solidFill>
            <a:prstDash val="solid"/>
          </a:ln>
        </p:spPr>
        <p:txBody>
          <a:bodyPr/>
          <a:lstStyle/>
          <a:p>
            <a:endParaRPr lang="en-IN"/>
          </a:p>
        </p:txBody>
      </p:sp>
      <p:sp>
        <p:nvSpPr>
          <p:cNvPr id="38" name="Text 36"/>
          <p:cNvSpPr/>
          <p:nvPr/>
        </p:nvSpPr>
        <p:spPr>
          <a:xfrm>
            <a:off x="4782312" y="162763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9" name="Text 37"/>
          <p:cNvSpPr/>
          <p:nvPr/>
        </p:nvSpPr>
        <p:spPr>
          <a:xfrm>
            <a:off x="5349240" y="169164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AI Agent System</a:t>
            </a:r>
            <a:endParaRPr lang="en-US" sz="1250" dirty="0"/>
          </a:p>
        </p:txBody>
      </p:sp>
      <p:sp>
        <p:nvSpPr>
          <p:cNvPr id="40" name="Text 38"/>
          <p:cNvSpPr/>
          <p:nvPr/>
        </p:nvSpPr>
        <p:spPr>
          <a:xfrm>
            <a:off x="5349240" y="199339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CrewAI + Ollama3 autonomous supply chain agents</a:t>
            </a:r>
            <a:endParaRPr lang="en-US" sz="950" dirty="0"/>
          </a:p>
        </p:txBody>
      </p:sp>
      <p:sp>
        <p:nvSpPr>
          <p:cNvPr id="41" name="Shape 39"/>
          <p:cNvSpPr/>
          <p:nvPr/>
        </p:nvSpPr>
        <p:spPr>
          <a:xfrm>
            <a:off x="4782312" y="245059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42" name="Shape 40"/>
          <p:cNvSpPr/>
          <p:nvPr/>
        </p:nvSpPr>
        <p:spPr>
          <a:xfrm>
            <a:off x="4782312" y="2450592"/>
            <a:ext cx="475488" cy="713232"/>
          </a:xfrm>
          <a:prstGeom prst="rect">
            <a:avLst/>
          </a:prstGeom>
          <a:solidFill>
            <a:srgbClr val="00796B"/>
          </a:solidFill>
          <a:ln w="12700">
            <a:solidFill>
              <a:srgbClr val="00796B"/>
            </a:solidFill>
            <a:prstDash val="solid"/>
          </a:ln>
        </p:spPr>
        <p:txBody>
          <a:bodyPr/>
          <a:lstStyle/>
          <a:p>
            <a:endParaRPr lang="en-IN"/>
          </a:p>
        </p:txBody>
      </p:sp>
      <p:sp>
        <p:nvSpPr>
          <p:cNvPr id="43" name="Text 41"/>
          <p:cNvSpPr/>
          <p:nvPr/>
        </p:nvSpPr>
        <p:spPr>
          <a:xfrm>
            <a:off x="4782312" y="245059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4" name="Text 42"/>
          <p:cNvSpPr/>
          <p:nvPr/>
        </p:nvSpPr>
        <p:spPr>
          <a:xfrm>
            <a:off x="5349240" y="251460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Backend &amp; API</a:t>
            </a:r>
            <a:endParaRPr lang="en-US" sz="1250" dirty="0"/>
          </a:p>
        </p:txBody>
      </p:sp>
      <p:sp>
        <p:nvSpPr>
          <p:cNvPr id="45" name="Text 43"/>
          <p:cNvSpPr/>
          <p:nvPr/>
        </p:nvSpPr>
        <p:spPr>
          <a:xfrm>
            <a:off x="5349240" y="281635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35+ REST endpoints, Docker, explainability layer</a:t>
            </a:r>
            <a:endParaRPr lang="en-US" sz="950" dirty="0"/>
          </a:p>
        </p:txBody>
      </p:sp>
      <p:sp>
        <p:nvSpPr>
          <p:cNvPr id="46" name="Shape 44"/>
          <p:cNvSpPr/>
          <p:nvPr/>
        </p:nvSpPr>
        <p:spPr>
          <a:xfrm>
            <a:off x="4782312" y="327355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47" name="Shape 45"/>
          <p:cNvSpPr/>
          <p:nvPr/>
        </p:nvSpPr>
        <p:spPr>
          <a:xfrm>
            <a:off x="4782312" y="3273552"/>
            <a:ext cx="475488" cy="713232"/>
          </a:xfrm>
          <a:prstGeom prst="rect">
            <a:avLst/>
          </a:prstGeom>
          <a:solidFill>
            <a:srgbClr val="1A6FBF"/>
          </a:solidFill>
          <a:ln w="12700">
            <a:solidFill>
              <a:srgbClr val="1A6FBF"/>
            </a:solidFill>
            <a:prstDash val="solid"/>
          </a:ln>
        </p:spPr>
        <p:txBody>
          <a:bodyPr/>
          <a:lstStyle/>
          <a:p>
            <a:endParaRPr lang="en-IN"/>
          </a:p>
        </p:txBody>
      </p:sp>
      <p:sp>
        <p:nvSpPr>
          <p:cNvPr id="48" name="Text 46"/>
          <p:cNvSpPr/>
          <p:nvPr/>
        </p:nvSpPr>
        <p:spPr>
          <a:xfrm>
            <a:off x="4782312" y="327355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9" name="Text 47"/>
          <p:cNvSpPr/>
          <p:nvPr/>
        </p:nvSpPr>
        <p:spPr>
          <a:xfrm>
            <a:off x="5349240" y="333756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Development Workflow</a:t>
            </a:r>
            <a:endParaRPr lang="en-US" sz="1250" dirty="0"/>
          </a:p>
        </p:txBody>
      </p:sp>
      <p:sp>
        <p:nvSpPr>
          <p:cNvPr id="50" name="Text 48"/>
          <p:cNvSpPr/>
          <p:nvPr/>
        </p:nvSpPr>
        <p:spPr>
          <a:xfrm>
            <a:off x="5349240" y="363931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Epics, sprints, Git branching, Definition of Done</a:t>
            </a:r>
            <a:endParaRPr lang="en-US" sz="950" dirty="0"/>
          </a:p>
        </p:txBody>
      </p:sp>
      <p:sp>
        <p:nvSpPr>
          <p:cNvPr id="51" name="Shape 49"/>
          <p:cNvSpPr/>
          <p:nvPr/>
        </p:nvSpPr>
        <p:spPr>
          <a:xfrm>
            <a:off x="4782312" y="4096512"/>
            <a:ext cx="4187952" cy="71323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52" name="Shape 50"/>
          <p:cNvSpPr/>
          <p:nvPr/>
        </p:nvSpPr>
        <p:spPr>
          <a:xfrm>
            <a:off x="4782312" y="4096512"/>
            <a:ext cx="475488" cy="713232"/>
          </a:xfrm>
          <a:prstGeom prst="rect">
            <a:avLst/>
          </a:prstGeom>
          <a:solidFill>
            <a:srgbClr val="E65100"/>
          </a:solidFill>
          <a:ln w="12700">
            <a:solidFill>
              <a:srgbClr val="E65100"/>
            </a:solidFill>
            <a:prstDash val="solid"/>
          </a:ln>
        </p:spPr>
        <p:txBody>
          <a:bodyPr/>
          <a:lstStyle/>
          <a:p>
            <a:endParaRPr lang="en-IN"/>
          </a:p>
        </p:txBody>
      </p:sp>
      <p:sp>
        <p:nvSpPr>
          <p:cNvPr id="53" name="Text 51"/>
          <p:cNvSpPr/>
          <p:nvPr/>
        </p:nvSpPr>
        <p:spPr>
          <a:xfrm>
            <a:off x="4782312" y="4096512"/>
            <a:ext cx="475488" cy="71323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4" name="Text 52"/>
          <p:cNvSpPr/>
          <p:nvPr/>
        </p:nvSpPr>
        <p:spPr>
          <a:xfrm>
            <a:off x="5349240" y="4160520"/>
            <a:ext cx="3493008" cy="274320"/>
          </a:xfrm>
          <a:prstGeom prst="rect">
            <a:avLst/>
          </a:prstGeom>
          <a:noFill/>
          <a:ln/>
        </p:spPr>
        <p:txBody>
          <a:bodyPr wrap="square" rtlCol="0" anchor="ctr"/>
          <a:lstStyle/>
          <a:p>
            <a:pPr marL="0" indent="0">
              <a:buNone/>
            </a:pPr>
            <a:r>
              <a:rPr lang="en-US" sz="1250" b="1" dirty="0">
                <a:solidFill>
                  <a:srgbClr val="0D1B2A"/>
                </a:solidFill>
                <a:latin typeface="Calibri" pitchFamily="34" charset="0"/>
                <a:ea typeface="Calibri" pitchFamily="34" charset="-122"/>
                <a:cs typeface="Calibri" pitchFamily="34" charset="-120"/>
              </a:rPr>
              <a:t>Conclusion &amp; Roadmap</a:t>
            </a:r>
            <a:endParaRPr lang="en-US" sz="1250" dirty="0"/>
          </a:p>
        </p:txBody>
      </p:sp>
      <p:sp>
        <p:nvSpPr>
          <p:cNvPr id="55" name="Text 53"/>
          <p:cNvSpPr/>
          <p:nvPr/>
        </p:nvSpPr>
        <p:spPr>
          <a:xfrm>
            <a:off x="5349240" y="4462272"/>
            <a:ext cx="3493008" cy="274320"/>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Industry impact, results, and future upgrades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01</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Problem Statement</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Why hospital inventory management needs disruption</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B71C1C"/>
          </a:solidFill>
          <a:ln w="12700">
            <a:solidFill>
              <a:srgbClr val="B71C1C"/>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Challenge — Hospital Inventory Management</a:t>
            </a:r>
            <a:endParaRPr lang="en-US" sz="1800" dirty="0"/>
          </a:p>
        </p:txBody>
      </p:sp>
      <p:sp>
        <p:nvSpPr>
          <p:cNvPr id="5" name="Shape 3"/>
          <p:cNvSpPr/>
          <p:nvPr/>
        </p:nvSpPr>
        <p:spPr>
          <a:xfrm>
            <a:off x="201168" y="640080"/>
            <a:ext cx="8942832" cy="36576"/>
          </a:xfrm>
          <a:prstGeom prst="rect">
            <a:avLst/>
          </a:prstGeom>
          <a:solidFill>
            <a:srgbClr val="B71C1C"/>
          </a:solidFill>
          <a:ln w="12700">
            <a:solidFill>
              <a:srgbClr val="B71C1C"/>
            </a:solidFill>
            <a:prstDash val="solid"/>
          </a:ln>
        </p:spPr>
        <p:txBody>
          <a:bodyPr/>
          <a:lstStyle/>
          <a:p>
            <a:endParaRPr lang="en-IN"/>
          </a:p>
        </p:txBody>
      </p:sp>
      <p:sp>
        <p:nvSpPr>
          <p:cNvPr id="6" name="Shape 4"/>
          <p:cNvSpPr/>
          <p:nvPr/>
        </p:nvSpPr>
        <p:spPr>
          <a:xfrm>
            <a:off x="219456" y="786384"/>
            <a:ext cx="1572768" cy="2103120"/>
          </a:xfrm>
          <a:prstGeom prst="rect">
            <a:avLst/>
          </a:prstGeom>
          <a:solidFill>
            <a:srgbClr val="FFEBEE"/>
          </a:solidFill>
          <a:ln w="12700">
            <a:solidFill>
              <a:srgbClr val="FFEBEE"/>
            </a:solidFill>
            <a:prstDash val="solid"/>
          </a:ln>
          <a:effectLst>
            <a:outerShdw blurRad="127000" dist="38100" dir="8100000" algn="bl" rotWithShape="0">
              <a:srgbClr val="000000">
                <a:alpha val="9000"/>
              </a:srgbClr>
            </a:outerShdw>
          </a:effectLst>
        </p:spPr>
        <p:txBody>
          <a:bodyPr/>
          <a:lstStyle/>
          <a:p>
            <a:endParaRPr lang="en-IN"/>
          </a:p>
        </p:txBody>
      </p:sp>
      <p:sp>
        <p:nvSpPr>
          <p:cNvPr id="7" name="Text 5"/>
          <p:cNvSpPr/>
          <p:nvPr/>
        </p:nvSpPr>
        <p:spPr>
          <a:xfrm>
            <a:off x="219456" y="859536"/>
            <a:ext cx="1572768" cy="1093622"/>
          </a:xfrm>
          <a:prstGeom prst="rect">
            <a:avLst/>
          </a:prstGeom>
          <a:noFill/>
          <a:ln/>
        </p:spPr>
        <p:txBody>
          <a:bodyPr wrap="square" rtlCol="0" anchor="b"/>
          <a:lstStyle/>
          <a:p>
            <a:pPr marL="0" indent="0" algn="ctr">
              <a:buNone/>
            </a:pPr>
            <a:r>
              <a:rPr lang="en-US" sz="2800" b="1" dirty="0">
                <a:solidFill>
                  <a:srgbClr val="B71C1C"/>
                </a:solidFill>
                <a:latin typeface="Calibri" pitchFamily="34" charset="0"/>
                <a:ea typeface="Calibri" pitchFamily="34" charset="-122"/>
                <a:cs typeface="Calibri" pitchFamily="34" charset="-120"/>
              </a:rPr>
              <a:t>50%+</a:t>
            </a:r>
            <a:endParaRPr lang="en-US" sz="2800" dirty="0"/>
          </a:p>
        </p:txBody>
      </p:sp>
      <p:sp>
        <p:nvSpPr>
          <p:cNvPr id="8" name="Text 6"/>
          <p:cNvSpPr/>
          <p:nvPr/>
        </p:nvSpPr>
        <p:spPr>
          <a:xfrm>
            <a:off x="292608" y="1964131"/>
            <a:ext cx="1426464" cy="841248"/>
          </a:xfrm>
          <a:prstGeom prst="rect">
            <a:avLst/>
          </a:prstGeom>
          <a:noFill/>
          <a:ln/>
        </p:spPr>
        <p:txBody>
          <a:bodyPr wrap="square" rtlCol="0" anchor="ctr"/>
          <a:lstStyle/>
          <a:p>
            <a:pPr marL="0" indent="0" algn="ctr">
              <a:lnSpc>
                <a:spcPct val="120000"/>
              </a:lnSpc>
              <a:buNone/>
            </a:pPr>
            <a:r>
              <a:rPr lang="en-US" sz="1050" dirty="0">
                <a:solidFill>
                  <a:srgbClr val="B71C1C"/>
                </a:solidFill>
                <a:latin typeface="Calibri" pitchFamily="34" charset="0"/>
                <a:ea typeface="Calibri" pitchFamily="34" charset="-122"/>
                <a:cs typeface="Calibri" pitchFamily="34" charset="-120"/>
              </a:rPr>
              <a:t>Hospitals cancel</a:t>
            </a:r>
            <a:endParaRPr lang="en-US" sz="1050" dirty="0"/>
          </a:p>
          <a:p>
            <a:pPr marL="0" indent="0" algn="ctr">
              <a:lnSpc>
                <a:spcPct val="120000"/>
              </a:lnSpc>
              <a:buNone/>
            </a:pPr>
            <a:r>
              <a:rPr lang="en-US" sz="1050" dirty="0">
                <a:solidFill>
                  <a:srgbClr val="B71C1C"/>
                </a:solidFill>
                <a:latin typeface="Calibri" pitchFamily="34" charset="0"/>
                <a:ea typeface="Calibri" pitchFamily="34" charset="-122"/>
                <a:cs typeface="Calibri" pitchFamily="34" charset="-120"/>
              </a:rPr>
              <a:t>procedures due to</a:t>
            </a:r>
            <a:endParaRPr lang="en-US" sz="1050" dirty="0"/>
          </a:p>
          <a:p>
            <a:pPr marL="0" indent="0" algn="ctr">
              <a:lnSpc>
                <a:spcPct val="120000"/>
              </a:lnSpc>
              <a:buNone/>
            </a:pPr>
            <a:r>
              <a:rPr lang="en-US" sz="1050" dirty="0">
                <a:solidFill>
                  <a:srgbClr val="B71C1C"/>
                </a:solidFill>
                <a:latin typeface="Calibri" pitchFamily="34" charset="0"/>
                <a:ea typeface="Calibri" pitchFamily="34" charset="-122"/>
                <a:cs typeface="Calibri" pitchFamily="34" charset="-120"/>
              </a:rPr>
              <a:t>drug shortages</a:t>
            </a:r>
            <a:endParaRPr lang="en-US" sz="1050" dirty="0"/>
          </a:p>
        </p:txBody>
      </p:sp>
      <p:sp>
        <p:nvSpPr>
          <p:cNvPr id="9" name="Shape 7"/>
          <p:cNvSpPr/>
          <p:nvPr/>
        </p:nvSpPr>
        <p:spPr>
          <a:xfrm>
            <a:off x="219456" y="786384"/>
            <a:ext cx="1572768" cy="54864"/>
          </a:xfrm>
          <a:prstGeom prst="rect">
            <a:avLst/>
          </a:prstGeom>
          <a:solidFill>
            <a:srgbClr val="B71C1C"/>
          </a:solidFill>
          <a:ln w="12700">
            <a:solidFill>
              <a:srgbClr val="B71C1C"/>
            </a:solidFill>
            <a:prstDash val="solid"/>
          </a:ln>
        </p:spPr>
        <p:txBody>
          <a:bodyPr/>
          <a:lstStyle/>
          <a:p>
            <a:endParaRPr lang="en-IN"/>
          </a:p>
        </p:txBody>
      </p:sp>
      <p:sp>
        <p:nvSpPr>
          <p:cNvPr id="10" name="Shape 8"/>
          <p:cNvSpPr/>
          <p:nvPr/>
        </p:nvSpPr>
        <p:spPr>
          <a:xfrm>
            <a:off x="1965960" y="786384"/>
            <a:ext cx="1572768" cy="2103120"/>
          </a:xfrm>
          <a:prstGeom prst="rect">
            <a:avLst/>
          </a:prstGeom>
          <a:solidFill>
            <a:srgbClr val="FFF3E0"/>
          </a:solidFill>
          <a:ln w="12700">
            <a:solidFill>
              <a:srgbClr val="FFF3E0"/>
            </a:solidFill>
            <a:prstDash val="solid"/>
          </a:ln>
          <a:effectLst>
            <a:outerShdw blurRad="127000" dist="38100" dir="8100000" algn="bl" rotWithShape="0">
              <a:srgbClr val="000000">
                <a:alpha val="9000"/>
              </a:srgbClr>
            </a:outerShdw>
          </a:effectLst>
        </p:spPr>
        <p:txBody>
          <a:bodyPr/>
          <a:lstStyle/>
          <a:p>
            <a:endParaRPr lang="en-IN"/>
          </a:p>
        </p:txBody>
      </p:sp>
      <p:sp>
        <p:nvSpPr>
          <p:cNvPr id="11" name="Text 9"/>
          <p:cNvSpPr/>
          <p:nvPr/>
        </p:nvSpPr>
        <p:spPr>
          <a:xfrm>
            <a:off x="1965960" y="859536"/>
            <a:ext cx="1572768" cy="1093622"/>
          </a:xfrm>
          <a:prstGeom prst="rect">
            <a:avLst/>
          </a:prstGeom>
          <a:noFill/>
          <a:ln/>
        </p:spPr>
        <p:txBody>
          <a:bodyPr wrap="square" rtlCol="0" anchor="b"/>
          <a:lstStyle/>
          <a:p>
            <a:pPr marL="0" indent="0" algn="ctr">
              <a:buNone/>
            </a:pPr>
            <a:r>
              <a:rPr lang="en-US" sz="2800" b="1" dirty="0">
                <a:solidFill>
                  <a:srgbClr val="E65100"/>
                </a:solidFill>
                <a:latin typeface="Calibri" pitchFamily="34" charset="0"/>
                <a:ea typeface="Calibri" pitchFamily="34" charset="-122"/>
                <a:cs typeface="Calibri" pitchFamily="34" charset="-120"/>
              </a:rPr>
              <a:t>8–10%</a:t>
            </a:r>
            <a:endParaRPr lang="en-US" sz="2800" dirty="0"/>
          </a:p>
        </p:txBody>
      </p:sp>
      <p:sp>
        <p:nvSpPr>
          <p:cNvPr id="12" name="Text 10"/>
          <p:cNvSpPr/>
          <p:nvPr/>
        </p:nvSpPr>
        <p:spPr>
          <a:xfrm>
            <a:off x="2039112" y="1964131"/>
            <a:ext cx="1426464" cy="841248"/>
          </a:xfrm>
          <a:prstGeom prst="rect">
            <a:avLst/>
          </a:prstGeom>
          <a:noFill/>
          <a:ln/>
        </p:spPr>
        <p:txBody>
          <a:bodyPr wrap="square" rtlCol="0" anchor="ctr"/>
          <a:lstStyle/>
          <a:p>
            <a:pPr marL="0" indent="0" algn="ctr">
              <a:lnSpc>
                <a:spcPct val="120000"/>
              </a:lnSpc>
              <a:buNone/>
            </a:pPr>
            <a:r>
              <a:rPr lang="en-US" sz="1050" dirty="0">
                <a:solidFill>
                  <a:srgbClr val="E65100"/>
                </a:solidFill>
                <a:latin typeface="Calibri" pitchFamily="34" charset="0"/>
                <a:ea typeface="Calibri" pitchFamily="34" charset="-122"/>
                <a:cs typeface="Calibri" pitchFamily="34" charset="-120"/>
              </a:rPr>
              <a:t>Of supplies wasted</a:t>
            </a:r>
            <a:endParaRPr lang="en-US" sz="1050" dirty="0"/>
          </a:p>
          <a:p>
            <a:pPr marL="0" indent="0" algn="ctr">
              <a:lnSpc>
                <a:spcPct val="120000"/>
              </a:lnSpc>
              <a:buNone/>
            </a:pPr>
            <a:r>
              <a:rPr lang="en-US" sz="1050" dirty="0">
                <a:solidFill>
                  <a:srgbClr val="E65100"/>
                </a:solidFill>
                <a:latin typeface="Calibri" pitchFamily="34" charset="0"/>
                <a:ea typeface="Calibri" pitchFamily="34" charset="-122"/>
                <a:cs typeface="Calibri" pitchFamily="34" charset="-120"/>
              </a:rPr>
              <a:t>due to expiry</a:t>
            </a:r>
            <a:endParaRPr lang="en-US" sz="1050" dirty="0"/>
          </a:p>
          <a:p>
            <a:pPr marL="0" indent="0" algn="ctr">
              <a:lnSpc>
                <a:spcPct val="120000"/>
              </a:lnSpc>
              <a:buNone/>
            </a:pPr>
            <a:r>
              <a:rPr lang="en-US" sz="1050" dirty="0">
                <a:solidFill>
                  <a:srgbClr val="E65100"/>
                </a:solidFill>
                <a:latin typeface="Calibri" pitchFamily="34" charset="0"/>
                <a:ea typeface="Calibri" pitchFamily="34" charset="-122"/>
                <a:cs typeface="Calibri" pitchFamily="34" charset="-120"/>
              </a:rPr>
              <a:t>each year</a:t>
            </a:r>
            <a:endParaRPr lang="en-US" sz="1050" dirty="0"/>
          </a:p>
        </p:txBody>
      </p:sp>
      <p:sp>
        <p:nvSpPr>
          <p:cNvPr id="13" name="Shape 11"/>
          <p:cNvSpPr/>
          <p:nvPr/>
        </p:nvSpPr>
        <p:spPr>
          <a:xfrm>
            <a:off x="1965960" y="786384"/>
            <a:ext cx="1572768" cy="54864"/>
          </a:xfrm>
          <a:prstGeom prst="rect">
            <a:avLst/>
          </a:prstGeom>
          <a:solidFill>
            <a:srgbClr val="E65100"/>
          </a:solidFill>
          <a:ln w="12700">
            <a:solidFill>
              <a:srgbClr val="E65100"/>
            </a:solidFill>
            <a:prstDash val="solid"/>
          </a:ln>
        </p:spPr>
        <p:txBody>
          <a:bodyPr/>
          <a:lstStyle/>
          <a:p>
            <a:endParaRPr lang="en-IN"/>
          </a:p>
        </p:txBody>
      </p:sp>
      <p:sp>
        <p:nvSpPr>
          <p:cNvPr id="14" name="Shape 12"/>
          <p:cNvSpPr/>
          <p:nvPr/>
        </p:nvSpPr>
        <p:spPr>
          <a:xfrm>
            <a:off x="3712464" y="786384"/>
            <a:ext cx="1572768" cy="2103120"/>
          </a:xfrm>
          <a:prstGeom prst="rect">
            <a:avLst/>
          </a:prstGeom>
          <a:solidFill>
            <a:srgbClr val="E8F1FA"/>
          </a:solidFill>
          <a:ln w="12700">
            <a:solidFill>
              <a:srgbClr val="E8F1FA"/>
            </a:solidFill>
            <a:prstDash val="solid"/>
          </a:ln>
          <a:effectLst>
            <a:outerShdw blurRad="127000" dist="38100" dir="8100000" algn="bl" rotWithShape="0">
              <a:srgbClr val="000000">
                <a:alpha val="9000"/>
              </a:srgbClr>
            </a:outerShdw>
          </a:effectLst>
        </p:spPr>
        <p:txBody>
          <a:bodyPr/>
          <a:lstStyle/>
          <a:p>
            <a:endParaRPr lang="en-IN"/>
          </a:p>
        </p:txBody>
      </p:sp>
      <p:sp>
        <p:nvSpPr>
          <p:cNvPr id="15" name="Text 13"/>
          <p:cNvSpPr/>
          <p:nvPr/>
        </p:nvSpPr>
        <p:spPr>
          <a:xfrm>
            <a:off x="3712464" y="859536"/>
            <a:ext cx="1572768" cy="1093622"/>
          </a:xfrm>
          <a:prstGeom prst="rect">
            <a:avLst/>
          </a:prstGeom>
          <a:noFill/>
          <a:ln/>
        </p:spPr>
        <p:txBody>
          <a:bodyPr wrap="square" rtlCol="0" anchor="b"/>
          <a:lstStyle/>
          <a:p>
            <a:pPr marL="0" indent="0" algn="ctr">
              <a:buNone/>
            </a:pPr>
            <a:r>
              <a:rPr lang="en-US" sz="2800" b="1" dirty="0">
                <a:solidFill>
                  <a:srgbClr val="1A6FBF"/>
                </a:solidFill>
                <a:latin typeface="Calibri" pitchFamily="34" charset="0"/>
                <a:ea typeface="Calibri" pitchFamily="34" charset="-122"/>
                <a:cs typeface="Calibri" pitchFamily="34" charset="-120"/>
              </a:rPr>
              <a:t>20–30%</a:t>
            </a:r>
            <a:endParaRPr lang="en-US" sz="2800" dirty="0"/>
          </a:p>
        </p:txBody>
      </p:sp>
      <p:sp>
        <p:nvSpPr>
          <p:cNvPr id="16" name="Text 14"/>
          <p:cNvSpPr/>
          <p:nvPr/>
        </p:nvSpPr>
        <p:spPr>
          <a:xfrm>
            <a:off x="3785616" y="1964131"/>
            <a:ext cx="1426464" cy="841248"/>
          </a:xfrm>
          <a:prstGeom prst="rect">
            <a:avLst/>
          </a:prstGeom>
          <a:noFill/>
          <a:ln/>
        </p:spPr>
        <p:txBody>
          <a:bodyPr wrap="square" rtlCol="0" anchor="ctr"/>
          <a:lstStyle/>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Annual budget</a:t>
            </a:r>
            <a:endParaRPr lang="en-US" sz="1050" dirty="0"/>
          </a:p>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locked in excess</a:t>
            </a:r>
            <a:endParaRPr lang="en-US" sz="1050" dirty="0"/>
          </a:p>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inventory</a:t>
            </a:r>
            <a:endParaRPr lang="en-US" sz="1050" dirty="0"/>
          </a:p>
        </p:txBody>
      </p:sp>
      <p:sp>
        <p:nvSpPr>
          <p:cNvPr id="17" name="Shape 15"/>
          <p:cNvSpPr/>
          <p:nvPr/>
        </p:nvSpPr>
        <p:spPr>
          <a:xfrm>
            <a:off x="3712464" y="786384"/>
            <a:ext cx="1572768" cy="54864"/>
          </a:xfrm>
          <a:prstGeom prst="rect">
            <a:avLst/>
          </a:prstGeom>
          <a:solidFill>
            <a:srgbClr val="1A6FBF"/>
          </a:solidFill>
          <a:ln w="12700">
            <a:solidFill>
              <a:srgbClr val="1A6FBF"/>
            </a:solidFill>
            <a:prstDash val="solid"/>
          </a:ln>
        </p:spPr>
        <p:txBody>
          <a:bodyPr/>
          <a:lstStyle/>
          <a:p>
            <a:endParaRPr lang="en-IN"/>
          </a:p>
        </p:txBody>
      </p:sp>
      <p:sp>
        <p:nvSpPr>
          <p:cNvPr id="18" name="Shape 16"/>
          <p:cNvSpPr/>
          <p:nvPr/>
        </p:nvSpPr>
        <p:spPr>
          <a:xfrm>
            <a:off x="5458968" y="786384"/>
            <a:ext cx="1572768" cy="2103120"/>
          </a:xfrm>
          <a:prstGeom prst="rect">
            <a:avLst/>
          </a:prstGeom>
          <a:solidFill>
            <a:srgbClr val="E0F2F1"/>
          </a:solidFill>
          <a:ln w="12700">
            <a:solidFill>
              <a:srgbClr val="E0F2F1"/>
            </a:solidFill>
            <a:prstDash val="solid"/>
          </a:ln>
          <a:effectLst>
            <a:outerShdw blurRad="127000" dist="38100" dir="8100000" algn="bl" rotWithShape="0">
              <a:srgbClr val="000000">
                <a:alpha val="9000"/>
              </a:srgbClr>
            </a:outerShdw>
          </a:effectLst>
        </p:spPr>
        <p:txBody>
          <a:bodyPr/>
          <a:lstStyle/>
          <a:p>
            <a:endParaRPr lang="en-IN"/>
          </a:p>
        </p:txBody>
      </p:sp>
      <p:sp>
        <p:nvSpPr>
          <p:cNvPr id="19" name="Text 17"/>
          <p:cNvSpPr/>
          <p:nvPr/>
        </p:nvSpPr>
        <p:spPr>
          <a:xfrm>
            <a:off x="5458968" y="859536"/>
            <a:ext cx="1572768" cy="1093622"/>
          </a:xfrm>
          <a:prstGeom prst="rect">
            <a:avLst/>
          </a:prstGeom>
          <a:noFill/>
          <a:ln/>
        </p:spPr>
        <p:txBody>
          <a:bodyPr wrap="square" rtlCol="0" anchor="b"/>
          <a:lstStyle/>
          <a:p>
            <a:pPr marL="0" indent="0" algn="ctr">
              <a:buNone/>
            </a:pPr>
            <a:r>
              <a:rPr lang="en-US" sz="2800" b="1" dirty="0">
                <a:solidFill>
                  <a:srgbClr val="00796B"/>
                </a:solidFill>
                <a:latin typeface="Calibri" pitchFamily="34" charset="0"/>
                <a:ea typeface="Calibri" pitchFamily="34" charset="-122"/>
                <a:cs typeface="Calibri" pitchFamily="34" charset="-120"/>
              </a:rPr>
              <a:t>20–30%</a:t>
            </a:r>
            <a:endParaRPr lang="en-US" sz="2800" dirty="0"/>
          </a:p>
        </p:txBody>
      </p:sp>
      <p:sp>
        <p:nvSpPr>
          <p:cNvPr id="20" name="Text 18"/>
          <p:cNvSpPr/>
          <p:nvPr/>
        </p:nvSpPr>
        <p:spPr>
          <a:xfrm>
            <a:off x="5532120" y="1964131"/>
            <a:ext cx="1426464" cy="841248"/>
          </a:xfrm>
          <a:prstGeom prst="rect">
            <a:avLst/>
          </a:prstGeom>
          <a:noFill/>
          <a:ln/>
        </p:spPr>
        <p:txBody>
          <a:bodyPr wrap="square" rtlCol="0" anchor="ctr"/>
          <a:lstStyle/>
          <a:p>
            <a:pPr marL="0" indent="0" algn="ctr">
              <a:lnSpc>
                <a:spcPct val="120000"/>
              </a:lnSpc>
              <a:buNone/>
            </a:pPr>
            <a:r>
              <a:rPr lang="en-US" sz="1050" dirty="0">
                <a:solidFill>
                  <a:srgbClr val="00796B"/>
                </a:solidFill>
                <a:latin typeface="Calibri" pitchFamily="34" charset="0"/>
                <a:ea typeface="Calibri" pitchFamily="34" charset="-122"/>
                <a:cs typeface="Calibri" pitchFamily="34" charset="-120"/>
              </a:rPr>
              <a:t>Carrying cost</a:t>
            </a:r>
            <a:endParaRPr lang="en-US" sz="1050" dirty="0"/>
          </a:p>
          <a:p>
            <a:pPr marL="0" indent="0" algn="ctr">
              <a:lnSpc>
                <a:spcPct val="120000"/>
              </a:lnSpc>
              <a:buNone/>
            </a:pPr>
            <a:r>
              <a:rPr lang="en-US" sz="1050" dirty="0">
                <a:solidFill>
                  <a:srgbClr val="00796B"/>
                </a:solidFill>
                <a:latin typeface="Calibri" pitchFamily="34" charset="0"/>
                <a:ea typeface="Calibri" pitchFamily="34" charset="-122"/>
                <a:cs typeface="Calibri" pitchFamily="34" charset="-120"/>
              </a:rPr>
              <a:t>per year on</a:t>
            </a:r>
            <a:endParaRPr lang="en-US" sz="1050" dirty="0"/>
          </a:p>
          <a:p>
            <a:pPr marL="0" indent="0" algn="ctr">
              <a:lnSpc>
                <a:spcPct val="120000"/>
              </a:lnSpc>
              <a:buNone/>
            </a:pPr>
            <a:r>
              <a:rPr lang="en-US" sz="1050" dirty="0">
                <a:solidFill>
                  <a:srgbClr val="00796B"/>
                </a:solidFill>
                <a:latin typeface="Calibri" pitchFamily="34" charset="0"/>
                <a:ea typeface="Calibri" pitchFamily="34" charset="-122"/>
                <a:cs typeface="Calibri" pitchFamily="34" charset="-120"/>
              </a:rPr>
              <a:t>excess stock</a:t>
            </a:r>
            <a:endParaRPr lang="en-US" sz="1050" dirty="0"/>
          </a:p>
        </p:txBody>
      </p:sp>
      <p:sp>
        <p:nvSpPr>
          <p:cNvPr id="21" name="Shape 19"/>
          <p:cNvSpPr/>
          <p:nvPr/>
        </p:nvSpPr>
        <p:spPr>
          <a:xfrm>
            <a:off x="5458968" y="786384"/>
            <a:ext cx="1572768" cy="54864"/>
          </a:xfrm>
          <a:prstGeom prst="rect">
            <a:avLst/>
          </a:prstGeom>
          <a:solidFill>
            <a:srgbClr val="00796B"/>
          </a:solidFill>
          <a:ln w="12700">
            <a:solidFill>
              <a:srgbClr val="00796B"/>
            </a:solidFill>
            <a:prstDash val="solid"/>
          </a:ln>
        </p:spPr>
        <p:txBody>
          <a:bodyPr/>
          <a:lstStyle/>
          <a:p>
            <a:endParaRPr lang="en-IN"/>
          </a:p>
        </p:txBody>
      </p:sp>
      <p:sp>
        <p:nvSpPr>
          <p:cNvPr id="22" name="Shape 20"/>
          <p:cNvSpPr/>
          <p:nvPr/>
        </p:nvSpPr>
        <p:spPr>
          <a:xfrm>
            <a:off x="7205472" y="786384"/>
            <a:ext cx="1572768" cy="2103120"/>
          </a:xfrm>
          <a:prstGeom prst="rect">
            <a:avLst/>
          </a:prstGeom>
          <a:solidFill>
            <a:srgbClr val="F5F8FA"/>
          </a:solidFill>
          <a:ln w="12700">
            <a:solidFill>
              <a:srgbClr val="F5F8FA"/>
            </a:solidFill>
            <a:prstDash val="solid"/>
          </a:ln>
          <a:effectLst>
            <a:outerShdw blurRad="127000" dist="38100" dir="8100000" algn="bl" rotWithShape="0">
              <a:srgbClr val="000000">
                <a:alpha val="9000"/>
              </a:srgbClr>
            </a:outerShdw>
          </a:effectLst>
        </p:spPr>
        <p:txBody>
          <a:bodyPr/>
          <a:lstStyle/>
          <a:p>
            <a:endParaRPr lang="en-IN"/>
          </a:p>
        </p:txBody>
      </p:sp>
      <p:sp>
        <p:nvSpPr>
          <p:cNvPr id="23" name="Text 21"/>
          <p:cNvSpPr/>
          <p:nvPr/>
        </p:nvSpPr>
        <p:spPr>
          <a:xfrm>
            <a:off x="7205472" y="859536"/>
            <a:ext cx="1572768" cy="1093622"/>
          </a:xfrm>
          <a:prstGeom prst="rect">
            <a:avLst/>
          </a:prstGeom>
          <a:noFill/>
          <a:ln/>
        </p:spPr>
        <p:txBody>
          <a:bodyPr wrap="square" rtlCol="0" anchor="b"/>
          <a:lstStyle/>
          <a:p>
            <a:pPr marL="0" indent="0" algn="ctr">
              <a:buNone/>
            </a:pPr>
            <a:r>
              <a:rPr lang="en-US" sz="2800" b="1" dirty="0">
                <a:solidFill>
                  <a:srgbClr val="2C3E50"/>
                </a:solidFill>
                <a:latin typeface="Calibri" pitchFamily="34" charset="0"/>
                <a:ea typeface="Calibri" pitchFamily="34" charset="-122"/>
                <a:cs typeface="Calibri" pitchFamily="34" charset="-120"/>
              </a:rPr>
              <a:t>$1B+</a:t>
            </a:r>
            <a:endParaRPr lang="en-US" sz="2800" dirty="0"/>
          </a:p>
        </p:txBody>
      </p:sp>
      <p:sp>
        <p:nvSpPr>
          <p:cNvPr id="24" name="Text 22"/>
          <p:cNvSpPr/>
          <p:nvPr/>
        </p:nvSpPr>
        <p:spPr>
          <a:xfrm>
            <a:off x="7278624" y="1964131"/>
            <a:ext cx="1426464" cy="841248"/>
          </a:xfrm>
          <a:prstGeom prst="rect">
            <a:avLst/>
          </a:prstGeom>
          <a:noFill/>
          <a:ln/>
        </p:spPr>
        <p:txBody>
          <a:bodyPr wrap="square" rtlCol="0" anchor="ctr"/>
          <a:lstStyle/>
          <a:p>
            <a:pPr marL="0" indent="0" algn="ctr">
              <a:lnSpc>
                <a:spcPct val="120000"/>
              </a:lnSpc>
              <a:buNone/>
            </a:pPr>
            <a:r>
              <a:rPr lang="en-US" sz="1050" dirty="0">
                <a:solidFill>
                  <a:srgbClr val="2C3E50"/>
                </a:solidFill>
                <a:latin typeface="Calibri" pitchFamily="34" charset="0"/>
                <a:ea typeface="Calibri" pitchFamily="34" charset="-122"/>
                <a:cs typeface="Calibri" pitchFamily="34" charset="-120"/>
              </a:rPr>
              <a:t>Wasted annually</a:t>
            </a:r>
            <a:endParaRPr lang="en-US" sz="1050" dirty="0"/>
          </a:p>
          <a:p>
            <a:pPr marL="0" indent="0" algn="ctr">
              <a:lnSpc>
                <a:spcPct val="120000"/>
              </a:lnSpc>
              <a:buNone/>
            </a:pPr>
            <a:r>
              <a:rPr lang="en-US" sz="1050" dirty="0">
                <a:solidFill>
                  <a:srgbClr val="2C3E50"/>
                </a:solidFill>
                <a:latin typeface="Calibri" pitchFamily="34" charset="0"/>
                <a:ea typeface="Calibri" pitchFamily="34" charset="-122"/>
                <a:cs typeface="Calibri" pitchFamily="34" charset="-120"/>
              </a:rPr>
              <a:t>across US hospital</a:t>
            </a:r>
            <a:endParaRPr lang="en-US" sz="1050" dirty="0"/>
          </a:p>
          <a:p>
            <a:pPr marL="0" indent="0" algn="ctr">
              <a:lnSpc>
                <a:spcPct val="120000"/>
              </a:lnSpc>
              <a:buNone/>
            </a:pPr>
            <a:r>
              <a:rPr lang="en-US" sz="1050" dirty="0">
                <a:solidFill>
                  <a:srgbClr val="2C3E50"/>
                </a:solidFill>
                <a:latin typeface="Calibri" pitchFamily="34" charset="0"/>
                <a:ea typeface="Calibri" pitchFamily="34" charset="-122"/>
                <a:cs typeface="Calibri" pitchFamily="34" charset="-120"/>
              </a:rPr>
              <a:t>supply chains</a:t>
            </a:r>
            <a:endParaRPr lang="en-US" sz="1050" dirty="0"/>
          </a:p>
        </p:txBody>
      </p:sp>
      <p:sp>
        <p:nvSpPr>
          <p:cNvPr id="25" name="Shape 23"/>
          <p:cNvSpPr/>
          <p:nvPr/>
        </p:nvSpPr>
        <p:spPr>
          <a:xfrm>
            <a:off x="7205472" y="786384"/>
            <a:ext cx="1572768" cy="54864"/>
          </a:xfrm>
          <a:prstGeom prst="rect">
            <a:avLst/>
          </a:prstGeom>
          <a:solidFill>
            <a:srgbClr val="2C3E50"/>
          </a:solidFill>
          <a:ln w="12700">
            <a:solidFill>
              <a:srgbClr val="2C3E50"/>
            </a:solidFill>
            <a:prstDash val="solid"/>
          </a:ln>
        </p:spPr>
        <p:txBody>
          <a:bodyPr/>
          <a:lstStyle/>
          <a:p>
            <a:endParaRPr lang="en-IN"/>
          </a:p>
        </p:txBody>
      </p:sp>
      <p:sp>
        <p:nvSpPr>
          <p:cNvPr id="26" name="Shape 24"/>
          <p:cNvSpPr/>
          <p:nvPr/>
        </p:nvSpPr>
        <p:spPr>
          <a:xfrm>
            <a:off x="219456" y="3044952"/>
            <a:ext cx="4224528" cy="181051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7" name="Shape 25"/>
          <p:cNvSpPr/>
          <p:nvPr/>
        </p:nvSpPr>
        <p:spPr>
          <a:xfrm>
            <a:off x="219456" y="3044952"/>
            <a:ext cx="4224528" cy="347472"/>
          </a:xfrm>
          <a:prstGeom prst="rect">
            <a:avLst/>
          </a:prstGeom>
          <a:solidFill>
            <a:srgbClr val="1A3A5C"/>
          </a:solidFill>
          <a:ln w="12700">
            <a:solidFill>
              <a:srgbClr val="1A3A5C"/>
            </a:solidFill>
            <a:prstDash val="solid"/>
          </a:ln>
        </p:spPr>
        <p:txBody>
          <a:bodyPr/>
          <a:lstStyle/>
          <a:p>
            <a:endParaRPr lang="en-IN"/>
          </a:p>
        </p:txBody>
      </p:sp>
      <p:sp>
        <p:nvSpPr>
          <p:cNvPr id="28" name="Text 26"/>
          <p:cNvSpPr/>
          <p:nvPr/>
        </p:nvSpPr>
        <p:spPr>
          <a:xfrm>
            <a:off x="347472" y="3044952"/>
            <a:ext cx="3931920" cy="34747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Root Causes</a:t>
            </a:r>
            <a:endParaRPr lang="en-US" sz="1150" dirty="0"/>
          </a:p>
        </p:txBody>
      </p:sp>
      <p:sp>
        <p:nvSpPr>
          <p:cNvPr id="29" name="Shape 27"/>
          <p:cNvSpPr/>
          <p:nvPr/>
        </p:nvSpPr>
        <p:spPr>
          <a:xfrm>
            <a:off x="347472" y="3547872"/>
            <a:ext cx="128016" cy="128016"/>
          </a:xfrm>
          <a:prstGeom prst="line">
            <a:avLst/>
          </a:prstGeom>
          <a:solidFill>
            <a:srgbClr val="B71C1C"/>
          </a:solidFill>
          <a:ln w="12700">
            <a:solidFill>
              <a:srgbClr val="B71C1C"/>
            </a:solidFill>
            <a:prstDash val="solid"/>
          </a:ln>
        </p:spPr>
        <p:txBody>
          <a:bodyPr/>
          <a:lstStyle/>
          <a:p>
            <a:endParaRPr lang="en-IN"/>
          </a:p>
        </p:txBody>
      </p:sp>
      <p:sp>
        <p:nvSpPr>
          <p:cNvPr id="30" name="Text 28"/>
          <p:cNvSpPr/>
          <p:nvPr/>
        </p:nvSpPr>
        <p:spPr>
          <a:xfrm>
            <a:off x="548640" y="345643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Manual, spreadsheet-based tracking</a:t>
            </a:r>
            <a:endParaRPr lang="en-US" sz="1050" dirty="0"/>
          </a:p>
        </p:txBody>
      </p:sp>
      <p:sp>
        <p:nvSpPr>
          <p:cNvPr id="31" name="Shape 29"/>
          <p:cNvSpPr/>
          <p:nvPr/>
        </p:nvSpPr>
        <p:spPr>
          <a:xfrm>
            <a:off x="347472" y="3822192"/>
            <a:ext cx="128016" cy="128016"/>
          </a:xfrm>
          <a:prstGeom prst="line">
            <a:avLst/>
          </a:prstGeom>
          <a:solidFill>
            <a:srgbClr val="B71C1C"/>
          </a:solidFill>
          <a:ln w="12700">
            <a:solidFill>
              <a:srgbClr val="B71C1C"/>
            </a:solidFill>
            <a:prstDash val="solid"/>
          </a:ln>
        </p:spPr>
        <p:txBody>
          <a:bodyPr/>
          <a:lstStyle/>
          <a:p>
            <a:endParaRPr lang="en-IN"/>
          </a:p>
        </p:txBody>
      </p:sp>
      <p:sp>
        <p:nvSpPr>
          <p:cNvPr id="32" name="Text 30"/>
          <p:cNvSpPr/>
          <p:nvPr/>
        </p:nvSpPr>
        <p:spPr>
          <a:xfrm>
            <a:off x="548640" y="373075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No predictive demand forecasting</a:t>
            </a:r>
            <a:endParaRPr lang="en-US" sz="1050" dirty="0"/>
          </a:p>
        </p:txBody>
      </p:sp>
      <p:sp>
        <p:nvSpPr>
          <p:cNvPr id="33" name="Shape 31"/>
          <p:cNvSpPr/>
          <p:nvPr/>
        </p:nvSpPr>
        <p:spPr>
          <a:xfrm>
            <a:off x="347472" y="4096512"/>
            <a:ext cx="128016" cy="128016"/>
          </a:xfrm>
          <a:prstGeom prst="line">
            <a:avLst/>
          </a:prstGeom>
          <a:solidFill>
            <a:srgbClr val="B71C1C"/>
          </a:solidFill>
          <a:ln w="12700">
            <a:solidFill>
              <a:srgbClr val="B71C1C"/>
            </a:solidFill>
            <a:prstDash val="solid"/>
          </a:ln>
        </p:spPr>
        <p:txBody>
          <a:bodyPr/>
          <a:lstStyle/>
          <a:p>
            <a:endParaRPr lang="en-IN"/>
          </a:p>
        </p:txBody>
      </p:sp>
      <p:sp>
        <p:nvSpPr>
          <p:cNvPr id="34" name="Text 32"/>
          <p:cNvSpPr/>
          <p:nvPr/>
        </p:nvSpPr>
        <p:spPr>
          <a:xfrm>
            <a:off x="548640" y="400507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Siloed supplier management</a:t>
            </a:r>
            <a:endParaRPr lang="en-US" sz="1050" dirty="0"/>
          </a:p>
        </p:txBody>
      </p:sp>
      <p:sp>
        <p:nvSpPr>
          <p:cNvPr id="35" name="Shape 33"/>
          <p:cNvSpPr/>
          <p:nvPr/>
        </p:nvSpPr>
        <p:spPr>
          <a:xfrm>
            <a:off x="347472" y="4370832"/>
            <a:ext cx="128016" cy="128016"/>
          </a:xfrm>
          <a:prstGeom prst="line">
            <a:avLst/>
          </a:prstGeom>
          <a:solidFill>
            <a:srgbClr val="B71C1C"/>
          </a:solidFill>
          <a:ln w="12700">
            <a:solidFill>
              <a:srgbClr val="B71C1C"/>
            </a:solidFill>
            <a:prstDash val="solid"/>
          </a:ln>
        </p:spPr>
        <p:txBody>
          <a:bodyPr/>
          <a:lstStyle/>
          <a:p>
            <a:endParaRPr lang="en-IN"/>
          </a:p>
        </p:txBody>
      </p:sp>
      <p:sp>
        <p:nvSpPr>
          <p:cNvPr id="36" name="Text 34"/>
          <p:cNvSpPr/>
          <p:nvPr/>
        </p:nvSpPr>
        <p:spPr>
          <a:xfrm>
            <a:off x="548640" y="427939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No real-time expiry monitoring</a:t>
            </a:r>
            <a:endParaRPr lang="en-US" sz="1050" dirty="0"/>
          </a:p>
        </p:txBody>
      </p:sp>
      <p:sp>
        <p:nvSpPr>
          <p:cNvPr id="37" name="Shape 35"/>
          <p:cNvSpPr/>
          <p:nvPr/>
        </p:nvSpPr>
        <p:spPr>
          <a:xfrm>
            <a:off x="347472" y="4645152"/>
            <a:ext cx="128016" cy="128016"/>
          </a:xfrm>
          <a:prstGeom prst="line">
            <a:avLst/>
          </a:prstGeom>
          <a:solidFill>
            <a:srgbClr val="B71C1C"/>
          </a:solidFill>
          <a:ln w="12700">
            <a:solidFill>
              <a:srgbClr val="B71C1C"/>
            </a:solidFill>
            <a:prstDash val="solid"/>
          </a:ln>
        </p:spPr>
        <p:txBody>
          <a:bodyPr/>
          <a:lstStyle/>
          <a:p>
            <a:endParaRPr lang="en-IN"/>
          </a:p>
        </p:txBody>
      </p:sp>
      <p:sp>
        <p:nvSpPr>
          <p:cNvPr id="38" name="Text 36"/>
          <p:cNvSpPr/>
          <p:nvPr/>
        </p:nvSpPr>
        <p:spPr>
          <a:xfrm>
            <a:off x="548640" y="455371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Reactive procurement (post-stockout)</a:t>
            </a:r>
            <a:endParaRPr lang="en-US" sz="1050" dirty="0"/>
          </a:p>
        </p:txBody>
      </p:sp>
      <p:sp>
        <p:nvSpPr>
          <p:cNvPr id="39" name="Shape 37"/>
          <p:cNvSpPr/>
          <p:nvPr/>
        </p:nvSpPr>
        <p:spPr>
          <a:xfrm>
            <a:off x="4681728" y="3044952"/>
            <a:ext cx="4224528" cy="181051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40" name="Shape 38"/>
          <p:cNvSpPr/>
          <p:nvPr/>
        </p:nvSpPr>
        <p:spPr>
          <a:xfrm>
            <a:off x="4681728" y="3044952"/>
            <a:ext cx="4224528" cy="347472"/>
          </a:xfrm>
          <a:prstGeom prst="rect">
            <a:avLst/>
          </a:prstGeom>
          <a:solidFill>
            <a:srgbClr val="1A3A5C"/>
          </a:solidFill>
          <a:ln w="12700">
            <a:solidFill>
              <a:srgbClr val="1A3A5C"/>
            </a:solidFill>
            <a:prstDash val="solid"/>
          </a:ln>
        </p:spPr>
        <p:txBody>
          <a:bodyPr/>
          <a:lstStyle/>
          <a:p>
            <a:endParaRPr lang="en-IN"/>
          </a:p>
        </p:txBody>
      </p:sp>
      <p:sp>
        <p:nvSpPr>
          <p:cNvPr id="41" name="Text 39"/>
          <p:cNvSpPr/>
          <p:nvPr/>
        </p:nvSpPr>
        <p:spPr>
          <a:xfrm>
            <a:off x="4809744" y="3044952"/>
            <a:ext cx="3931920" cy="347472"/>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Impact on Patient Care</a:t>
            </a:r>
            <a:endParaRPr lang="en-US" sz="1150" dirty="0"/>
          </a:p>
        </p:txBody>
      </p:sp>
      <p:sp>
        <p:nvSpPr>
          <p:cNvPr id="42" name="Shape 40"/>
          <p:cNvSpPr/>
          <p:nvPr/>
        </p:nvSpPr>
        <p:spPr>
          <a:xfrm>
            <a:off x="4809744" y="3547872"/>
            <a:ext cx="128016" cy="128016"/>
          </a:xfrm>
          <a:prstGeom prst="line">
            <a:avLst/>
          </a:prstGeom>
          <a:solidFill>
            <a:srgbClr val="E65100"/>
          </a:solidFill>
          <a:ln w="12700">
            <a:solidFill>
              <a:srgbClr val="E65100"/>
            </a:solidFill>
            <a:prstDash val="solid"/>
          </a:ln>
        </p:spPr>
        <p:txBody>
          <a:bodyPr/>
          <a:lstStyle/>
          <a:p>
            <a:endParaRPr lang="en-IN"/>
          </a:p>
        </p:txBody>
      </p:sp>
      <p:sp>
        <p:nvSpPr>
          <p:cNvPr id="43" name="Text 41"/>
          <p:cNvSpPr/>
          <p:nvPr/>
        </p:nvSpPr>
        <p:spPr>
          <a:xfrm>
            <a:off x="5010912" y="345643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Treatment interruptions from stockouts</a:t>
            </a:r>
            <a:endParaRPr lang="en-US" sz="1050" dirty="0"/>
          </a:p>
        </p:txBody>
      </p:sp>
      <p:sp>
        <p:nvSpPr>
          <p:cNvPr id="44" name="Shape 42"/>
          <p:cNvSpPr/>
          <p:nvPr/>
        </p:nvSpPr>
        <p:spPr>
          <a:xfrm>
            <a:off x="4809744" y="3822192"/>
            <a:ext cx="128016" cy="128016"/>
          </a:xfrm>
          <a:prstGeom prst="line">
            <a:avLst/>
          </a:prstGeom>
          <a:solidFill>
            <a:srgbClr val="E65100"/>
          </a:solidFill>
          <a:ln w="12700">
            <a:solidFill>
              <a:srgbClr val="E65100"/>
            </a:solidFill>
            <a:prstDash val="solid"/>
          </a:ln>
        </p:spPr>
        <p:txBody>
          <a:bodyPr/>
          <a:lstStyle/>
          <a:p>
            <a:endParaRPr lang="en-IN"/>
          </a:p>
        </p:txBody>
      </p:sp>
      <p:sp>
        <p:nvSpPr>
          <p:cNvPr id="45" name="Text 43"/>
          <p:cNvSpPr/>
          <p:nvPr/>
        </p:nvSpPr>
        <p:spPr>
          <a:xfrm>
            <a:off x="5010912" y="373075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Medication errors from poor tracking</a:t>
            </a:r>
            <a:endParaRPr lang="en-US" sz="1050" dirty="0"/>
          </a:p>
        </p:txBody>
      </p:sp>
      <p:sp>
        <p:nvSpPr>
          <p:cNvPr id="46" name="Shape 44"/>
          <p:cNvSpPr/>
          <p:nvPr/>
        </p:nvSpPr>
        <p:spPr>
          <a:xfrm>
            <a:off x="4809744" y="4096512"/>
            <a:ext cx="128016" cy="128016"/>
          </a:xfrm>
          <a:prstGeom prst="line">
            <a:avLst/>
          </a:prstGeom>
          <a:solidFill>
            <a:srgbClr val="E65100"/>
          </a:solidFill>
          <a:ln w="12700">
            <a:solidFill>
              <a:srgbClr val="E65100"/>
            </a:solidFill>
            <a:prstDash val="solid"/>
          </a:ln>
        </p:spPr>
        <p:txBody>
          <a:bodyPr/>
          <a:lstStyle/>
          <a:p>
            <a:endParaRPr lang="en-IN"/>
          </a:p>
        </p:txBody>
      </p:sp>
      <p:sp>
        <p:nvSpPr>
          <p:cNvPr id="47" name="Text 45"/>
          <p:cNvSpPr/>
          <p:nvPr/>
        </p:nvSpPr>
        <p:spPr>
          <a:xfrm>
            <a:off x="5010912" y="400507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Emergency procurement at premium cost</a:t>
            </a:r>
            <a:endParaRPr lang="en-US" sz="1050" dirty="0"/>
          </a:p>
        </p:txBody>
      </p:sp>
      <p:sp>
        <p:nvSpPr>
          <p:cNvPr id="48" name="Shape 46"/>
          <p:cNvSpPr/>
          <p:nvPr/>
        </p:nvSpPr>
        <p:spPr>
          <a:xfrm>
            <a:off x="4809744" y="4370832"/>
            <a:ext cx="128016" cy="128016"/>
          </a:xfrm>
          <a:prstGeom prst="line">
            <a:avLst/>
          </a:prstGeom>
          <a:solidFill>
            <a:srgbClr val="E65100"/>
          </a:solidFill>
          <a:ln w="12700">
            <a:solidFill>
              <a:srgbClr val="E65100"/>
            </a:solidFill>
            <a:prstDash val="solid"/>
          </a:ln>
        </p:spPr>
        <p:txBody>
          <a:bodyPr/>
          <a:lstStyle/>
          <a:p>
            <a:endParaRPr lang="en-IN"/>
          </a:p>
        </p:txBody>
      </p:sp>
      <p:sp>
        <p:nvSpPr>
          <p:cNvPr id="49" name="Text 47"/>
          <p:cNvSpPr/>
          <p:nvPr/>
        </p:nvSpPr>
        <p:spPr>
          <a:xfrm>
            <a:off x="5010912" y="427939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Compromised care outcomes</a:t>
            </a:r>
            <a:endParaRPr lang="en-US" sz="1050" dirty="0"/>
          </a:p>
        </p:txBody>
      </p:sp>
      <p:sp>
        <p:nvSpPr>
          <p:cNvPr id="50" name="Shape 48"/>
          <p:cNvSpPr/>
          <p:nvPr/>
        </p:nvSpPr>
        <p:spPr>
          <a:xfrm>
            <a:off x="4809744" y="4645152"/>
            <a:ext cx="128016" cy="128016"/>
          </a:xfrm>
          <a:prstGeom prst="line">
            <a:avLst/>
          </a:prstGeom>
          <a:solidFill>
            <a:srgbClr val="E65100"/>
          </a:solidFill>
          <a:ln w="12700">
            <a:solidFill>
              <a:srgbClr val="E65100"/>
            </a:solidFill>
            <a:prstDash val="solid"/>
          </a:ln>
        </p:spPr>
        <p:txBody>
          <a:bodyPr/>
          <a:lstStyle/>
          <a:p>
            <a:endParaRPr lang="en-IN"/>
          </a:p>
        </p:txBody>
      </p:sp>
      <p:sp>
        <p:nvSpPr>
          <p:cNvPr id="51" name="Text 49"/>
          <p:cNvSpPr/>
          <p:nvPr/>
        </p:nvSpPr>
        <p:spPr>
          <a:xfrm>
            <a:off x="5010912" y="4553712"/>
            <a:ext cx="373075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Staff time lost to manual processes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02</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Introducing AHIM</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Platform overview and core capabilities</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Introducing AHIM — What It Is &amp; What It Solves</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320040" y="786384"/>
            <a:ext cx="8503920" cy="658368"/>
          </a:xfrm>
          <a:prstGeom prst="rect">
            <a:avLst/>
          </a:prstGeom>
          <a:noFill/>
          <a:ln/>
        </p:spPr>
        <p:txBody>
          <a:bodyPr wrap="square" rtlCol="0" anchor="ctr"/>
          <a:lstStyle/>
          <a:p>
            <a:pPr marL="0" indent="0">
              <a:lnSpc>
                <a:spcPct val="145000"/>
              </a:lnSpc>
              <a:buNone/>
            </a:pPr>
            <a:r>
              <a:rPr lang="en-US" sz="1250" dirty="0">
                <a:solidFill>
                  <a:srgbClr val="2C3E50"/>
                </a:solidFill>
                <a:latin typeface="Calibri" pitchFamily="34" charset="0"/>
                <a:ea typeface="Calibri" pitchFamily="34" charset="-122"/>
                <a:cs typeface="Calibri" pitchFamily="34" charset="-120"/>
              </a:rPr>
              <a:t>A modern full-stack AI platform that brings real-time monitoring, ML predictions</a:t>
            </a:r>
            <a:endParaRPr lang="en-US" sz="1250" dirty="0"/>
          </a:p>
          <a:p>
            <a:pPr marL="0" indent="0">
              <a:lnSpc>
                <a:spcPct val="145000"/>
              </a:lnSpc>
              <a:buNone/>
            </a:pPr>
            <a:r>
              <a:rPr lang="en-US" sz="1250" dirty="0">
                <a:solidFill>
                  <a:srgbClr val="2C3E50"/>
                </a:solidFill>
                <a:latin typeface="Calibri" pitchFamily="34" charset="0"/>
                <a:ea typeface="Calibri" pitchFamily="34" charset="-122"/>
                <a:cs typeface="Calibri" pitchFamily="34" charset="-120"/>
              </a:rPr>
              <a:t>and autonomous CrewAI agents to hospital supply chain management.</a:t>
            </a:r>
            <a:endParaRPr lang="en-US" sz="1250" dirty="0"/>
          </a:p>
        </p:txBody>
      </p:sp>
      <p:sp>
        <p:nvSpPr>
          <p:cNvPr id="7" name="Shape 5"/>
          <p:cNvSpPr/>
          <p:nvPr/>
        </p:nvSpPr>
        <p:spPr>
          <a:xfrm>
            <a:off x="292608" y="1536192"/>
            <a:ext cx="4645152" cy="512064"/>
          </a:xfrm>
          <a:prstGeom prst="rect">
            <a:avLst/>
          </a:prstGeom>
          <a:solidFill>
            <a:srgbClr val="E8F1FA"/>
          </a:solidFill>
          <a:ln w="12700">
            <a:solidFill>
              <a:srgbClr val="CBD8E4"/>
            </a:solidFill>
            <a:prstDash val="solid"/>
          </a:ln>
        </p:spPr>
        <p:txBody>
          <a:bodyPr/>
          <a:lstStyle/>
          <a:p>
            <a:endParaRPr lang="en-IN"/>
          </a:p>
        </p:txBody>
      </p:sp>
      <p:sp>
        <p:nvSpPr>
          <p:cNvPr id="8" name="Shape 6"/>
          <p:cNvSpPr/>
          <p:nvPr/>
        </p:nvSpPr>
        <p:spPr>
          <a:xfrm>
            <a:off x="292608" y="1536192"/>
            <a:ext cx="82296" cy="512064"/>
          </a:xfrm>
          <a:prstGeom prst="rect">
            <a:avLst/>
          </a:prstGeom>
          <a:solidFill>
            <a:srgbClr val="1A6FBF"/>
          </a:solidFill>
          <a:ln w="12700">
            <a:solidFill>
              <a:srgbClr val="1A6FBF"/>
            </a:solidFill>
            <a:prstDash val="solid"/>
          </a:ln>
        </p:spPr>
        <p:txBody>
          <a:bodyPr/>
          <a:lstStyle/>
          <a:p>
            <a:endParaRPr lang="en-IN"/>
          </a:p>
        </p:txBody>
      </p:sp>
      <p:sp>
        <p:nvSpPr>
          <p:cNvPr id="9" name="Text 7"/>
          <p:cNvSpPr/>
          <p:nvPr/>
        </p:nvSpPr>
        <p:spPr>
          <a:xfrm>
            <a:off x="457200" y="1572768"/>
            <a:ext cx="4572000" cy="219456"/>
          </a:xfrm>
          <a:prstGeom prst="rect">
            <a:avLst/>
          </a:prstGeom>
          <a:noFill/>
          <a:ln/>
        </p:spPr>
        <p:txBody>
          <a:bodyPr wrap="square"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Centralized Dashboard</a:t>
            </a:r>
            <a:endParaRPr lang="en-US" sz="1150" dirty="0"/>
          </a:p>
        </p:txBody>
      </p:sp>
      <p:sp>
        <p:nvSpPr>
          <p:cNvPr id="10" name="Text 8"/>
          <p:cNvSpPr/>
          <p:nvPr/>
        </p:nvSpPr>
        <p:spPr>
          <a:xfrm>
            <a:off x="457200" y="1792224"/>
            <a:ext cx="4480560" cy="219456"/>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Real-time KPIs — 680+ items, low stock, expiring soon, $120M+ inventory value at a glance</a:t>
            </a:r>
            <a:endParaRPr lang="en-US" sz="1000" dirty="0"/>
          </a:p>
        </p:txBody>
      </p:sp>
      <p:sp>
        <p:nvSpPr>
          <p:cNvPr id="11" name="Shape 9"/>
          <p:cNvSpPr/>
          <p:nvPr/>
        </p:nvSpPr>
        <p:spPr>
          <a:xfrm>
            <a:off x="292608" y="2121408"/>
            <a:ext cx="4645152" cy="512064"/>
          </a:xfrm>
          <a:prstGeom prst="rect">
            <a:avLst/>
          </a:prstGeom>
          <a:solidFill>
            <a:srgbClr val="FFFFFF"/>
          </a:solidFill>
          <a:ln w="12700">
            <a:solidFill>
              <a:srgbClr val="CBD8E4"/>
            </a:solidFill>
            <a:prstDash val="solid"/>
          </a:ln>
        </p:spPr>
        <p:txBody>
          <a:bodyPr/>
          <a:lstStyle/>
          <a:p>
            <a:endParaRPr lang="en-IN"/>
          </a:p>
        </p:txBody>
      </p:sp>
      <p:sp>
        <p:nvSpPr>
          <p:cNvPr id="12" name="Shape 10"/>
          <p:cNvSpPr/>
          <p:nvPr/>
        </p:nvSpPr>
        <p:spPr>
          <a:xfrm>
            <a:off x="292608" y="2121408"/>
            <a:ext cx="82296" cy="512064"/>
          </a:xfrm>
          <a:prstGeom prst="rect">
            <a:avLst/>
          </a:prstGeom>
          <a:solidFill>
            <a:srgbClr val="E65100"/>
          </a:solidFill>
          <a:ln w="12700">
            <a:solidFill>
              <a:srgbClr val="E65100"/>
            </a:solidFill>
            <a:prstDash val="solid"/>
          </a:ln>
        </p:spPr>
        <p:txBody>
          <a:bodyPr/>
          <a:lstStyle/>
          <a:p>
            <a:endParaRPr lang="en-IN"/>
          </a:p>
        </p:txBody>
      </p:sp>
      <p:sp>
        <p:nvSpPr>
          <p:cNvPr id="13" name="Text 11"/>
          <p:cNvSpPr/>
          <p:nvPr/>
        </p:nvSpPr>
        <p:spPr>
          <a:xfrm>
            <a:off x="457200" y="2157984"/>
            <a:ext cx="4572000" cy="219456"/>
          </a:xfrm>
          <a:prstGeom prst="rect">
            <a:avLst/>
          </a:prstGeom>
          <a:noFill/>
          <a:ln/>
        </p:spPr>
        <p:txBody>
          <a:bodyPr wrap="square"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Smart Alert System</a:t>
            </a:r>
            <a:endParaRPr lang="en-US" sz="1150" dirty="0"/>
          </a:p>
        </p:txBody>
      </p:sp>
      <p:sp>
        <p:nvSpPr>
          <p:cNvPr id="14" name="Text 12"/>
          <p:cNvSpPr/>
          <p:nvPr/>
        </p:nvSpPr>
        <p:spPr>
          <a:xfrm>
            <a:off x="457200" y="2377440"/>
            <a:ext cx="4480560" cy="219456"/>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Severity-graded alerts (Critical/High/Medium/Low) with item name, qty, reorder level, expiry date</a:t>
            </a:r>
            <a:endParaRPr lang="en-US" sz="1000" dirty="0"/>
          </a:p>
        </p:txBody>
      </p:sp>
      <p:sp>
        <p:nvSpPr>
          <p:cNvPr id="15" name="Shape 13"/>
          <p:cNvSpPr/>
          <p:nvPr/>
        </p:nvSpPr>
        <p:spPr>
          <a:xfrm>
            <a:off x="292608" y="2706624"/>
            <a:ext cx="4645152" cy="512064"/>
          </a:xfrm>
          <a:prstGeom prst="rect">
            <a:avLst/>
          </a:prstGeom>
          <a:solidFill>
            <a:srgbClr val="E8F1FA"/>
          </a:solidFill>
          <a:ln w="12700">
            <a:solidFill>
              <a:srgbClr val="CBD8E4"/>
            </a:solidFill>
            <a:prstDash val="solid"/>
          </a:ln>
        </p:spPr>
        <p:txBody>
          <a:bodyPr/>
          <a:lstStyle/>
          <a:p>
            <a:endParaRPr lang="en-IN"/>
          </a:p>
        </p:txBody>
      </p:sp>
      <p:sp>
        <p:nvSpPr>
          <p:cNvPr id="16" name="Shape 14"/>
          <p:cNvSpPr/>
          <p:nvPr/>
        </p:nvSpPr>
        <p:spPr>
          <a:xfrm>
            <a:off x="292608" y="2706624"/>
            <a:ext cx="82296" cy="512064"/>
          </a:xfrm>
          <a:prstGeom prst="rect">
            <a:avLst/>
          </a:prstGeom>
          <a:solidFill>
            <a:srgbClr val="00796B"/>
          </a:solidFill>
          <a:ln w="12700">
            <a:solidFill>
              <a:srgbClr val="00796B"/>
            </a:solidFill>
            <a:prstDash val="solid"/>
          </a:ln>
        </p:spPr>
        <p:txBody>
          <a:bodyPr/>
          <a:lstStyle/>
          <a:p>
            <a:endParaRPr lang="en-IN"/>
          </a:p>
        </p:txBody>
      </p:sp>
      <p:sp>
        <p:nvSpPr>
          <p:cNvPr id="17" name="Text 15"/>
          <p:cNvSpPr/>
          <p:nvPr/>
        </p:nvSpPr>
        <p:spPr>
          <a:xfrm>
            <a:off x="457200" y="2743200"/>
            <a:ext cx="4572000" cy="219456"/>
          </a:xfrm>
          <a:prstGeom prst="rect">
            <a:avLst/>
          </a:prstGeom>
          <a:noFill/>
          <a:ln/>
        </p:spPr>
        <p:txBody>
          <a:bodyPr wrap="square"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ML Prediction Layer</a:t>
            </a:r>
            <a:endParaRPr lang="en-US" sz="1150" dirty="0"/>
          </a:p>
        </p:txBody>
      </p:sp>
      <p:sp>
        <p:nvSpPr>
          <p:cNvPr id="18" name="Text 16"/>
          <p:cNvSpPr/>
          <p:nvPr/>
        </p:nvSpPr>
        <p:spPr>
          <a:xfrm>
            <a:off x="457200" y="2962656"/>
            <a:ext cx="4480560" cy="219456"/>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14-day demand forecasts + stockout risk + expiry risk — served to UI as FastAPI REST endpoints</a:t>
            </a:r>
            <a:endParaRPr lang="en-US" sz="1000" dirty="0"/>
          </a:p>
        </p:txBody>
      </p:sp>
      <p:sp>
        <p:nvSpPr>
          <p:cNvPr id="19" name="Shape 17"/>
          <p:cNvSpPr/>
          <p:nvPr/>
        </p:nvSpPr>
        <p:spPr>
          <a:xfrm>
            <a:off x="292608" y="3291840"/>
            <a:ext cx="4645152" cy="512064"/>
          </a:xfrm>
          <a:prstGeom prst="rect">
            <a:avLst/>
          </a:prstGeom>
          <a:solidFill>
            <a:srgbClr val="FFFFFF"/>
          </a:solidFill>
          <a:ln w="12700">
            <a:solidFill>
              <a:srgbClr val="CBD8E4"/>
            </a:solidFill>
            <a:prstDash val="solid"/>
          </a:ln>
        </p:spPr>
        <p:txBody>
          <a:bodyPr/>
          <a:lstStyle/>
          <a:p>
            <a:endParaRPr lang="en-IN"/>
          </a:p>
        </p:txBody>
      </p:sp>
      <p:sp>
        <p:nvSpPr>
          <p:cNvPr id="20" name="Shape 18"/>
          <p:cNvSpPr/>
          <p:nvPr/>
        </p:nvSpPr>
        <p:spPr>
          <a:xfrm>
            <a:off x="292608" y="3291840"/>
            <a:ext cx="82296" cy="512064"/>
          </a:xfrm>
          <a:prstGeom prst="rect">
            <a:avLst/>
          </a:prstGeom>
          <a:solidFill>
            <a:srgbClr val="1A6FBF"/>
          </a:solidFill>
          <a:ln w="12700">
            <a:solidFill>
              <a:srgbClr val="1A6FBF"/>
            </a:solidFill>
            <a:prstDash val="solid"/>
          </a:ln>
        </p:spPr>
        <p:txBody>
          <a:bodyPr/>
          <a:lstStyle/>
          <a:p>
            <a:endParaRPr lang="en-IN"/>
          </a:p>
        </p:txBody>
      </p:sp>
      <p:sp>
        <p:nvSpPr>
          <p:cNvPr id="21" name="Text 19"/>
          <p:cNvSpPr/>
          <p:nvPr/>
        </p:nvSpPr>
        <p:spPr>
          <a:xfrm>
            <a:off x="457200" y="3328416"/>
            <a:ext cx="4572000" cy="219456"/>
          </a:xfrm>
          <a:prstGeom prst="rect">
            <a:avLst/>
          </a:prstGeom>
          <a:noFill/>
          <a:ln/>
        </p:spPr>
        <p:txBody>
          <a:bodyPr wrap="square"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AI Agent Automation</a:t>
            </a:r>
            <a:endParaRPr lang="en-US" sz="1150" dirty="0"/>
          </a:p>
        </p:txBody>
      </p:sp>
      <p:sp>
        <p:nvSpPr>
          <p:cNvPr id="22" name="Text 20"/>
          <p:cNvSpPr/>
          <p:nvPr/>
        </p:nvSpPr>
        <p:spPr>
          <a:xfrm>
            <a:off x="457200" y="3547872"/>
            <a:ext cx="4480560" cy="219456"/>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CrewAI + local Ollama3 (llama3) auto-creates POs, scores suppliers, tracks deliveries end-to-end</a:t>
            </a:r>
            <a:endParaRPr lang="en-US" sz="1000" dirty="0"/>
          </a:p>
        </p:txBody>
      </p:sp>
      <p:sp>
        <p:nvSpPr>
          <p:cNvPr id="23" name="Shape 21"/>
          <p:cNvSpPr/>
          <p:nvPr/>
        </p:nvSpPr>
        <p:spPr>
          <a:xfrm>
            <a:off x="292608" y="3877056"/>
            <a:ext cx="4645152" cy="512064"/>
          </a:xfrm>
          <a:prstGeom prst="rect">
            <a:avLst/>
          </a:prstGeom>
          <a:solidFill>
            <a:srgbClr val="E8F1FA"/>
          </a:solidFill>
          <a:ln w="12700">
            <a:solidFill>
              <a:srgbClr val="CBD8E4"/>
            </a:solidFill>
            <a:prstDash val="solid"/>
          </a:ln>
        </p:spPr>
        <p:txBody>
          <a:bodyPr/>
          <a:lstStyle/>
          <a:p>
            <a:endParaRPr lang="en-IN"/>
          </a:p>
        </p:txBody>
      </p:sp>
      <p:sp>
        <p:nvSpPr>
          <p:cNvPr id="24" name="Shape 22"/>
          <p:cNvSpPr/>
          <p:nvPr/>
        </p:nvSpPr>
        <p:spPr>
          <a:xfrm>
            <a:off x="292608" y="3877056"/>
            <a:ext cx="82296" cy="512064"/>
          </a:xfrm>
          <a:prstGeom prst="rect">
            <a:avLst/>
          </a:prstGeom>
          <a:solidFill>
            <a:srgbClr val="00796B"/>
          </a:solidFill>
          <a:ln w="12700">
            <a:solidFill>
              <a:srgbClr val="00796B"/>
            </a:solidFill>
            <a:prstDash val="solid"/>
          </a:ln>
        </p:spPr>
        <p:txBody>
          <a:bodyPr/>
          <a:lstStyle/>
          <a:p>
            <a:endParaRPr lang="en-IN"/>
          </a:p>
        </p:txBody>
      </p:sp>
      <p:sp>
        <p:nvSpPr>
          <p:cNvPr id="25" name="Text 23"/>
          <p:cNvSpPr/>
          <p:nvPr/>
        </p:nvSpPr>
        <p:spPr>
          <a:xfrm>
            <a:off x="457200" y="3913632"/>
            <a:ext cx="4572000" cy="219456"/>
          </a:xfrm>
          <a:prstGeom prst="rect">
            <a:avLst/>
          </a:prstGeom>
          <a:noFill/>
          <a:ln/>
        </p:spPr>
        <p:txBody>
          <a:bodyPr wrap="square" rtlCol="0" anchor="ctr"/>
          <a:lstStyle/>
          <a:p>
            <a:pPr marL="0" indent="0">
              <a:buNone/>
            </a:pPr>
            <a:r>
              <a:rPr lang="en-US" sz="1150" b="1" dirty="0">
                <a:solidFill>
                  <a:srgbClr val="0D1B2A"/>
                </a:solidFill>
                <a:latin typeface="Calibri" pitchFamily="34" charset="0"/>
                <a:ea typeface="Calibri" pitchFamily="34" charset="-122"/>
                <a:cs typeface="Calibri" pitchFamily="34" charset="-120"/>
              </a:rPr>
              <a:t>SHAP Explainability</a:t>
            </a:r>
            <a:endParaRPr lang="en-US" sz="1150" dirty="0"/>
          </a:p>
        </p:txBody>
      </p:sp>
      <p:sp>
        <p:nvSpPr>
          <p:cNvPr id="26" name="Text 24"/>
          <p:cNvSpPr/>
          <p:nvPr/>
        </p:nvSpPr>
        <p:spPr>
          <a:xfrm>
            <a:off x="457200" y="4133088"/>
            <a:ext cx="4480560" cy="219456"/>
          </a:xfrm>
          <a:prstGeom prst="rect">
            <a:avLst/>
          </a:prstGeom>
          <a:noFill/>
          <a:ln/>
        </p:spPr>
        <p:txBody>
          <a:bodyPr wrap="square" rtlCol="0" anchor="ctr"/>
          <a:lstStyle/>
          <a:p>
            <a:pPr marL="0" indent="0">
              <a:buNone/>
            </a:pPr>
            <a:r>
              <a:rPr lang="en-US" sz="1000" dirty="0">
                <a:solidFill>
                  <a:srgbClr val="607D8B"/>
                </a:solidFill>
                <a:latin typeface="Calibri" pitchFamily="34" charset="0"/>
                <a:ea typeface="Calibri" pitchFamily="34" charset="-122"/>
                <a:cs typeface="Calibri" pitchFamily="34" charset="-120"/>
              </a:rPr>
              <a:t>Every prediction backed by SHAP + LIME explanations — visible to pharmacists and clinicians in UI</a:t>
            </a:r>
            <a:endParaRPr lang="en-US" sz="1000" dirty="0"/>
          </a:p>
        </p:txBody>
      </p:sp>
      <p:sp>
        <p:nvSpPr>
          <p:cNvPr id="27" name="Text 25"/>
          <p:cNvSpPr/>
          <p:nvPr/>
        </p:nvSpPr>
        <p:spPr>
          <a:xfrm>
            <a:off x="5230368" y="786384"/>
            <a:ext cx="3611880" cy="329184"/>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By the Numbers</a:t>
            </a:r>
            <a:endParaRPr lang="en-US" sz="1300" dirty="0"/>
          </a:p>
        </p:txBody>
      </p:sp>
      <p:sp>
        <p:nvSpPr>
          <p:cNvPr id="28" name="Shape 26"/>
          <p:cNvSpPr/>
          <p:nvPr/>
        </p:nvSpPr>
        <p:spPr>
          <a:xfrm>
            <a:off x="5230368" y="1188720"/>
            <a:ext cx="1719072" cy="1225296"/>
          </a:xfrm>
          <a:prstGeom prst="rect">
            <a:avLst/>
          </a:prstGeom>
          <a:solidFill>
            <a:srgbClr val="E8F1FA"/>
          </a:solidFill>
          <a:ln w="12700">
            <a:solidFill>
              <a:srgbClr val="E8F1FA"/>
            </a:solidFill>
            <a:prstDash val="solid"/>
          </a:ln>
          <a:effectLst>
            <a:outerShdw blurRad="127000" dist="38100" dir="8100000" algn="bl" rotWithShape="0">
              <a:srgbClr val="000000">
                <a:alpha val="9000"/>
              </a:srgbClr>
            </a:outerShdw>
          </a:effectLst>
        </p:spPr>
        <p:txBody>
          <a:bodyPr/>
          <a:lstStyle/>
          <a:p>
            <a:endParaRPr lang="en-IN"/>
          </a:p>
        </p:txBody>
      </p:sp>
      <p:sp>
        <p:nvSpPr>
          <p:cNvPr id="29" name="Text 27"/>
          <p:cNvSpPr/>
          <p:nvPr/>
        </p:nvSpPr>
        <p:spPr>
          <a:xfrm>
            <a:off x="5230368" y="1261872"/>
            <a:ext cx="1719072" cy="637154"/>
          </a:xfrm>
          <a:prstGeom prst="rect">
            <a:avLst/>
          </a:prstGeom>
          <a:noFill/>
          <a:ln/>
        </p:spPr>
        <p:txBody>
          <a:bodyPr wrap="square" rtlCol="0" anchor="b"/>
          <a:lstStyle/>
          <a:p>
            <a:pPr marL="0" indent="0" algn="ctr">
              <a:buNone/>
            </a:pPr>
            <a:r>
              <a:rPr lang="en-US" sz="2800" b="1" dirty="0">
                <a:solidFill>
                  <a:srgbClr val="1A6FBF"/>
                </a:solidFill>
                <a:latin typeface="Calibri" pitchFamily="34" charset="0"/>
                <a:ea typeface="Calibri" pitchFamily="34" charset="-122"/>
                <a:cs typeface="Calibri" pitchFamily="34" charset="-120"/>
              </a:rPr>
              <a:t>680+</a:t>
            </a:r>
            <a:endParaRPr lang="en-US" sz="2800" dirty="0"/>
          </a:p>
        </p:txBody>
      </p:sp>
      <p:sp>
        <p:nvSpPr>
          <p:cNvPr id="30" name="Text 28"/>
          <p:cNvSpPr/>
          <p:nvPr/>
        </p:nvSpPr>
        <p:spPr>
          <a:xfrm>
            <a:off x="5303520" y="1874886"/>
            <a:ext cx="1572768" cy="490118"/>
          </a:xfrm>
          <a:prstGeom prst="rect">
            <a:avLst/>
          </a:prstGeom>
          <a:noFill/>
          <a:ln/>
        </p:spPr>
        <p:txBody>
          <a:bodyPr wrap="square" rtlCol="0" anchor="ctr"/>
          <a:lstStyle/>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Items monitored</a:t>
            </a:r>
            <a:endParaRPr lang="en-US" sz="1050" dirty="0"/>
          </a:p>
        </p:txBody>
      </p:sp>
      <p:sp>
        <p:nvSpPr>
          <p:cNvPr id="31" name="Shape 29"/>
          <p:cNvSpPr/>
          <p:nvPr/>
        </p:nvSpPr>
        <p:spPr>
          <a:xfrm>
            <a:off x="7059168" y="1188720"/>
            <a:ext cx="1719072" cy="1225296"/>
          </a:xfrm>
          <a:prstGeom prst="rect">
            <a:avLst/>
          </a:prstGeom>
          <a:solidFill>
            <a:srgbClr val="E0F2F1"/>
          </a:solidFill>
          <a:ln w="12700">
            <a:solidFill>
              <a:srgbClr val="E0F2F1"/>
            </a:solidFill>
            <a:prstDash val="solid"/>
          </a:ln>
          <a:effectLst>
            <a:outerShdw blurRad="127000" dist="38100" dir="8100000" algn="bl" rotWithShape="0">
              <a:srgbClr val="000000">
                <a:alpha val="9000"/>
              </a:srgbClr>
            </a:outerShdw>
          </a:effectLst>
        </p:spPr>
        <p:txBody>
          <a:bodyPr/>
          <a:lstStyle/>
          <a:p>
            <a:endParaRPr lang="en-IN"/>
          </a:p>
        </p:txBody>
      </p:sp>
      <p:sp>
        <p:nvSpPr>
          <p:cNvPr id="32" name="Text 30"/>
          <p:cNvSpPr/>
          <p:nvPr/>
        </p:nvSpPr>
        <p:spPr>
          <a:xfrm>
            <a:off x="7059168" y="1261872"/>
            <a:ext cx="1719072" cy="637154"/>
          </a:xfrm>
          <a:prstGeom prst="rect">
            <a:avLst/>
          </a:prstGeom>
          <a:noFill/>
          <a:ln/>
        </p:spPr>
        <p:txBody>
          <a:bodyPr wrap="square" rtlCol="0" anchor="b"/>
          <a:lstStyle/>
          <a:p>
            <a:pPr marL="0" indent="0" algn="ctr">
              <a:buNone/>
            </a:pPr>
            <a:r>
              <a:rPr lang="en-US" sz="2800" b="1" dirty="0">
                <a:solidFill>
                  <a:srgbClr val="00796B"/>
                </a:solidFill>
                <a:latin typeface="Calibri" pitchFamily="34" charset="0"/>
                <a:ea typeface="Calibri" pitchFamily="34" charset="-122"/>
                <a:cs typeface="Calibri" pitchFamily="34" charset="-120"/>
              </a:rPr>
              <a:t>7.3M</a:t>
            </a:r>
            <a:endParaRPr lang="en-US" sz="2800" dirty="0"/>
          </a:p>
        </p:txBody>
      </p:sp>
      <p:sp>
        <p:nvSpPr>
          <p:cNvPr id="33" name="Text 31"/>
          <p:cNvSpPr/>
          <p:nvPr/>
        </p:nvSpPr>
        <p:spPr>
          <a:xfrm>
            <a:off x="7132320" y="1874886"/>
            <a:ext cx="1572768" cy="490118"/>
          </a:xfrm>
          <a:prstGeom prst="rect">
            <a:avLst/>
          </a:prstGeom>
          <a:noFill/>
          <a:ln/>
        </p:spPr>
        <p:txBody>
          <a:bodyPr wrap="square" rtlCol="0" anchor="ctr"/>
          <a:lstStyle/>
          <a:p>
            <a:pPr marL="0" indent="0" algn="ctr">
              <a:lnSpc>
                <a:spcPct val="120000"/>
              </a:lnSpc>
              <a:buNone/>
            </a:pPr>
            <a:r>
              <a:rPr lang="en-US" sz="1050" dirty="0">
                <a:solidFill>
                  <a:srgbClr val="00796B"/>
                </a:solidFill>
                <a:latin typeface="Calibri" pitchFamily="34" charset="0"/>
                <a:ea typeface="Calibri" pitchFamily="34" charset="-122"/>
                <a:cs typeface="Calibri" pitchFamily="34" charset="-120"/>
              </a:rPr>
              <a:t>Records in dataset</a:t>
            </a:r>
            <a:endParaRPr lang="en-US" sz="1050" dirty="0"/>
          </a:p>
        </p:txBody>
      </p:sp>
      <p:sp>
        <p:nvSpPr>
          <p:cNvPr id="34" name="Shape 32"/>
          <p:cNvSpPr/>
          <p:nvPr/>
        </p:nvSpPr>
        <p:spPr>
          <a:xfrm>
            <a:off x="5230368" y="2578608"/>
            <a:ext cx="1719072" cy="1225296"/>
          </a:xfrm>
          <a:prstGeom prst="rect">
            <a:avLst/>
          </a:prstGeom>
          <a:solidFill>
            <a:srgbClr val="FFF3E0"/>
          </a:solidFill>
          <a:ln w="12700">
            <a:solidFill>
              <a:srgbClr val="FFF3E0"/>
            </a:solidFill>
            <a:prstDash val="solid"/>
          </a:ln>
          <a:effectLst>
            <a:outerShdw blurRad="127000" dist="38100" dir="8100000" algn="bl" rotWithShape="0">
              <a:srgbClr val="000000">
                <a:alpha val="9000"/>
              </a:srgbClr>
            </a:outerShdw>
          </a:effectLst>
        </p:spPr>
        <p:txBody>
          <a:bodyPr/>
          <a:lstStyle/>
          <a:p>
            <a:endParaRPr lang="en-IN"/>
          </a:p>
        </p:txBody>
      </p:sp>
      <p:sp>
        <p:nvSpPr>
          <p:cNvPr id="35" name="Text 33"/>
          <p:cNvSpPr/>
          <p:nvPr/>
        </p:nvSpPr>
        <p:spPr>
          <a:xfrm>
            <a:off x="5230368" y="2651760"/>
            <a:ext cx="1719072" cy="637154"/>
          </a:xfrm>
          <a:prstGeom prst="rect">
            <a:avLst/>
          </a:prstGeom>
          <a:noFill/>
          <a:ln/>
        </p:spPr>
        <p:txBody>
          <a:bodyPr wrap="square" rtlCol="0" anchor="b"/>
          <a:lstStyle/>
          <a:p>
            <a:pPr marL="0" indent="0" algn="ctr">
              <a:buNone/>
            </a:pPr>
            <a:r>
              <a:rPr lang="en-US" sz="2800" b="1" dirty="0">
                <a:solidFill>
                  <a:srgbClr val="E65100"/>
                </a:solidFill>
                <a:latin typeface="Calibri" pitchFamily="34" charset="0"/>
                <a:ea typeface="Calibri" pitchFamily="34" charset="-122"/>
                <a:cs typeface="Calibri" pitchFamily="34" charset="-120"/>
              </a:rPr>
              <a:t>35+</a:t>
            </a:r>
            <a:endParaRPr lang="en-US" sz="2800" dirty="0"/>
          </a:p>
        </p:txBody>
      </p:sp>
      <p:sp>
        <p:nvSpPr>
          <p:cNvPr id="36" name="Text 34"/>
          <p:cNvSpPr/>
          <p:nvPr/>
        </p:nvSpPr>
        <p:spPr>
          <a:xfrm>
            <a:off x="5303520" y="3264774"/>
            <a:ext cx="1572768" cy="490118"/>
          </a:xfrm>
          <a:prstGeom prst="rect">
            <a:avLst/>
          </a:prstGeom>
          <a:noFill/>
          <a:ln/>
        </p:spPr>
        <p:txBody>
          <a:bodyPr wrap="square" rtlCol="0" anchor="ctr"/>
          <a:lstStyle/>
          <a:p>
            <a:pPr marL="0" indent="0" algn="ctr">
              <a:lnSpc>
                <a:spcPct val="120000"/>
              </a:lnSpc>
              <a:buNone/>
            </a:pPr>
            <a:r>
              <a:rPr lang="en-US" sz="1050" dirty="0">
                <a:solidFill>
                  <a:srgbClr val="E65100"/>
                </a:solidFill>
                <a:latin typeface="Calibri" pitchFamily="34" charset="0"/>
                <a:ea typeface="Calibri" pitchFamily="34" charset="-122"/>
                <a:cs typeface="Calibri" pitchFamily="34" charset="-120"/>
              </a:rPr>
              <a:t>REST API endpoints</a:t>
            </a:r>
            <a:endParaRPr lang="en-US" sz="1050" dirty="0"/>
          </a:p>
        </p:txBody>
      </p:sp>
      <p:sp>
        <p:nvSpPr>
          <p:cNvPr id="37" name="Shape 35"/>
          <p:cNvSpPr/>
          <p:nvPr/>
        </p:nvSpPr>
        <p:spPr>
          <a:xfrm>
            <a:off x="7059168" y="2578608"/>
            <a:ext cx="1719072" cy="1225296"/>
          </a:xfrm>
          <a:prstGeom prst="rect">
            <a:avLst/>
          </a:prstGeom>
          <a:solidFill>
            <a:srgbClr val="E8F1FA"/>
          </a:solidFill>
          <a:ln w="12700">
            <a:solidFill>
              <a:srgbClr val="E8F1FA"/>
            </a:solidFill>
            <a:prstDash val="solid"/>
          </a:ln>
          <a:effectLst>
            <a:outerShdw blurRad="127000" dist="38100" dir="8100000" algn="bl" rotWithShape="0">
              <a:srgbClr val="000000">
                <a:alpha val="9000"/>
              </a:srgbClr>
            </a:outerShdw>
          </a:effectLst>
        </p:spPr>
        <p:txBody>
          <a:bodyPr/>
          <a:lstStyle/>
          <a:p>
            <a:endParaRPr lang="en-IN"/>
          </a:p>
        </p:txBody>
      </p:sp>
      <p:sp>
        <p:nvSpPr>
          <p:cNvPr id="38" name="Text 36"/>
          <p:cNvSpPr/>
          <p:nvPr/>
        </p:nvSpPr>
        <p:spPr>
          <a:xfrm>
            <a:off x="7059168" y="2651760"/>
            <a:ext cx="1719072" cy="637154"/>
          </a:xfrm>
          <a:prstGeom prst="rect">
            <a:avLst/>
          </a:prstGeom>
          <a:noFill/>
          <a:ln/>
        </p:spPr>
        <p:txBody>
          <a:bodyPr wrap="square" rtlCol="0" anchor="b"/>
          <a:lstStyle/>
          <a:p>
            <a:pPr marL="0" indent="0" algn="ctr">
              <a:buNone/>
            </a:pPr>
            <a:r>
              <a:rPr lang="en-US" sz="2800" b="1" dirty="0">
                <a:solidFill>
                  <a:srgbClr val="1A6FBF"/>
                </a:solidFill>
                <a:latin typeface="Calibri" pitchFamily="34" charset="0"/>
                <a:ea typeface="Calibri" pitchFamily="34" charset="-122"/>
                <a:cs typeface="Calibri" pitchFamily="34" charset="-120"/>
              </a:rPr>
              <a:t>&lt;50ms</a:t>
            </a:r>
            <a:endParaRPr lang="en-US" sz="2800" dirty="0"/>
          </a:p>
        </p:txBody>
      </p:sp>
      <p:sp>
        <p:nvSpPr>
          <p:cNvPr id="39" name="Text 37"/>
          <p:cNvSpPr/>
          <p:nvPr/>
        </p:nvSpPr>
        <p:spPr>
          <a:xfrm>
            <a:off x="7132320" y="3264774"/>
            <a:ext cx="1572768" cy="490118"/>
          </a:xfrm>
          <a:prstGeom prst="rect">
            <a:avLst/>
          </a:prstGeom>
          <a:noFill/>
          <a:ln/>
        </p:spPr>
        <p:txBody>
          <a:bodyPr wrap="square" rtlCol="0" anchor="ctr"/>
          <a:lstStyle/>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Model inference p99</a:t>
            </a:r>
            <a:endParaRPr lang="en-US" sz="1050" dirty="0"/>
          </a:p>
        </p:txBody>
      </p:sp>
      <p:sp>
        <p:nvSpPr>
          <p:cNvPr id="40" name="Shape 38"/>
          <p:cNvSpPr/>
          <p:nvPr/>
        </p:nvSpPr>
        <p:spPr>
          <a:xfrm>
            <a:off x="5230368" y="4041648"/>
            <a:ext cx="3611880" cy="749808"/>
          </a:xfrm>
          <a:prstGeom prst="rect">
            <a:avLst/>
          </a:prstGeom>
          <a:solidFill>
            <a:srgbClr val="13294B"/>
          </a:solidFill>
          <a:ln w="12700">
            <a:solidFill>
              <a:srgbClr val="13294B"/>
            </a:solidFill>
            <a:prstDash val="solid"/>
          </a:ln>
        </p:spPr>
        <p:txBody>
          <a:bodyPr/>
          <a:lstStyle/>
          <a:p>
            <a:endParaRPr lang="en-IN"/>
          </a:p>
        </p:txBody>
      </p:sp>
      <p:sp>
        <p:nvSpPr>
          <p:cNvPr id="41" name="Text 39"/>
          <p:cNvSpPr/>
          <p:nvPr/>
        </p:nvSpPr>
        <p:spPr>
          <a:xfrm>
            <a:off x="5321808" y="4114800"/>
            <a:ext cx="342900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DB  →  FastAPI  →  ML Models  →  Agents  →  Next.js</a:t>
            </a:r>
            <a:endParaRPr lang="en-US" sz="1100" dirty="0"/>
          </a:p>
        </p:txBody>
      </p:sp>
      <p:sp>
        <p:nvSpPr>
          <p:cNvPr id="42" name="Text 40"/>
          <p:cNvSpPr/>
          <p:nvPr/>
        </p:nvSpPr>
        <p:spPr>
          <a:xfrm>
            <a:off x="5321808" y="4425696"/>
            <a:ext cx="3429000" cy="256032"/>
          </a:xfrm>
          <a:prstGeom prst="rect">
            <a:avLst/>
          </a:prstGeom>
          <a:noFill/>
          <a:ln/>
        </p:spPr>
        <p:txBody>
          <a:bodyPr wrap="square" rtlCol="0" anchor="ctr"/>
          <a:lstStyle/>
          <a:p>
            <a:pPr marL="0" indent="0" algn="ctr">
              <a:buNone/>
            </a:pPr>
            <a:r>
              <a:rPr lang="en-US" sz="950" i="1" dirty="0">
                <a:solidFill>
                  <a:srgbClr val="8AB4D4"/>
                </a:solidFill>
                <a:latin typeface="Calibri" pitchFamily="34" charset="0"/>
                <a:ea typeface="Calibri" pitchFamily="34" charset="-122"/>
                <a:cs typeface="Calibri" pitchFamily="34" charset="-120"/>
              </a:rPr>
              <a:t>Full-Stack Data Flow</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03</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System Architecture</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Full-stack design, folder structure &amp; Docker deployment</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System Architecture — Full-Stack Design &amp; Data Flow</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28600" y="777240"/>
            <a:ext cx="1554480" cy="1737360"/>
          </a:xfrm>
          <a:prstGeom prst="rect">
            <a:avLst/>
          </a:prstGeom>
          <a:solidFill>
            <a:srgbClr val="1A3A5C"/>
          </a:solidFill>
          <a:ln w="12700">
            <a:solidFill>
              <a:srgbClr val="1A3A5C"/>
            </a:solidFill>
            <a:prstDash val="solid"/>
          </a:ln>
          <a:effectLst>
            <a:outerShdw blurRad="127000" dist="38100" dir="8100000" algn="bl" rotWithShape="0">
              <a:srgbClr val="000000">
                <a:alpha val="9000"/>
              </a:srgbClr>
            </a:outerShdw>
          </a:effectLst>
        </p:spPr>
        <p:txBody>
          <a:bodyPr/>
          <a:lstStyle/>
          <a:p>
            <a:endParaRPr lang="en-IN"/>
          </a:p>
        </p:txBody>
      </p:sp>
      <p:sp>
        <p:nvSpPr>
          <p:cNvPr id="7" name="Text 5"/>
          <p:cNvSpPr/>
          <p:nvPr/>
        </p:nvSpPr>
        <p:spPr>
          <a:xfrm>
            <a:off x="228600" y="822960"/>
            <a:ext cx="1554480"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PostgreSQL 15</a:t>
            </a:r>
            <a:endParaRPr lang="en-US" sz="1100" dirty="0"/>
          </a:p>
        </p:txBody>
      </p:sp>
      <p:sp>
        <p:nvSpPr>
          <p:cNvPr id="8" name="Shape 6"/>
          <p:cNvSpPr/>
          <p:nvPr/>
        </p:nvSpPr>
        <p:spPr>
          <a:xfrm>
            <a:off x="411480" y="1207008"/>
            <a:ext cx="1188720" cy="36576"/>
          </a:xfrm>
          <a:prstGeom prst="rect">
            <a:avLst/>
          </a:prstGeom>
          <a:solidFill>
            <a:srgbClr val="FFFFFF"/>
          </a:solidFill>
          <a:ln w="12700">
            <a:solidFill>
              <a:srgbClr val="FFFFFF"/>
            </a:solidFill>
            <a:prstDash val="solid"/>
          </a:ln>
        </p:spPr>
        <p:txBody>
          <a:bodyPr/>
          <a:lstStyle/>
          <a:p>
            <a:endParaRPr lang="en-IN"/>
          </a:p>
        </p:txBody>
      </p:sp>
      <p:sp>
        <p:nvSpPr>
          <p:cNvPr id="9" name="Text 7"/>
          <p:cNvSpPr/>
          <p:nvPr/>
        </p:nvSpPr>
        <p:spPr>
          <a:xfrm>
            <a:off x="320040" y="1298448"/>
            <a:ext cx="1371600" cy="1143000"/>
          </a:xfrm>
          <a:prstGeom prst="rect">
            <a:avLst/>
          </a:prstGeom>
          <a:noFill/>
          <a:ln/>
        </p:spPr>
        <p:txBody>
          <a:bodyPr wrap="square" rtlCol="0" anchor="ctr"/>
          <a:lstStyle/>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14-table schema</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~7.3M records</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SQLite dev fallback</a:t>
            </a:r>
            <a:endParaRPr lang="en-US" sz="950" dirty="0"/>
          </a:p>
        </p:txBody>
      </p:sp>
      <p:sp>
        <p:nvSpPr>
          <p:cNvPr id="10" name="Text 8"/>
          <p:cNvSpPr/>
          <p:nvPr/>
        </p:nvSpPr>
        <p:spPr>
          <a:xfrm>
            <a:off x="1691640" y="1463040"/>
            <a:ext cx="365760" cy="402336"/>
          </a:xfrm>
          <a:prstGeom prst="rect">
            <a:avLst/>
          </a:prstGeom>
          <a:noFill/>
          <a:ln/>
        </p:spPr>
        <p:txBody>
          <a:bodyPr wrap="square" rtlCol="0" anchor="ctr"/>
          <a:lstStyle/>
          <a:p>
            <a:pPr marL="0" indent="0" algn="ctr">
              <a:buNone/>
            </a:pPr>
            <a:r>
              <a:rPr lang="en-US" sz="1800" b="1" dirty="0">
                <a:solidFill>
                  <a:srgbClr val="607D8B"/>
                </a:solidFill>
                <a:latin typeface="Calibri" pitchFamily="34" charset="0"/>
                <a:ea typeface="Calibri" pitchFamily="34" charset="-122"/>
                <a:cs typeface="Calibri" pitchFamily="34" charset="-120"/>
              </a:rPr>
              <a:t>-&gt;</a:t>
            </a:r>
            <a:endParaRPr lang="en-US" sz="1800" dirty="0"/>
          </a:p>
        </p:txBody>
      </p:sp>
      <p:sp>
        <p:nvSpPr>
          <p:cNvPr id="11" name="Shape 9"/>
          <p:cNvSpPr/>
          <p:nvPr/>
        </p:nvSpPr>
        <p:spPr>
          <a:xfrm>
            <a:off x="1965960" y="777240"/>
            <a:ext cx="1554480" cy="1737360"/>
          </a:xfrm>
          <a:prstGeom prst="rect">
            <a:avLst/>
          </a:prstGeom>
          <a:solidFill>
            <a:srgbClr val="1A6FBF"/>
          </a:solidFill>
          <a:ln w="12700">
            <a:solidFill>
              <a:srgbClr val="1A6FBF"/>
            </a:solidFill>
            <a:prstDash val="solid"/>
          </a:ln>
          <a:effectLst>
            <a:outerShdw blurRad="127000" dist="38100" dir="8100000" algn="bl" rotWithShape="0">
              <a:srgbClr val="000000">
                <a:alpha val="9000"/>
              </a:srgbClr>
            </a:outerShdw>
          </a:effectLst>
        </p:spPr>
        <p:txBody>
          <a:bodyPr/>
          <a:lstStyle/>
          <a:p>
            <a:endParaRPr lang="en-IN"/>
          </a:p>
        </p:txBody>
      </p:sp>
      <p:sp>
        <p:nvSpPr>
          <p:cNvPr id="12" name="Text 10"/>
          <p:cNvSpPr/>
          <p:nvPr/>
        </p:nvSpPr>
        <p:spPr>
          <a:xfrm>
            <a:off x="1965960" y="822960"/>
            <a:ext cx="1554480"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FastAPI Backend</a:t>
            </a:r>
            <a:endParaRPr lang="en-US" sz="1100" dirty="0"/>
          </a:p>
        </p:txBody>
      </p:sp>
      <p:sp>
        <p:nvSpPr>
          <p:cNvPr id="13" name="Shape 11"/>
          <p:cNvSpPr/>
          <p:nvPr/>
        </p:nvSpPr>
        <p:spPr>
          <a:xfrm>
            <a:off x="2148840" y="1207008"/>
            <a:ext cx="1188720" cy="36576"/>
          </a:xfrm>
          <a:prstGeom prst="rect">
            <a:avLst/>
          </a:prstGeom>
          <a:solidFill>
            <a:srgbClr val="FFFFFF"/>
          </a:solidFill>
          <a:ln w="12700">
            <a:solidFill>
              <a:srgbClr val="FFFFFF"/>
            </a:solidFill>
            <a:prstDash val="solid"/>
          </a:ln>
        </p:spPr>
        <p:txBody>
          <a:bodyPr/>
          <a:lstStyle/>
          <a:p>
            <a:endParaRPr lang="en-IN"/>
          </a:p>
        </p:txBody>
      </p:sp>
      <p:sp>
        <p:nvSpPr>
          <p:cNvPr id="14" name="Text 12"/>
          <p:cNvSpPr/>
          <p:nvPr/>
        </p:nvSpPr>
        <p:spPr>
          <a:xfrm>
            <a:off x="2057400" y="1298448"/>
            <a:ext cx="1371600" cy="1143000"/>
          </a:xfrm>
          <a:prstGeom prst="rect">
            <a:avLst/>
          </a:prstGeom>
          <a:noFill/>
          <a:ln/>
        </p:spPr>
        <p:txBody>
          <a:bodyPr wrap="square" rtlCol="0" anchor="ctr"/>
          <a:lstStyle/>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SQLAlchemy ORM</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Lifespan events</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Auto seed &amp; train on startup</a:t>
            </a:r>
            <a:endParaRPr lang="en-US" sz="950" dirty="0"/>
          </a:p>
        </p:txBody>
      </p:sp>
      <p:sp>
        <p:nvSpPr>
          <p:cNvPr id="15" name="Text 13"/>
          <p:cNvSpPr/>
          <p:nvPr/>
        </p:nvSpPr>
        <p:spPr>
          <a:xfrm>
            <a:off x="3429000" y="1463040"/>
            <a:ext cx="365760" cy="402336"/>
          </a:xfrm>
          <a:prstGeom prst="rect">
            <a:avLst/>
          </a:prstGeom>
          <a:noFill/>
          <a:ln/>
        </p:spPr>
        <p:txBody>
          <a:bodyPr wrap="square" rtlCol="0" anchor="ctr"/>
          <a:lstStyle/>
          <a:p>
            <a:pPr marL="0" indent="0" algn="ctr">
              <a:buNone/>
            </a:pPr>
            <a:r>
              <a:rPr lang="en-US" sz="1800" b="1" dirty="0">
                <a:solidFill>
                  <a:srgbClr val="607D8B"/>
                </a:solidFill>
                <a:latin typeface="Calibri" pitchFamily="34" charset="0"/>
                <a:ea typeface="Calibri" pitchFamily="34" charset="-122"/>
                <a:cs typeface="Calibri" pitchFamily="34" charset="-120"/>
              </a:rPr>
              <a:t>-&gt;</a:t>
            </a:r>
            <a:endParaRPr lang="en-US" sz="1800" dirty="0"/>
          </a:p>
        </p:txBody>
      </p:sp>
      <p:sp>
        <p:nvSpPr>
          <p:cNvPr id="16" name="Shape 14"/>
          <p:cNvSpPr/>
          <p:nvPr/>
        </p:nvSpPr>
        <p:spPr>
          <a:xfrm>
            <a:off x="3703320" y="777240"/>
            <a:ext cx="1554480" cy="1737360"/>
          </a:xfrm>
          <a:prstGeom prst="rect">
            <a:avLst/>
          </a:prstGeom>
          <a:solidFill>
            <a:srgbClr val="00796B"/>
          </a:solidFill>
          <a:ln w="12700">
            <a:solidFill>
              <a:srgbClr val="00796B"/>
            </a:solidFill>
            <a:prstDash val="solid"/>
          </a:ln>
          <a:effectLst>
            <a:outerShdw blurRad="127000" dist="38100" dir="8100000" algn="bl" rotWithShape="0">
              <a:srgbClr val="000000">
                <a:alpha val="9000"/>
              </a:srgbClr>
            </a:outerShdw>
          </a:effectLst>
        </p:spPr>
        <p:txBody>
          <a:bodyPr/>
          <a:lstStyle/>
          <a:p>
            <a:endParaRPr lang="en-IN"/>
          </a:p>
        </p:txBody>
      </p:sp>
      <p:sp>
        <p:nvSpPr>
          <p:cNvPr id="17" name="Text 15"/>
          <p:cNvSpPr/>
          <p:nvPr/>
        </p:nvSpPr>
        <p:spPr>
          <a:xfrm>
            <a:off x="3703320" y="822960"/>
            <a:ext cx="1554480"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ML Models</a:t>
            </a:r>
            <a:endParaRPr lang="en-US" sz="1100" dirty="0"/>
          </a:p>
        </p:txBody>
      </p:sp>
      <p:sp>
        <p:nvSpPr>
          <p:cNvPr id="18" name="Shape 16"/>
          <p:cNvSpPr/>
          <p:nvPr/>
        </p:nvSpPr>
        <p:spPr>
          <a:xfrm>
            <a:off x="3886200" y="1207008"/>
            <a:ext cx="1188720" cy="36576"/>
          </a:xfrm>
          <a:prstGeom prst="rect">
            <a:avLst/>
          </a:prstGeom>
          <a:solidFill>
            <a:srgbClr val="FFFFFF"/>
          </a:solidFill>
          <a:ln w="12700">
            <a:solidFill>
              <a:srgbClr val="FFFFFF"/>
            </a:solidFill>
            <a:prstDash val="solid"/>
          </a:ln>
        </p:spPr>
        <p:txBody>
          <a:bodyPr/>
          <a:lstStyle/>
          <a:p>
            <a:endParaRPr lang="en-IN"/>
          </a:p>
        </p:txBody>
      </p:sp>
      <p:sp>
        <p:nvSpPr>
          <p:cNvPr id="19" name="Text 17"/>
          <p:cNvSpPr/>
          <p:nvPr/>
        </p:nvSpPr>
        <p:spPr>
          <a:xfrm>
            <a:off x="3794760" y="1298448"/>
            <a:ext cx="1371600" cy="1143000"/>
          </a:xfrm>
          <a:prstGeom prst="rect">
            <a:avLst/>
          </a:prstGeom>
          <a:noFill/>
          <a:ln/>
        </p:spPr>
        <p:txBody>
          <a:bodyPr wrap="square" rtlCol="0" anchor="ctr"/>
          <a:lstStyle/>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LightGBM · CatBoost</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Random Forest · LR</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LSTM · Isolation Forest</a:t>
            </a:r>
            <a:endParaRPr lang="en-US" sz="950" dirty="0"/>
          </a:p>
        </p:txBody>
      </p:sp>
      <p:sp>
        <p:nvSpPr>
          <p:cNvPr id="20" name="Text 18"/>
          <p:cNvSpPr/>
          <p:nvPr/>
        </p:nvSpPr>
        <p:spPr>
          <a:xfrm>
            <a:off x="5166360" y="1463040"/>
            <a:ext cx="365760" cy="402336"/>
          </a:xfrm>
          <a:prstGeom prst="rect">
            <a:avLst/>
          </a:prstGeom>
          <a:noFill/>
          <a:ln/>
        </p:spPr>
        <p:txBody>
          <a:bodyPr wrap="square" rtlCol="0" anchor="ctr"/>
          <a:lstStyle/>
          <a:p>
            <a:pPr marL="0" indent="0" algn="ctr">
              <a:buNone/>
            </a:pPr>
            <a:r>
              <a:rPr lang="en-US" sz="1800" b="1" dirty="0">
                <a:solidFill>
                  <a:srgbClr val="607D8B"/>
                </a:solidFill>
                <a:latin typeface="Calibri" pitchFamily="34" charset="0"/>
                <a:ea typeface="Calibri" pitchFamily="34" charset="-122"/>
                <a:cs typeface="Calibri" pitchFamily="34" charset="-120"/>
              </a:rPr>
              <a:t>-&gt;</a:t>
            </a:r>
            <a:endParaRPr lang="en-US" sz="1800" dirty="0"/>
          </a:p>
        </p:txBody>
      </p:sp>
      <p:sp>
        <p:nvSpPr>
          <p:cNvPr id="21" name="Shape 19"/>
          <p:cNvSpPr/>
          <p:nvPr/>
        </p:nvSpPr>
        <p:spPr>
          <a:xfrm>
            <a:off x="5440680" y="777240"/>
            <a:ext cx="1554480" cy="1737360"/>
          </a:xfrm>
          <a:prstGeom prst="rect">
            <a:avLst/>
          </a:prstGeom>
          <a:solidFill>
            <a:srgbClr val="E65100"/>
          </a:solidFill>
          <a:ln w="12700">
            <a:solidFill>
              <a:srgbClr val="E65100"/>
            </a:solidFill>
            <a:prstDash val="solid"/>
          </a:ln>
          <a:effectLst>
            <a:outerShdw blurRad="127000" dist="38100" dir="8100000" algn="bl" rotWithShape="0">
              <a:srgbClr val="000000">
                <a:alpha val="9000"/>
              </a:srgbClr>
            </a:outerShdw>
          </a:effectLst>
        </p:spPr>
        <p:txBody>
          <a:bodyPr/>
          <a:lstStyle/>
          <a:p>
            <a:endParaRPr lang="en-IN"/>
          </a:p>
        </p:txBody>
      </p:sp>
      <p:sp>
        <p:nvSpPr>
          <p:cNvPr id="22" name="Text 20"/>
          <p:cNvSpPr/>
          <p:nvPr/>
        </p:nvSpPr>
        <p:spPr>
          <a:xfrm>
            <a:off x="5440680" y="822960"/>
            <a:ext cx="1554480"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Agents</a:t>
            </a:r>
            <a:endParaRPr lang="en-US" sz="1100" dirty="0"/>
          </a:p>
        </p:txBody>
      </p:sp>
      <p:sp>
        <p:nvSpPr>
          <p:cNvPr id="23" name="Shape 21"/>
          <p:cNvSpPr/>
          <p:nvPr/>
        </p:nvSpPr>
        <p:spPr>
          <a:xfrm>
            <a:off x="5623560" y="1207008"/>
            <a:ext cx="1188720" cy="36576"/>
          </a:xfrm>
          <a:prstGeom prst="rect">
            <a:avLst/>
          </a:prstGeom>
          <a:solidFill>
            <a:srgbClr val="FFFFFF"/>
          </a:solidFill>
          <a:ln w="12700">
            <a:solidFill>
              <a:srgbClr val="FFFFFF"/>
            </a:solidFill>
            <a:prstDash val="solid"/>
          </a:ln>
        </p:spPr>
        <p:txBody>
          <a:bodyPr/>
          <a:lstStyle/>
          <a:p>
            <a:endParaRPr lang="en-IN"/>
          </a:p>
        </p:txBody>
      </p:sp>
      <p:sp>
        <p:nvSpPr>
          <p:cNvPr id="24" name="Text 22"/>
          <p:cNvSpPr/>
          <p:nvPr/>
        </p:nvSpPr>
        <p:spPr>
          <a:xfrm>
            <a:off x="5532120" y="1298448"/>
            <a:ext cx="1371600" cy="1143000"/>
          </a:xfrm>
          <a:prstGeom prst="rect">
            <a:avLst/>
          </a:prstGeom>
          <a:noFill/>
          <a:ln/>
        </p:spPr>
        <p:txBody>
          <a:bodyPr wrap="square" rtlCol="0" anchor="ctr"/>
          <a:lstStyle/>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CrewAI + Ollama3</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Data Ingestion Agent</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Supply Chain Agent</a:t>
            </a:r>
            <a:endParaRPr lang="en-US" sz="950" dirty="0"/>
          </a:p>
        </p:txBody>
      </p:sp>
      <p:sp>
        <p:nvSpPr>
          <p:cNvPr id="25" name="Text 23"/>
          <p:cNvSpPr/>
          <p:nvPr/>
        </p:nvSpPr>
        <p:spPr>
          <a:xfrm>
            <a:off x="6903720" y="1463040"/>
            <a:ext cx="365760" cy="402336"/>
          </a:xfrm>
          <a:prstGeom prst="rect">
            <a:avLst/>
          </a:prstGeom>
          <a:noFill/>
          <a:ln/>
        </p:spPr>
        <p:txBody>
          <a:bodyPr wrap="square" rtlCol="0" anchor="ctr"/>
          <a:lstStyle/>
          <a:p>
            <a:pPr marL="0" indent="0" algn="ctr">
              <a:buNone/>
            </a:pPr>
            <a:r>
              <a:rPr lang="en-US" sz="1800" b="1" dirty="0">
                <a:solidFill>
                  <a:srgbClr val="607D8B"/>
                </a:solidFill>
                <a:latin typeface="Calibri" pitchFamily="34" charset="0"/>
                <a:ea typeface="Calibri" pitchFamily="34" charset="-122"/>
                <a:cs typeface="Calibri" pitchFamily="34" charset="-120"/>
              </a:rPr>
              <a:t>-&gt;</a:t>
            </a:r>
            <a:endParaRPr lang="en-US" sz="1800" dirty="0"/>
          </a:p>
        </p:txBody>
      </p:sp>
      <p:sp>
        <p:nvSpPr>
          <p:cNvPr id="26" name="Shape 24"/>
          <p:cNvSpPr/>
          <p:nvPr/>
        </p:nvSpPr>
        <p:spPr>
          <a:xfrm>
            <a:off x="7178040" y="777240"/>
            <a:ext cx="1554480" cy="1737360"/>
          </a:xfrm>
          <a:prstGeom prst="rect">
            <a:avLst/>
          </a:prstGeom>
          <a:solidFill>
            <a:srgbClr val="1A3A5C"/>
          </a:solidFill>
          <a:ln w="12700">
            <a:solidFill>
              <a:srgbClr val="1A3A5C"/>
            </a:solidFill>
            <a:prstDash val="solid"/>
          </a:ln>
          <a:effectLst>
            <a:outerShdw blurRad="127000" dist="38100" dir="8100000" algn="bl" rotWithShape="0">
              <a:srgbClr val="000000">
                <a:alpha val="9000"/>
              </a:srgbClr>
            </a:outerShdw>
          </a:effectLst>
        </p:spPr>
        <p:txBody>
          <a:bodyPr/>
          <a:lstStyle/>
          <a:p>
            <a:endParaRPr lang="en-IN"/>
          </a:p>
        </p:txBody>
      </p:sp>
      <p:sp>
        <p:nvSpPr>
          <p:cNvPr id="27" name="Text 25"/>
          <p:cNvSpPr/>
          <p:nvPr/>
        </p:nvSpPr>
        <p:spPr>
          <a:xfrm>
            <a:off x="7178040" y="822960"/>
            <a:ext cx="1554480" cy="40233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Next.js Frontend</a:t>
            </a:r>
            <a:endParaRPr lang="en-US" sz="1100" dirty="0"/>
          </a:p>
        </p:txBody>
      </p:sp>
      <p:sp>
        <p:nvSpPr>
          <p:cNvPr id="28" name="Shape 26"/>
          <p:cNvSpPr/>
          <p:nvPr/>
        </p:nvSpPr>
        <p:spPr>
          <a:xfrm>
            <a:off x="7360920" y="1207008"/>
            <a:ext cx="1188720" cy="36576"/>
          </a:xfrm>
          <a:prstGeom prst="rect">
            <a:avLst/>
          </a:prstGeom>
          <a:solidFill>
            <a:srgbClr val="FFFFFF"/>
          </a:solidFill>
          <a:ln w="12700">
            <a:solidFill>
              <a:srgbClr val="FFFFFF"/>
            </a:solidFill>
            <a:prstDash val="solid"/>
          </a:ln>
        </p:spPr>
        <p:txBody>
          <a:bodyPr/>
          <a:lstStyle/>
          <a:p>
            <a:endParaRPr lang="en-IN"/>
          </a:p>
        </p:txBody>
      </p:sp>
      <p:sp>
        <p:nvSpPr>
          <p:cNvPr id="29" name="Text 27"/>
          <p:cNvSpPr/>
          <p:nvPr/>
        </p:nvSpPr>
        <p:spPr>
          <a:xfrm>
            <a:off x="7269480" y="1298448"/>
            <a:ext cx="1371600" cy="1143000"/>
          </a:xfrm>
          <a:prstGeom prst="rect">
            <a:avLst/>
          </a:prstGeom>
          <a:noFill/>
          <a:ln/>
        </p:spPr>
        <p:txBody>
          <a:bodyPr wrap="square" rtlCol="0" anchor="ctr"/>
          <a:lstStyle/>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App Router</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React 19 + TypeScript</a:t>
            </a:r>
            <a:endParaRPr lang="en-US" sz="950" dirty="0"/>
          </a:p>
          <a:p>
            <a:pPr marL="0" indent="0" algn="ctr">
              <a:lnSpc>
                <a:spcPct val="140000"/>
              </a:lnSpc>
              <a:buNone/>
            </a:pPr>
            <a:r>
              <a:rPr lang="en-US" sz="950" dirty="0">
                <a:solidFill>
                  <a:srgbClr val="FFFFFF"/>
                </a:solidFill>
                <a:latin typeface="Calibri" pitchFamily="34" charset="0"/>
                <a:ea typeface="Calibri" pitchFamily="34" charset="-122"/>
                <a:cs typeface="Calibri" pitchFamily="34" charset="-120"/>
              </a:rPr>
              <a:t>Tailwind CSS</a:t>
            </a:r>
            <a:endParaRPr lang="en-US" sz="950" dirty="0"/>
          </a:p>
        </p:txBody>
      </p:sp>
      <p:sp>
        <p:nvSpPr>
          <p:cNvPr id="30" name="Shape 28"/>
          <p:cNvSpPr/>
          <p:nvPr/>
        </p:nvSpPr>
        <p:spPr>
          <a:xfrm>
            <a:off x="228600" y="2697480"/>
            <a:ext cx="4206240" cy="2240280"/>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31" name="Shape 29"/>
          <p:cNvSpPr/>
          <p:nvPr/>
        </p:nvSpPr>
        <p:spPr>
          <a:xfrm>
            <a:off x="228600" y="2697480"/>
            <a:ext cx="4206240" cy="365760"/>
          </a:xfrm>
          <a:prstGeom prst="rect">
            <a:avLst/>
          </a:prstGeom>
          <a:solidFill>
            <a:srgbClr val="1A3A5C"/>
          </a:solidFill>
          <a:ln w="12700">
            <a:solidFill>
              <a:srgbClr val="1A3A5C"/>
            </a:solidFill>
            <a:prstDash val="solid"/>
          </a:ln>
        </p:spPr>
        <p:txBody>
          <a:bodyPr/>
          <a:lstStyle/>
          <a:p>
            <a:endParaRPr lang="en-IN"/>
          </a:p>
        </p:txBody>
      </p:sp>
      <p:sp>
        <p:nvSpPr>
          <p:cNvPr id="32" name="Text 30"/>
          <p:cNvSpPr/>
          <p:nvPr/>
        </p:nvSpPr>
        <p:spPr>
          <a:xfrm>
            <a:off x="356616" y="2697480"/>
            <a:ext cx="3931920" cy="36576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Folder Structure  (backend/)</a:t>
            </a:r>
            <a:endParaRPr lang="en-US" sz="1150" dirty="0"/>
          </a:p>
        </p:txBody>
      </p:sp>
      <p:sp>
        <p:nvSpPr>
          <p:cNvPr id="33" name="Text 31"/>
          <p:cNvSpPr/>
          <p:nvPr/>
        </p:nvSpPr>
        <p:spPr>
          <a:xfrm>
            <a:off x="356616" y="3127248"/>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main.py          — FastAPI app, auto-trains on startup</a:t>
            </a:r>
            <a:endParaRPr lang="en-US" sz="950" dirty="0"/>
          </a:p>
        </p:txBody>
      </p:sp>
      <p:sp>
        <p:nvSpPr>
          <p:cNvPr id="34" name="Text 32"/>
          <p:cNvSpPr/>
          <p:nvPr/>
        </p:nvSpPr>
        <p:spPr>
          <a:xfrm>
            <a:off x="356616" y="3429000"/>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database/        — schema.sql · ORM models · seeder (14 tables)</a:t>
            </a:r>
            <a:endParaRPr lang="en-US" sz="950" dirty="0"/>
          </a:p>
        </p:txBody>
      </p:sp>
      <p:sp>
        <p:nvSpPr>
          <p:cNvPr id="35" name="Text 33"/>
          <p:cNvSpPr/>
          <p:nvPr/>
        </p:nvSpPr>
        <p:spPr>
          <a:xfrm>
            <a:off x="356616" y="3730752"/>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data/            — feature_engineering.py · sequence_generator.py</a:t>
            </a:r>
            <a:endParaRPr lang="en-US" sz="950" dirty="0"/>
          </a:p>
        </p:txBody>
      </p:sp>
      <p:sp>
        <p:nvSpPr>
          <p:cNvPr id="36" name="Text 34"/>
          <p:cNvSpPr/>
          <p:nvPr/>
        </p:nvSpPr>
        <p:spPr>
          <a:xfrm>
            <a:off x="356616" y="4032504"/>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models/          — demand · lightgbm · catboost · stockout · expiry · SHAP</a:t>
            </a:r>
            <a:endParaRPr lang="en-US" sz="950" dirty="0"/>
          </a:p>
        </p:txBody>
      </p:sp>
      <p:sp>
        <p:nvSpPr>
          <p:cNvPr id="37" name="Text 35"/>
          <p:cNvSpPr/>
          <p:nvPr/>
        </p:nvSpPr>
        <p:spPr>
          <a:xfrm>
            <a:off x="356616" y="4334256"/>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agents/          — supply_chain · data_ingestion · delivery_tracker · sentiment</a:t>
            </a:r>
            <a:endParaRPr lang="en-US" sz="950" dirty="0"/>
          </a:p>
        </p:txBody>
      </p:sp>
      <p:sp>
        <p:nvSpPr>
          <p:cNvPr id="38" name="Text 36"/>
          <p:cNvSpPr/>
          <p:nvPr/>
        </p:nvSpPr>
        <p:spPr>
          <a:xfrm>
            <a:off x="356616" y="4636008"/>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api/             — 35+ endpoint modules (demand · stockout · agents · POs…)</a:t>
            </a:r>
            <a:endParaRPr lang="en-US" sz="950" dirty="0"/>
          </a:p>
        </p:txBody>
      </p:sp>
      <p:sp>
        <p:nvSpPr>
          <p:cNvPr id="39" name="Shape 37"/>
          <p:cNvSpPr/>
          <p:nvPr/>
        </p:nvSpPr>
        <p:spPr>
          <a:xfrm>
            <a:off x="4690872" y="2697480"/>
            <a:ext cx="4206240" cy="2240280"/>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40" name="Shape 38"/>
          <p:cNvSpPr/>
          <p:nvPr/>
        </p:nvSpPr>
        <p:spPr>
          <a:xfrm>
            <a:off x="4690872" y="2697480"/>
            <a:ext cx="4206240" cy="365760"/>
          </a:xfrm>
          <a:prstGeom prst="rect">
            <a:avLst/>
          </a:prstGeom>
          <a:solidFill>
            <a:srgbClr val="00796B"/>
          </a:solidFill>
          <a:ln w="12700">
            <a:solidFill>
              <a:srgbClr val="00796B"/>
            </a:solidFill>
            <a:prstDash val="solid"/>
          </a:ln>
        </p:spPr>
        <p:txBody>
          <a:bodyPr/>
          <a:lstStyle/>
          <a:p>
            <a:endParaRPr lang="en-IN"/>
          </a:p>
        </p:txBody>
      </p:sp>
      <p:sp>
        <p:nvSpPr>
          <p:cNvPr id="41" name="Text 39"/>
          <p:cNvSpPr/>
          <p:nvPr/>
        </p:nvSpPr>
        <p:spPr>
          <a:xfrm>
            <a:off x="4818888" y="2697480"/>
            <a:ext cx="3931920" cy="36576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Docker Deployment  (docker-compose up --build)</a:t>
            </a:r>
            <a:endParaRPr lang="en-US" sz="1150" dirty="0"/>
          </a:p>
        </p:txBody>
      </p:sp>
      <p:sp>
        <p:nvSpPr>
          <p:cNvPr id="42" name="Text 40"/>
          <p:cNvSpPr/>
          <p:nvPr/>
        </p:nvSpPr>
        <p:spPr>
          <a:xfrm>
            <a:off x="4818888" y="3127248"/>
            <a:ext cx="4005072" cy="292608"/>
          </a:xfrm>
          <a:prstGeom prst="rect">
            <a:avLst/>
          </a:prstGeom>
          <a:noFill/>
          <a:ln/>
        </p:spPr>
        <p:txBody>
          <a:bodyPr wrap="square" rtlCol="0" anchor="ctr"/>
          <a:lstStyle/>
          <a:p>
            <a:pPr marL="0" indent="0">
              <a:buNone/>
            </a:pPr>
            <a:r>
              <a:rPr lang="en-US" sz="950" b="1" dirty="0">
                <a:solidFill>
                  <a:srgbClr val="00796B"/>
                </a:solidFill>
                <a:latin typeface="Consolas" pitchFamily="34" charset="0"/>
                <a:ea typeface="Consolas" pitchFamily="34" charset="-122"/>
                <a:cs typeface="Consolas" pitchFamily="34" charset="-120"/>
              </a:rPr>
              <a:t>1.  Start PostgreSQL container</a:t>
            </a:r>
            <a:endParaRPr lang="en-US" sz="950" dirty="0"/>
          </a:p>
        </p:txBody>
      </p:sp>
      <p:sp>
        <p:nvSpPr>
          <p:cNvPr id="43" name="Text 41"/>
          <p:cNvSpPr/>
          <p:nvPr/>
        </p:nvSpPr>
        <p:spPr>
          <a:xfrm>
            <a:off x="4818888" y="3429000"/>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2.  Create database &amp; 14 tables</a:t>
            </a:r>
            <a:endParaRPr lang="en-US" sz="950" dirty="0"/>
          </a:p>
        </p:txBody>
      </p:sp>
      <p:sp>
        <p:nvSpPr>
          <p:cNvPr id="44" name="Text 42"/>
          <p:cNvSpPr/>
          <p:nvPr/>
        </p:nvSpPr>
        <p:spPr>
          <a:xfrm>
            <a:off x="4818888" y="3730752"/>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3.  Seed ~7.3M consumption records</a:t>
            </a:r>
            <a:endParaRPr lang="en-US" sz="950" dirty="0"/>
          </a:p>
        </p:txBody>
      </p:sp>
      <p:sp>
        <p:nvSpPr>
          <p:cNvPr id="45" name="Text 43"/>
          <p:cNvSpPr/>
          <p:nvPr/>
        </p:nvSpPr>
        <p:spPr>
          <a:xfrm>
            <a:off x="4818888" y="4032504"/>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4.  Train all ML models  (&lt;5 minutes)</a:t>
            </a:r>
            <a:endParaRPr lang="en-US" sz="950" dirty="0"/>
          </a:p>
        </p:txBody>
      </p:sp>
      <p:sp>
        <p:nvSpPr>
          <p:cNvPr id="46" name="Text 44"/>
          <p:cNvSpPr/>
          <p:nvPr/>
        </p:nvSpPr>
        <p:spPr>
          <a:xfrm>
            <a:off x="4818888" y="4334256"/>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5.  Serve API at  http://localhost:8000</a:t>
            </a:r>
            <a:endParaRPr lang="en-US" sz="950" dirty="0"/>
          </a:p>
        </p:txBody>
      </p:sp>
      <p:sp>
        <p:nvSpPr>
          <p:cNvPr id="47" name="Text 45"/>
          <p:cNvSpPr/>
          <p:nvPr/>
        </p:nvSpPr>
        <p:spPr>
          <a:xfrm>
            <a:off x="4818888" y="4636008"/>
            <a:ext cx="4005072" cy="292608"/>
          </a:xfrm>
          <a:prstGeom prst="rect">
            <a:avLst/>
          </a:prstGeom>
          <a:noFill/>
          <a:ln/>
        </p:spPr>
        <p:txBody>
          <a:bodyPr wrap="square" rtlCol="0" anchor="ctr"/>
          <a:lstStyle/>
          <a:p>
            <a:pPr marL="0" indent="0">
              <a:buNone/>
            </a:pPr>
            <a:r>
              <a:rPr lang="en-US" sz="950" dirty="0">
                <a:solidFill>
                  <a:srgbClr val="2C3E50"/>
                </a:solidFill>
                <a:latin typeface="Consolas" pitchFamily="34" charset="0"/>
                <a:ea typeface="Consolas" pitchFamily="34" charset="-122"/>
                <a:cs typeface="Consolas" pitchFamily="34" charset="-120"/>
              </a:rPr>
              <a:t>     Interactive docs at  /docs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04</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Technology Stack</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Frontend · Backend · ML Models · Data &amp; Infrastructure</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Technology Stack — Libraries, Frameworks &amp; Tools</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28600" y="777240"/>
            <a:ext cx="2011680" cy="438912"/>
          </a:xfrm>
          <a:prstGeom prst="rect">
            <a:avLst/>
          </a:prstGeom>
          <a:solidFill>
            <a:srgbClr val="1A6FBF"/>
          </a:solidFill>
          <a:ln w="12700">
            <a:solidFill>
              <a:srgbClr val="1A6FBF"/>
            </a:solidFill>
            <a:prstDash val="solid"/>
          </a:ln>
        </p:spPr>
        <p:txBody>
          <a:bodyPr/>
          <a:lstStyle/>
          <a:p>
            <a:endParaRPr lang="en-IN"/>
          </a:p>
        </p:txBody>
      </p:sp>
      <p:sp>
        <p:nvSpPr>
          <p:cNvPr id="7" name="Text 5"/>
          <p:cNvSpPr/>
          <p:nvPr/>
        </p:nvSpPr>
        <p:spPr>
          <a:xfrm>
            <a:off x="228600" y="777240"/>
            <a:ext cx="201168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Frontend</a:t>
            </a:r>
            <a:endParaRPr lang="en-US" sz="1400" dirty="0"/>
          </a:p>
        </p:txBody>
      </p:sp>
      <p:sp>
        <p:nvSpPr>
          <p:cNvPr id="8" name="Shape 6"/>
          <p:cNvSpPr/>
          <p:nvPr/>
        </p:nvSpPr>
        <p:spPr>
          <a:xfrm>
            <a:off x="228600" y="1216152"/>
            <a:ext cx="2011680" cy="363931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9" name="Shape 7"/>
          <p:cNvSpPr/>
          <p:nvPr/>
        </p:nvSpPr>
        <p:spPr>
          <a:xfrm>
            <a:off x="329184" y="1335024"/>
            <a:ext cx="1810512" cy="566928"/>
          </a:xfrm>
          <a:prstGeom prst="rect">
            <a:avLst/>
          </a:prstGeom>
          <a:solidFill>
            <a:srgbClr val="E8F1FA"/>
          </a:solidFill>
          <a:ln w="12700">
            <a:solidFill>
              <a:srgbClr val="CBD8E4"/>
            </a:solidFill>
            <a:prstDash val="solid"/>
          </a:ln>
        </p:spPr>
        <p:txBody>
          <a:bodyPr/>
          <a:lstStyle/>
          <a:p>
            <a:endParaRPr lang="en-IN"/>
          </a:p>
        </p:txBody>
      </p:sp>
      <p:sp>
        <p:nvSpPr>
          <p:cNvPr id="10" name="Text 8"/>
          <p:cNvSpPr/>
          <p:nvPr/>
        </p:nvSpPr>
        <p:spPr>
          <a:xfrm>
            <a:off x="393192" y="1371600"/>
            <a:ext cx="1682496" cy="237744"/>
          </a:xfrm>
          <a:prstGeom prst="rect">
            <a:avLst/>
          </a:prstGeom>
          <a:noFill/>
          <a:ln/>
        </p:spPr>
        <p:txBody>
          <a:bodyPr wrap="square" rtlCol="0" anchor="ctr"/>
          <a:lstStyle/>
          <a:p>
            <a:pPr marL="0" indent="0">
              <a:buNone/>
            </a:pPr>
            <a:r>
              <a:rPr lang="en-US" sz="1100" b="1" dirty="0">
                <a:solidFill>
                  <a:srgbClr val="1A6FBF"/>
                </a:solidFill>
                <a:latin typeface="Calibri" pitchFamily="34" charset="0"/>
                <a:ea typeface="Calibri" pitchFamily="34" charset="-122"/>
                <a:cs typeface="Calibri" pitchFamily="34" charset="-120"/>
              </a:rPr>
              <a:t>Next.js 15</a:t>
            </a:r>
            <a:endParaRPr lang="en-US" sz="1100" dirty="0"/>
          </a:p>
        </p:txBody>
      </p:sp>
      <p:sp>
        <p:nvSpPr>
          <p:cNvPr id="11" name="Text 9"/>
          <p:cNvSpPr/>
          <p:nvPr/>
        </p:nvSpPr>
        <p:spPr>
          <a:xfrm>
            <a:off x="393192" y="1609344"/>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App Router, SSR, file-based routing</a:t>
            </a:r>
            <a:endParaRPr lang="en-US" sz="950" dirty="0"/>
          </a:p>
        </p:txBody>
      </p:sp>
      <p:sp>
        <p:nvSpPr>
          <p:cNvPr id="12" name="Shape 10"/>
          <p:cNvSpPr/>
          <p:nvPr/>
        </p:nvSpPr>
        <p:spPr>
          <a:xfrm>
            <a:off x="329184" y="2029968"/>
            <a:ext cx="1810512" cy="566928"/>
          </a:xfrm>
          <a:prstGeom prst="rect">
            <a:avLst/>
          </a:prstGeom>
          <a:solidFill>
            <a:srgbClr val="FFFFFF"/>
          </a:solidFill>
          <a:ln w="12700">
            <a:solidFill>
              <a:srgbClr val="CBD8E4"/>
            </a:solidFill>
            <a:prstDash val="solid"/>
          </a:ln>
        </p:spPr>
        <p:txBody>
          <a:bodyPr/>
          <a:lstStyle/>
          <a:p>
            <a:endParaRPr lang="en-IN"/>
          </a:p>
        </p:txBody>
      </p:sp>
      <p:sp>
        <p:nvSpPr>
          <p:cNvPr id="13" name="Text 11"/>
          <p:cNvSpPr/>
          <p:nvPr/>
        </p:nvSpPr>
        <p:spPr>
          <a:xfrm>
            <a:off x="393192" y="2066544"/>
            <a:ext cx="1682496" cy="237744"/>
          </a:xfrm>
          <a:prstGeom prst="rect">
            <a:avLst/>
          </a:prstGeom>
          <a:noFill/>
          <a:ln/>
        </p:spPr>
        <p:txBody>
          <a:bodyPr wrap="square" rtlCol="0" anchor="ctr"/>
          <a:lstStyle/>
          <a:p>
            <a:pPr marL="0" indent="0">
              <a:buNone/>
            </a:pPr>
            <a:r>
              <a:rPr lang="en-US" sz="1100" b="1" dirty="0">
                <a:solidFill>
                  <a:srgbClr val="1A6FBF"/>
                </a:solidFill>
                <a:latin typeface="Calibri" pitchFamily="34" charset="0"/>
                <a:ea typeface="Calibri" pitchFamily="34" charset="-122"/>
                <a:cs typeface="Calibri" pitchFamily="34" charset="-120"/>
              </a:rPr>
              <a:t>React 19 + TypeScript</a:t>
            </a:r>
            <a:endParaRPr lang="en-US" sz="1100" dirty="0"/>
          </a:p>
        </p:txBody>
      </p:sp>
      <p:sp>
        <p:nvSpPr>
          <p:cNvPr id="14" name="Text 12"/>
          <p:cNvSpPr/>
          <p:nvPr/>
        </p:nvSpPr>
        <p:spPr>
          <a:xfrm>
            <a:off x="393192" y="2304288"/>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Scalable component architecture</a:t>
            </a:r>
            <a:endParaRPr lang="en-US" sz="950" dirty="0"/>
          </a:p>
        </p:txBody>
      </p:sp>
      <p:sp>
        <p:nvSpPr>
          <p:cNvPr id="15" name="Shape 13"/>
          <p:cNvSpPr/>
          <p:nvPr/>
        </p:nvSpPr>
        <p:spPr>
          <a:xfrm>
            <a:off x="329184" y="2724912"/>
            <a:ext cx="1810512" cy="566928"/>
          </a:xfrm>
          <a:prstGeom prst="rect">
            <a:avLst/>
          </a:prstGeom>
          <a:solidFill>
            <a:srgbClr val="E8F1FA"/>
          </a:solidFill>
          <a:ln w="12700">
            <a:solidFill>
              <a:srgbClr val="CBD8E4"/>
            </a:solidFill>
            <a:prstDash val="solid"/>
          </a:ln>
        </p:spPr>
        <p:txBody>
          <a:bodyPr/>
          <a:lstStyle/>
          <a:p>
            <a:endParaRPr lang="en-IN"/>
          </a:p>
        </p:txBody>
      </p:sp>
      <p:sp>
        <p:nvSpPr>
          <p:cNvPr id="16" name="Text 14"/>
          <p:cNvSpPr/>
          <p:nvPr/>
        </p:nvSpPr>
        <p:spPr>
          <a:xfrm>
            <a:off x="393192" y="2761488"/>
            <a:ext cx="1682496" cy="237744"/>
          </a:xfrm>
          <a:prstGeom prst="rect">
            <a:avLst/>
          </a:prstGeom>
          <a:noFill/>
          <a:ln/>
        </p:spPr>
        <p:txBody>
          <a:bodyPr wrap="square" rtlCol="0" anchor="ctr"/>
          <a:lstStyle/>
          <a:p>
            <a:pPr marL="0" indent="0">
              <a:buNone/>
            </a:pPr>
            <a:r>
              <a:rPr lang="en-US" sz="1100" b="1" dirty="0">
                <a:solidFill>
                  <a:srgbClr val="1A6FBF"/>
                </a:solidFill>
                <a:latin typeface="Calibri" pitchFamily="34" charset="0"/>
                <a:ea typeface="Calibri" pitchFamily="34" charset="-122"/>
                <a:cs typeface="Calibri" pitchFamily="34" charset="-120"/>
              </a:rPr>
              <a:t>Tailwind CSS</a:t>
            </a:r>
            <a:endParaRPr lang="en-US" sz="1100" dirty="0"/>
          </a:p>
        </p:txBody>
      </p:sp>
      <p:sp>
        <p:nvSpPr>
          <p:cNvPr id="17" name="Text 15"/>
          <p:cNvSpPr/>
          <p:nvPr/>
        </p:nvSpPr>
        <p:spPr>
          <a:xfrm>
            <a:off x="393192" y="2999232"/>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Utility-first, accessible UI</a:t>
            </a:r>
            <a:endParaRPr lang="en-US" sz="950" dirty="0"/>
          </a:p>
        </p:txBody>
      </p:sp>
      <p:sp>
        <p:nvSpPr>
          <p:cNvPr id="18" name="Shape 16"/>
          <p:cNvSpPr/>
          <p:nvPr/>
        </p:nvSpPr>
        <p:spPr>
          <a:xfrm>
            <a:off x="329184" y="3419856"/>
            <a:ext cx="1810512" cy="566928"/>
          </a:xfrm>
          <a:prstGeom prst="rect">
            <a:avLst/>
          </a:prstGeom>
          <a:solidFill>
            <a:srgbClr val="FFFFFF"/>
          </a:solidFill>
          <a:ln w="12700">
            <a:solidFill>
              <a:srgbClr val="CBD8E4"/>
            </a:solidFill>
            <a:prstDash val="solid"/>
          </a:ln>
        </p:spPr>
        <p:txBody>
          <a:bodyPr/>
          <a:lstStyle/>
          <a:p>
            <a:endParaRPr lang="en-IN"/>
          </a:p>
        </p:txBody>
      </p:sp>
      <p:sp>
        <p:nvSpPr>
          <p:cNvPr id="19" name="Text 17"/>
          <p:cNvSpPr/>
          <p:nvPr/>
        </p:nvSpPr>
        <p:spPr>
          <a:xfrm>
            <a:off x="393192" y="3456432"/>
            <a:ext cx="1682496" cy="237744"/>
          </a:xfrm>
          <a:prstGeom prst="rect">
            <a:avLst/>
          </a:prstGeom>
          <a:noFill/>
          <a:ln/>
        </p:spPr>
        <p:txBody>
          <a:bodyPr wrap="square" rtlCol="0" anchor="ctr"/>
          <a:lstStyle/>
          <a:p>
            <a:pPr marL="0" indent="0">
              <a:buNone/>
            </a:pPr>
            <a:r>
              <a:rPr lang="en-US" sz="1100" b="1" dirty="0">
                <a:solidFill>
                  <a:srgbClr val="1A6FBF"/>
                </a:solidFill>
                <a:latin typeface="Calibri" pitchFamily="34" charset="0"/>
                <a:ea typeface="Calibri" pitchFamily="34" charset="-122"/>
                <a:cs typeface="Calibri" pitchFamily="34" charset="-120"/>
              </a:rPr>
              <a:t>Recharts</a:t>
            </a:r>
            <a:endParaRPr lang="en-US" sz="1100" dirty="0"/>
          </a:p>
        </p:txBody>
      </p:sp>
      <p:sp>
        <p:nvSpPr>
          <p:cNvPr id="20" name="Text 18"/>
          <p:cNvSpPr/>
          <p:nvPr/>
        </p:nvSpPr>
        <p:spPr>
          <a:xfrm>
            <a:off x="393192" y="3694176"/>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Dashboard data visualizations</a:t>
            </a:r>
            <a:endParaRPr lang="en-US" sz="950" dirty="0"/>
          </a:p>
        </p:txBody>
      </p:sp>
      <p:sp>
        <p:nvSpPr>
          <p:cNvPr id="21" name="Shape 19"/>
          <p:cNvSpPr/>
          <p:nvPr/>
        </p:nvSpPr>
        <p:spPr>
          <a:xfrm>
            <a:off x="329184" y="4114800"/>
            <a:ext cx="1810512" cy="566928"/>
          </a:xfrm>
          <a:prstGeom prst="rect">
            <a:avLst/>
          </a:prstGeom>
          <a:solidFill>
            <a:srgbClr val="E8F1FA"/>
          </a:solidFill>
          <a:ln w="12700">
            <a:solidFill>
              <a:srgbClr val="CBD8E4"/>
            </a:solidFill>
            <a:prstDash val="solid"/>
          </a:ln>
        </p:spPr>
        <p:txBody>
          <a:bodyPr/>
          <a:lstStyle/>
          <a:p>
            <a:endParaRPr lang="en-IN"/>
          </a:p>
        </p:txBody>
      </p:sp>
      <p:sp>
        <p:nvSpPr>
          <p:cNvPr id="22" name="Text 20"/>
          <p:cNvSpPr/>
          <p:nvPr/>
        </p:nvSpPr>
        <p:spPr>
          <a:xfrm>
            <a:off x="393192" y="4151376"/>
            <a:ext cx="1682496" cy="237744"/>
          </a:xfrm>
          <a:prstGeom prst="rect">
            <a:avLst/>
          </a:prstGeom>
          <a:noFill/>
          <a:ln/>
        </p:spPr>
        <p:txBody>
          <a:bodyPr wrap="square" rtlCol="0" anchor="ctr"/>
          <a:lstStyle/>
          <a:p>
            <a:pPr marL="0" indent="0">
              <a:buNone/>
            </a:pPr>
            <a:r>
              <a:rPr lang="en-US" sz="1100" b="1" dirty="0">
                <a:solidFill>
                  <a:srgbClr val="1A6FBF"/>
                </a:solidFill>
                <a:latin typeface="Calibri" pitchFamily="34" charset="0"/>
                <a:ea typeface="Calibri" pitchFamily="34" charset="-122"/>
                <a:cs typeface="Calibri" pitchFamily="34" charset="-120"/>
              </a:rPr>
              <a:t>shadcn/ui</a:t>
            </a:r>
            <a:endParaRPr lang="en-US" sz="1100" dirty="0"/>
          </a:p>
        </p:txBody>
      </p:sp>
      <p:sp>
        <p:nvSpPr>
          <p:cNvPr id="23" name="Text 21"/>
          <p:cNvSpPr/>
          <p:nvPr/>
        </p:nvSpPr>
        <p:spPr>
          <a:xfrm>
            <a:off x="393192" y="4389120"/>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Accessible component primitives</a:t>
            </a:r>
            <a:endParaRPr lang="en-US" sz="950" dirty="0"/>
          </a:p>
        </p:txBody>
      </p:sp>
      <p:sp>
        <p:nvSpPr>
          <p:cNvPr id="24" name="Shape 22"/>
          <p:cNvSpPr/>
          <p:nvPr/>
        </p:nvSpPr>
        <p:spPr>
          <a:xfrm>
            <a:off x="2404872" y="777240"/>
            <a:ext cx="2011680" cy="438912"/>
          </a:xfrm>
          <a:prstGeom prst="rect">
            <a:avLst/>
          </a:prstGeom>
          <a:solidFill>
            <a:srgbClr val="00796B"/>
          </a:solidFill>
          <a:ln w="12700">
            <a:solidFill>
              <a:srgbClr val="00796B"/>
            </a:solidFill>
            <a:prstDash val="solid"/>
          </a:ln>
        </p:spPr>
        <p:txBody>
          <a:bodyPr/>
          <a:lstStyle/>
          <a:p>
            <a:endParaRPr lang="en-IN"/>
          </a:p>
        </p:txBody>
      </p:sp>
      <p:sp>
        <p:nvSpPr>
          <p:cNvPr id="25" name="Text 23"/>
          <p:cNvSpPr/>
          <p:nvPr/>
        </p:nvSpPr>
        <p:spPr>
          <a:xfrm>
            <a:off x="2404872" y="777240"/>
            <a:ext cx="201168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Backend</a:t>
            </a:r>
            <a:endParaRPr lang="en-US" sz="1400" dirty="0"/>
          </a:p>
        </p:txBody>
      </p:sp>
      <p:sp>
        <p:nvSpPr>
          <p:cNvPr id="26" name="Shape 24"/>
          <p:cNvSpPr/>
          <p:nvPr/>
        </p:nvSpPr>
        <p:spPr>
          <a:xfrm>
            <a:off x="2404872" y="1216152"/>
            <a:ext cx="2011680" cy="363931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7" name="Shape 25"/>
          <p:cNvSpPr/>
          <p:nvPr/>
        </p:nvSpPr>
        <p:spPr>
          <a:xfrm>
            <a:off x="2505456" y="1335024"/>
            <a:ext cx="1810512" cy="566928"/>
          </a:xfrm>
          <a:prstGeom prst="rect">
            <a:avLst/>
          </a:prstGeom>
          <a:solidFill>
            <a:srgbClr val="E8F1FA"/>
          </a:solidFill>
          <a:ln w="12700">
            <a:solidFill>
              <a:srgbClr val="CBD8E4"/>
            </a:solidFill>
            <a:prstDash val="solid"/>
          </a:ln>
        </p:spPr>
        <p:txBody>
          <a:bodyPr/>
          <a:lstStyle/>
          <a:p>
            <a:endParaRPr lang="en-IN"/>
          </a:p>
        </p:txBody>
      </p:sp>
      <p:sp>
        <p:nvSpPr>
          <p:cNvPr id="28" name="Text 26"/>
          <p:cNvSpPr/>
          <p:nvPr/>
        </p:nvSpPr>
        <p:spPr>
          <a:xfrm>
            <a:off x="2569464" y="1371600"/>
            <a:ext cx="1682496" cy="237744"/>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FastAPI</a:t>
            </a:r>
            <a:endParaRPr lang="en-US" sz="1100" dirty="0"/>
          </a:p>
        </p:txBody>
      </p:sp>
      <p:sp>
        <p:nvSpPr>
          <p:cNvPr id="29" name="Text 27"/>
          <p:cNvSpPr/>
          <p:nvPr/>
        </p:nvSpPr>
        <p:spPr>
          <a:xfrm>
            <a:off x="2569464" y="1609344"/>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High-performance async REST API</a:t>
            </a:r>
            <a:endParaRPr lang="en-US" sz="950" dirty="0"/>
          </a:p>
        </p:txBody>
      </p:sp>
      <p:sp>
        <p:nvSpPr>
          <p:cNvPr id="30" name="Shape 28"/>
          <p:cNvSpPr/>
          <p:nvPr/>
        </p:nvSpPr>
        <p:spPr>
          <a:xfrm>
            <a:off x="2505456" y="2029968"/>
            <a:ext cx="1810512" cy="566928"/>
          </a:xfrm>
          <a:prstGeom prst="rect">
            <a:avLst/>
          </a:prstGeom>
          <a:solidFill>
            <a:srgbClr val="FFFFFF"/>
          </a:solidFill>
          <a:ln w="12700">
            <a:solidFill>
              <a:srgbClr val="CBD8E4"/>
            </a:solidFill>
            <a:prstDash val="solid"/>
          </a:ln>
        </p:spPr>
        <p:txBody>
          <a:bodyPr/>
          <a:lstStyle/>
          <a:p>
            <a:endParaRPr lang="en-IN"/>
          </a:p>
        </p:txBody>
      </p:sp>
      <p:sp>
        <p:nvSpPr>
          <p:cNvPr id="31" name="Text 29"/>
          <p:cNvSpPr/>
          <p:nvPr/>
        </p:nvSpPr>
        <p:spPr>
          <a:xfrm>
            <a:off x="2569464" y="2066544"/>
            <a:ext cx="1682496" cy="237744"/>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SQLAlchemy</a:t>
            </a:r>
            <a:endParaRPr lang="en-US" sz="1100" dirty="0"/>
          </a:p>
        </p:txBody>
      </p:sp>
      <p:sp>
        <p:nvSpPr>
          <p:cNvPr id="32" name="Text 30"/>
          <p:cNvSpPr/>
          <p:nvPr/>
        </p:nvSpPr>
        <p:spPr>
          <a:xfrm>
            <a:off x="2569464" y="2304288"/>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ORM for PostgreSQL + SQLite</a:t>
            </a:r>
            <a:endParaRPr lang="en-US" sz="950" dirty="0"/>
          </a:p>
        </p:txBody>
      </p:sp>
      <p:sp>
        <p:nvSpPr>
          <p:cNvPr id="33" name="Shape 31"/>
          <p:cNvSpPr/>
          <p:nvPr/>
        </p:nvSpPr>
        <p:spPr>
          <a:xfrm>
            <a:off x="2505456" y="2724912"/>
            <a:ext cx="1810512" cy="566928"/>
          </a:xfrm>
          <a:prstGeom prst="rect">
            <a:avLst/>
          </a:prstGeom>
          <a:solidFill>
            <a:srgbClr val="E8F1FA"/>
          </a:solidFill>
          <a:ln w="12700">
            <a:solidFill>
              <a:srgbClr val="CBD8E4"/>
            </a:solidFill>
            <a:prstDash val="solid"/>
          </a:ln>
        </p:spPr>
        <p:txBody>
          <a:bodyPr/>
          <a:lstStyle/>
          <a:p>
            <a:endParaRPr lang="en-IN"/>
          </a:p>
        </p:txBody>
      </p:sp>
      <p:sp>
        <p:nvSpPr>
          <p:cNvPr id="34" name="Text 32"/>
          <p:cNvSpPr/>
          <p:nvPr/>
        </p:nvSpPr>
        <p:spPr>
          <a:xfrm>
            <a:off x="2569464" y="2761488"/>
            <a:ext cx="1682496" cy="237744"/>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Uvicorn / Gunicorn</a:t>
            </a:r>
            <a:endParaRPr lang="en-US" sz="1100" dirty="0"/>
          </a:p>
        </p:txBody>
      </p:sp>
      <p:sp>
        <p:nvSpPr>
          <p:cNvPr id="35" name="Text 33"/>
          <p:cNvSpPr/>
          <p:nvPr/>
        </p:nvSpPr>
        <p:spPr>
          <a:xfrm>
            <a:off x="2569464" y="2999232"/>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ASGI production server</a:t>
            </a:r>
            <a:endParaRPr lang="en-US" sz="950" dirty="0"/>
          </a:p>
        </p:txBody>
      </p:sp>
      <p:sp>
        <p:nvSpPr>
          <p:cNvPr id="36" name="Shape 34"/>
          <p:cNvSpPr/>
          <p:nvPr/>
        </p:nvSpPr>
        <p:spPr>
          <a:xfrm>
            <a:off x="2505456" y="3419856"/>
            <a:ext cx="1810512" cy="566928"/>
          </a:xfrm>
          <a:prstGeom prst="rect">
            <a:avLst/>
          </a:prstGeom>
          <a:solidFill>
            <a:srgbClr val="FFFFFF"/>
          </a:solidFill>
          <a:ln w="12700">
            <a:solidFill>
              <a:srgbClr val="CBD8E4"/>
            </a:solidFill>
            <a:prstDash val="solid"/>
          </a:ln>
        </p:spPr>
        <p:txBody>
          <a:bodyPr/>
          <a:lstStyle/>
          <a:p>
            <a:endParaRPr lang="en-IN"/>
          </a:p>
        </p:txBody>
      </p:sp>
      <p:sp>
        <p:nvSpPr>
          <p:cNvPr id="37" name="Text 35"/>
          <p:cNvSpPr/>
          <p:nvPr/>
        </p:nvSpPr>
        <p:spPr>
          <a:xfrm>
            <a:off x="2569464" y="3456432"/>
            <a:ext cx="1682496" cy="237744"/>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Pydantic</a:t>
            </a:r>
            <a:endParaRPr lang="en-US" sz="1100" dirty="0"/>
          </a:p>
        </p:txBody>
      </p:sp>
      <p:sp>
        <p:nvSpPr>
          <p:cNvPr id="38" name="Text 36"/>
          <p:cNvSpPr/>
          <p:nvPr/>
        </p:nvSpPr>
        <p:spPr>
          <a:xfrm>
            <a:off x="2569464" y="3694176"/>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Request validation &amp; schemas</a:t>
            </a:r>
            <a:endParaRPr lang="en-US" sz="950" dirty="0"/>
          </a:p>
        </p:txBody>
      </p:sp>
      <p:sp>
        <p:nvSpPr>
          <p:cNvPr id="39" name="Shape 37"/>
          <p:cNvSpPr/>
          <p:nvPr/>
        </p:nvSpPr>
        <p:spPr>
          <a:xfrm>
            <a:off x="2505456" y="4114800"/>
            <a:ext cx="1810512" cy="566928"/>
          </a:xfrm>
          <a:prstGeom prst="rect">
            <a:avLst/>
          </a:prstGeom>
          <a:solidFill>
            <a:srgbClr val="E8F1FA"/>
          </a:solidFill>
          <a:ln w="12700">
            <a:solidFill>
              <a:srgbClr val="CBD8E4"/>
            </a:solidFill>
            <a:prstDash val="solid"/>
          </a:ln>
        </p:spPr>
        <p:txBody>
          <a:bodyPr/>
          <a:lstStyle/>
          <a:p>
            <a:endParaRPr lang="en-IN"/>
          </a:p>
        </p:txBody>
      </p:sp>
      <p:sp>
        <p:nvSpPr>
          <p:cNvPr id="40" name="Text 38"/>
          <p:cNvSpPr/>
          <p:nvPr/>
        </p:nvSpPr>
        <p:spPr>
          <a:xfrm>
            <a:off x="2569464" y="4151376"/>
            <a:ext cx="1682496" cy="237744"/>
          </a:xfrm>
          <a:prstGeom prst="rect">
            <a:avLst/>
          </a:prstGeom>
          <a:noFill/>
          <a:ln/>
        </p:spPr>
        <p:txBody>
          <a:bodyPr wrap="square" rtlCol="0" anchor="ctr"/>
          <a:lstStyle/>
          <a:p>
            <a:pPr marL="0" indent="0">
              <a:buNone/>
            </a:pPr>
            <a:r>
              <a:rPr lang="en-US" sz="1100" b="1" dirty="0">
                <a:solidFill>
                  <a:srgbClr val="00796B"/>
                </a:solidFill>
                <a:latin typeface="Calibri" pitchFamily="34" charset="0"/>
                <a:ea typeface="Calibri" pitchFamily="34" charset="-122"/>
                <a:cs typeface="Calibri" pitchFamily="34" charset="-120"/>
              </a:rPr>
              <a:t>Docker Compose</a:t>
            </a:r>
            <a:endParaRPr lang="en-US" sz="1100" dirty="0"/>
          </a:p>
        </p:txBody>
      </p:sp>
      <p:sp>
        <p:nvSpPr>
          <p:cNvPr id="41" name="Text 39"/>
          <p:cNvSpPr/>
          <p:nvPr/>
        </p:nvSpPr>
        <p:spPr>
          <a:xfrm>
            <a:off x="2569464" y="4389120"/>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One-command full-stack startup</a:t>
            </a:r>
            <a:endParaRPr lang="en-US" sz="950" dirty="0"/>
          </a:p>
        </p:txBody>
      </p:sp>
      <p:sp>
        <p:nvSpPr>
          <p:cNvPr id="42" name="Shape 40"/>
          <p:cNvSpPr/>
          <p:nvPr/>
        </p:nvSpPr>
        <p:spPr>
          <a:xfrm>
            <a:off x="4581144" y="777240"/>
            <a:ext cx="2011680" cy="438912"/>
          </a:xfrm>
          <a:prstGeom prst="rect">
            <a:avLst/>
          </a:prstGeom>
          <a:solidFill>
            <a:srgbClr val="E65100"/>
          </a:solidFill>
          <a:ln w="12700">
            <a:solidFill>
              <a:srgbClr val="E65100"/>
            </a:solidFill>
            <a:prstDash val="solid"/>
          </a:ln>
        </p:spPr>
        <p:txBody>
          <a:bodyPr/>
          <a:lstStyle/>
          <a:p>
            <a:endParaRPr lang="en-IN"/>
          </a:p>
        </p:txBody>
      </p:sp>
      <p:sp>
        <p:nvSpPr>
          <p:cNvPr id="43" name="Text 41"/>
          <p:cNvSpPr/>
          <p:nvPr/>
        </p:nvSpPr>
        <p:spPr>
          <a:xfrm>
            <a:off x="4581144" y="777240"/>
            <a:ext cx="201168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ML &amp; AI</a:t>
            </a:r>
            <a:endParaRPr lang="en-US" sz="1400" dirty="0"/>
          </a:p>
        </p:txBody>
      </p:sp>
      <p:sp>
        <p:nvSpPr>
          <p:cNvPr id="44" name="Shape 42"/>
          <p:cNvSpPr/>
          <p:nvPr/>
        </p:nvSpPr>
        <p:spPr>
          <a:xfrm>
            <a:off x="4581144" y="1216152"/>
            <a:ext cx="2011680" cy="363931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45" name="Shape 43"/>
          <p:cNvSpPr/>
          <p:nvPr/>
        </p:nvSpPr>
        <p:spPr>
          <a:xfrm>
            <a:off x="4681728" y="1335024"/>
            <a:ext cx="1810512" cy="566928"/>
          </a:xfrm>
          <a:prstGeom prst="rect">
            <a:avLst/>
          </a:prstGeom>
          <a:solidFill>
            <a:srgbClr val="E8F1FA"/>
          </a:solidFill>
          <a:ln w="12700">
            <a:solidFill>
              <a:srgbClr val="CBD8E4"/>
            </a:solidFill>
            <a:prstDash val="solid"/>
          </a:ln>
        </p:spPr>
        <p:txBody>
          <a:bodyPr/>
          <a:lstStyle/>
          <a:p>
            <a:endParaRPr lang="en-IN"/>
          </a:p>
        </p:txBody>
      </p:sp>
      <p:sp>
        <p:nvSpPr>
          <p:cNvPr id="46" name="Text 44"/>
          <p:cNvSpPr/>
          <p:nvPr/>
        </p:nvSpPr>
        <p:spPr>
          <a:xfrm>
            <a:off x="4745736" y="1371600"/>
            <a:ext cx="1682496" cy="237744"/>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LightGBM 4.0</a:t>
            </a:r>
            <a:endParaRPr lang="en-US" sz="1100" dirty="0"/>
          </a:p>
        </p:txBody>
      </p:sp>
      <p:sp>
        <p:nvSpPr>
          <p:cNvPr id="47" name="Text 45"/>
          <p:cNvSpPr/>
          <p:nvPr/>
        </p:nvSpPr>
        <p:spPr>
          <a:xfrm>
            <a:off x="4745736" y="1609344"/>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Demand forecast (R²=0.9998)</a:t>
            </a:r>
            <a:endParaRPr lang="en-US" sz="950" dirty="0"/>
          </a:p>
        </p:txBody>
      </p:sp>
      <p:sp>
        <p:nvSpPr>
          <p:cNvPr id="48" name="Shape 46"/>
          <p:cNvSpPr/>
          <p:nvPr/>
        </p:nvSpPr>
        <p:spPr>
          <a:xfrm>
            <a:off x="4681728" y="2029968"/>
            <a:ext cx="1810512" cy="566928"/>
          </a:xfrm>
          <a:prstGeom prst="rect">
            <a:avLst/>
          </a:prstGeom>
          <a:solidFill>
            <a:srgbClr val="FFFFFF"/>
          </a:solidFill>
          <a:ln w="12700">
            <a:solidFill>
              <a:srgbClr val="CBD8E4"/>
            </a:solidFill>
            <a:prstDash val="solid"/>
          </a:ln>
        </p:spPr>
        <p:txBody>
          <a:bodyPr/>
          <a:lstStyle/>
          <a:p>
            <a:endParaRPr lang="en-IN"/>
          </a:p>
        </p:txBody>
      </p:sp>
      <p:sp>
        <p:nvSpPr>
          <p:cNvPr id="49" name="Text 47"/>
          <p:cNvSpPr/>
          <p:nvPr/>
        </p:nvSpPr>
        <p:spPr>
          <a:xfrm>
            <a:off x="4745736" y="2066544"/>
            <a:ext cx="1682496" cy="237744"/>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CatBoost 1.2</a:t>
            </a:r>
            <a:endParaRPr lang="en-US" sz="1100" dirty="0"/>
          </a:p>
        </p:txBody>
      </p:sp>
      <p:sp>
        <p:nvSpPr>
          <p:cNvPr id="50" name="Text 48"/>
          <p:cNvSpPr/>
          <p:nvPr/>
        </p:nvSpPr>
        <p:spPr>
          <a:xfrm>
            <a:off x="4745736" y="2304288"/>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Categorical-native predictions</a:t>
            </a:r>
            <a:endParaRPr lang="en-US" sz="950" dirty="0"/>
          </a:p>
        </p:txBody>
      </p:sp>
      <p:sp>
        <p:nvSpPr>
          <p:cNvPr id="51" name="Shape 49"/>
          <p:cNvSpPr/>
          <p:nvPr/>
        </p:nvSpPr>
        <p:spPr>
          <a:xfrm>
            <a:off x="4681728" y="2724912"/>
            <a:ext cx="1810512" cy="566928"/>
          </a:xfrm>
          <a:prstGeom prst="rect">
            <a:avLst/>
          </a:prstGeom>
          <a:solidFill>
            <a:srgbClr val="E8F1FA"/>
          </a:solidFill>
          <a:ln w="12700">
            <a:solidFill>
              <a:srgbClr val="CBD8E4"/>
            </a:solidFill>
            <a:prstDash val="solid"/>
          </a:ln>
        </p:spPr>
        <p:txBody>
          <a:bodyPr/>
          <a:lstStyle/>
          <a:p>
            <a:endParaRPr lang="en-IN"/>
          </a:p>
        </p:txBody>
      </p:sp>
      <p:sp>
        <p:nvSpPr>
          <p:cNvPr id="52" name="Text 50"/>
          <p:cNvSpPr/>
          <p:nvPr/>
        </p:nvSpPr>
        <p:spPr>
          <a:xfrm>
            <a:off x="4745736" y="2761488"/>
            <a:ext cx="1682496" cy="237744"/>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Random Forest</a:t>
            </a:r>
            <a:endParaRPr lang="en-US" sz="1100" dirty="0"/>
          </a:p>
        </p:txBody>
      </p:sp>
      <p:sp>
        <p:nvSpPr>
          <p:cNvPr id="53" name="Text 51"/>
          <p:cNvSpPr/>
          <p:nvPr/>
        </p:nvSpPr>
        <p:spPr>
          <a:xfrm>
            <a:off x="4745736" y="2999232"/>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Stockout risk classifier</a:t>
            </a:r>
            <a:endParaRPr lang="en-US" sz="950" dirty="0"/>
          </a:p>
        </p:txBody>
      </p:sp>
      <p:sp>
        <p:nvSpPr>
          <p:cNvPr id="54" name="Shape 52"/>
          <p:cNvSpPr/>
          <p:nvPr/>
        </p:nvSpPr>
        <p:spPr>
          <a:xfrm>
            <a:off x="4681728" y="3419856"/>
            <a:ext cx="1810512" cy="566928"/>
          </a:xfrm>
          <a:prstGeom prst="rect">
            <a:avLst/>
          </a:prstGeom>
          <a:solidFill>
            <a:srgbClr val="FFFFFF"/>
          </a:solidFill>
          <a:ln w="12700">
            <a:solidFill>
              <a:srgbClr val="CBD8E4"/>
            </a:solidFill>
            <a:prstDash val="solid"/>
          </a:ln>
        </p:spPr>
        <p:txBody>
          <a:bodyPr/>
          <a:lstStyle/>
          <a:p>
            <a:endParaRPr lang="en-IN"/>
          </a:p>
        </p:txBody>
      </p:sp>
      <p:sp>
        <p:nvSpPr>
          <p:cNvPr id="55" name="Text 53"/>
          <p:cNvSpPr/>
          <p:nvPr/>
        </p:nvSpPr>
        <p:spPr>
          <a:xfrm>
            <a:off x="4745736" y="3456432"/>
            <a:ext cx="1682496" cy="237744"/>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TensorFlow/Keras</a:t>
            </a:r>
            <a:endParaRPr lang="en-US" sz="1100" dirty="0"/>
          </a:p>
        </p:txBody>
      </p:sp>
      <p:sp>
        <p:nvSpPr>
          <p:cNvPr id="56" name="Text 54"/>
          <p:cNvSpPr/>
          <p:nvPr/>
        </p:nvSpPr>
        <p:spPr>
          <a:xfrm>
            <a:off x="4745736" y="3694176"/>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LSTM/GRU time-series model</a:t>
            </a:r>
            <a:endParaRPr lang="en-US" sz="950" dirty="0"/>
          </a:p>
        </p:txBody>
      </p:sp>
      <p:sp>
        <p:nvSpPr>
          <p:cNvPr id="57" name="Shape 55"/>
          <p:cNvSpPr/>
          <p:nvPr/>
        </p:nvSpPr>
        <p:spPr>
          <a:xfrm>
            <a:off x="4681728" y="4114800"/>
            <a:ext cx="1810512" cy="566928"/>
          </a:xfrm>
          <a:prstGeom prst="rect">
            <a:avLst/>
          </a:prstGeom>
          <a:solidFill>
            <a:srgbClr val="E8F1FA"/>
          </a:solidFill>
          <a:ln w="12700">
            <a:solidFill>
              <a:srgbClr val="CBD8E4"/>
            </a:solidFill>
            <a:prstDash val="solid"/>
          </a:ln>
        </p:spPr>
        <p:txBody>
          <a:bodyPr/>
          <a:lstStyle/>
          <a:p>
            <a:endParaRPr lang="en-IN"/>
          </a:p>
        </p:txBody>
      </p:sp>
      <p:sp>
        <p:nvSpPr>
          <p:cNvPr id="58" name="Text 56"/>
          <p:cNvSpPr/>
          <p:nvPr/>
        </p:nvSpPr>
        <p:spPr>
          <a:xfrm>
            <a:off x="4745736" y="4151376"/>
            <a:ext cx="1682496" cy="237744"/>
          </a:xfrm>
          <a:prstGeom prst="rect">
            <a:avLst/>
          </a:prstGeom>
          <a:noFill/>
          <a:ln/>
        </p:spPr>
        <p:txBody>
          <a:bodyPr wrap="square" rtlCol="0" anchor="ctr"/>
          <a:lstStyle/>
          <a:p>
            <a:pPr marL="0" indent="0">
              <a:buNone/>
            </a:pPr>
            <a:r>
              <a:rPr lang="en-US" sz="1100" b="1" dirty="0">
                <a:solidFill>
                  <a:srgbClr val="E65100"/>
                </a:solidFill>
                <a:latin typeface="Calibri" pitchFamily="34" charset="0"/>
                <a:ea typeface="Calibri" pitchFamily="34" charset="-122"/>
                <a:cs typeface="Calibri" pitchFamily="34" charset="-120"/>
              </a:rPr>
              <a:t>SHAP + LIME</a:t>
            </a:r>
            <a:endParaRPr lang="en-US" sz="1100" dirty="0"/>
          </a:p>
        </p:txBody>
      </p:sp>
      <p:sp>
        <p:nvSpPr>
          <p:cNvPr id="59" name="Text 57"/>
          <p:cNvSpPr/>
          <p:nvPr/>
        </p:nvSpPr>
        <p:spPr>
          <a:xfrm>
            <a:off x="4745736" y="4389120"/>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Model explainability layer</a:t>
            </a:r>
            <a:endParaRPr lang="en-US" sz="950" dirty="0"/>
          </a:p>
        </p:txBody>
      </p:sp>
      <p:sp>
        <p:nvSpPr>
          <p:cNvPr id="60" name="Shape 58"/>
          <p:cNvSpPr/>
          <p:nvPr/>
        </p:nvSpPr>
        <p:spPr>
          <a:xfrm>
            <a:off x="6757416" y="777240"/>
            <a:ext cx="2011680" cy="438912"/>
          </a:xfrm>
          <a:prstGeom prst="rect">
            <a:avLst/>
          </a:prstGeom>
          <a:solidFill>
            <a:srgbClr val="1A3A5C"/>
          </a:solidFill>
          <a:ln w="12700">
            <a:solidFill>
              <a:srgbClr val="1A3A5C"/>
            </a:solidFill>
            <a:prstDash val="solid"/>
          </a:ln>
        </p:spPr>
        <p:txBody>
          <a:bodyPr/>
          <a:lstStyle/>
          <a:p>
            <a:endParaRPr lang="en-IN"/>
          </a:p>
        </p:txBody>
      </p:sp>
      <p:sp>
        <p:nvSpPr>
          <p:cNvPr id="61" name="Text 59"/>
          <p:cNvSpPr/>
          <p:nvPr/>
        </p:nvSpPr>
        <p:spPr>
          <a:xfrm>
            <a:off x="6757416" y="777240"/>
            <a:ext cx="2011680" cy="438912"/>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 &amp; Infra</a:t>
            </a:r>
            <a:endParaRPr lang="en-US" sz="1400" dirty="0"/>
          </a:p>
        </p:txBody>
      </p:sp>
      <p:sp>
        <p:nvSpPr>
          <p:cNvPr id="62" name="Shape 60"/>
          <p:cNvSpPr/>
          <p:nvPr/>
        </p:nvSpPr>
        <p:spPr>
          <a:xfrm>
            <a:off x="6757416" y="1216152"/>
            <a:ext cx="2011680" cy="363931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63" name="Shape 61"/>
          <p:cNvSpPr/>
          <p:nvPr/>
        </p:nvSpPr>
        <p:spPr>
          <a:xfrm>
            <a:off x="6858000" y="1335024"/>
            <a:ext cx="1810512" cy="566928"/>
          </a:xfrm>
          <a:prstGeom prst="rect">
            <a:avLst/>
          </a:prstGeom>
          <a:solidFill>
            <a:srgbClr val="E8F1FA"/>
          </a:solidFill>
          <a:ln w="12700">
            <a:solidFill>
              <a:srgbClr val="CBD8E4"/>
            </a:solidFill>
            <a:prstDash val="solid"/>
          </a:ln>
        </p:spPr>
        <p:txBody>
          <a:bodyPr/>
          <a:lstStyle/>
          <a:p>
            <a:endParaRPr lang="en-IN"/>
          </a:p>
        </p:txBody>
      </p:sp>
      <p:sp>
        <p:nvSpPr>
          <p:cNvPr id="64" name="Text 62"/>
          <p:cNvSpPr/>
          <p:nvPr/>
        </p:nvSpPr>
        <p:spPr>
          <a:xfrm>
            <a:off x="6922008" y="1371600"/>
            <a:ext cx="1682496" cy="237744"/>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PostgreSQL 15</a:t>
            </a:r>
            <a:endParaRPr lang="en-US" sz="1100" dirty="0"/>
          </a:p>
        </p:txBody>
      </p:sp>
      <p:sp>
        <p:nvSpPr>
          <p:cNvPr id="65" name="Text 63"/>
          <p:cNvSpPr/>
          <p:nvPr/>
        </p:nvSpPr>
        <p:spPr>
          <a:xfrm>
            <a:off x="6922008" y="1609344"/>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Primary production database</a:t>
            </a:r>
            <a:endParaRPr lang="en-US" sz="950" dirty="0"/>
          </a:p>
        </p:txBody>
      </p:sp>
      <p:sp>
        <p:nvSpPr>
          <p:cNvPr id="66" name="Shape 64"/>
          <p:cNvSpPr/>
          <p:nvPr/>
        </p:nvSpPr>
        <p:spPr>
          <a:xfrm>
            <a:off x="6858000" y="2029968"/>
            <a:ext cx="1810512" cy="566928"/>
          </a:xfrm>
          <a:prstGeom prst="rect">
            <a:avLst/>
          </a:prstGeom>
          <a:solidFill>
            <a:srgbClr val="FFFFFF"/>
          </a:solidFill>
          <a:ln w="12700">
            <a:solidFill>
              <a:srgbClr val="CBD8E4"/>
            </a:solidFill>
            <a:prstDash val="solid"/>
          </a:ln>
        </p:spPr>
        <p:txBody>
          <a:bodyPr/>
          <a:lstStyle/>
          <a:p>
            <a:endParaRPr lang="en-IN"/>
          </a:p>
        </p:txBody>
      </p:sp>
      <p:sp>
        <p:nvSpPr>
          <p:cNvPr id="67" name="Text 65"/>
          <p:cNvSpPr/>
          <p:nvPr/>
        </p:nvSpPr>
        <p:spPr>
          <a:xfrm>
            <a:off x="6922008" y="2066544"/>
            <a:ext cx="1682496" cy="237744"/>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SQLite</a:t>
            </a:r>
            <a:endParaRPr lang="en-US" sz="1100" dirty="0"/>
          </a:p>
        </p:txBody>
      </p:sp>
      <p:sp>
        <p:nvSpPr>
          <p:cNvPr id="68" name="Text 66"/>
          <p:cNvSpPr/>
          <p:nvPr/>
        </p:nvSpPr>
        <p:spPr>
          <a:xfrm>
            <a:off x="6922008" y="2304288"/>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Local dev fallback (no Docker)</a:t>
            </a:r>
            <a:endParaRPr lang="en-US" sz="950" dirty="0"/>
          </a:p>
        </p:txBody>
      </p:sp>
      <p:sp>
        <p:nvSpPr>
          <p:cNvPr id="69" name="Shape 67"/>
          <p:cNvSpPr/>
          <p:nvPr/>
        </p:nvSpPr>
        <p:spPr>
          <a:xfrm>
            <a:off x="6858000" y="2724912"/>
            <a:ext cx="1810512" cy="566928"/>
          </a:xfrm>
          <a:prstGeom prst="rect">
            <a:avLst/>
          </a:prstGeom>
          <a:solidFill>
            <a:srgbClr val="E8F1FA"/>
          </a:solidFill>
          <a:ln w="12700">
            <a:solidFill>
              <a:srgbClr val="CBD8E4"/>
            </a:solidFill>
            <a:prstDash val="solid"/>
          </a:ln>
        </p:spPr>
        <p:txBody>
          <a:bodyPr/>
          <a:lstStyle/>
          <a:p>
            <a:endParaRPr lang="en-IN"/>
          </a:p>
        </p:txBody>
      </p:sp>
      <p:sp>
        <p:nvSpPr>
          <p:cNvPr id="70" name="Text 68"/>
          <p:cNvSpPr/>
          <p:nvPr/>
        </p:nvSpPr>
        <p:spPr>
          <a:xfrm>
            <a:off x="6922008" y="2761488"/>
            <a:ext cx="1682496" cy="237744"/>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Optuna</a:t>
            </a:r>
            <a:endParaRPr lang="en-US" sz="1100" dirty="0"/>
          </a:p>
        </p:txBody>
      </p:sp>
      <p:sp>
        <p:nvSpPr>
          <p:cNvPr id="71" name="Text 69"/>
          <p:cNvSpPr/>
          <p:nvPr/>
        </p:nvSpPr>
        <p:spPr>
          <a:xfrm>
            <a:off x="6922008" y="2999232"/>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Bayesian hyperparameter tuning</a:t>
            </a:r>
            <a:endParaRPr lang="en-US" sz="950" dirty="0"/>
          </a:p>
        </p:txBody>
      </p:sp>
      <p:sp>
        <p:nvSpPr>
          <p:cNvPr id="72" name="Shape 70"/>
          <p:cNvSpPr/>
          <p:nvPr/>
        </p:nvSpPr>
        <p:spPr>
          <a:xfrm>
            <a:off x="6858000" y="3419856"/>
            <a:ext cx="1810512" cy="566928"/>
          </a:xfrm>
          <a:prstGeom prst="rect">
            <a:avLst/>
          </a:prstGeom>
          <a:solidFill>
            <a:srgbClr val="FFFFFF"/>
          </a:solidFill>
          <a:ln w="12700">
            <a:solidFill>
              <a:srgbClr val="CBD8E4"/>
            </a:solidFill>
            <a:prstDash val="solid"/>
          </a:ln>
        </p:spPr>
        <p:txBody>
          <a:bodyPr/>
          <a:lstStyle/>
          <a:p>
            <a:endParaRPr lang="en-IN"/>
          </a:p>
        </p:txBody>
      </p:sp>
      <p:sp>
        <p:nvSpPr>
          <p:cNvPr id="73" name="Text 71"/>
          <p:cNvSpPr/>
          <p:nvPr/>
        </p:nvSpPr>
        <p:spPr>
          <a:xfrm>
            <a:off x="6922008" y="3456432"/>
            <a:ext cx="1682496" cy="237744"/>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Pandas + NumPy</a:t>
            </a:r>
            <a:endParaRPr lang="en-US" sz="1100" dirty="0"/>
          </a:p>
        </p:txBody>
      </p:sp>
      <p:sp>
        <p:nvSpPr>
          <p:cNvPr id="74" name="Text 72"/>
          <p:cNvSpPr/>
          <p:nvPr/>
        </p:nvSpPr>
        <p:spPr>
          <a:xfrm>
            <a:off x="6922008" y="3694176"/>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Feature engineering pipelines</a:t>
            </a:r>
            <a:endParaRPr lang="en-US" sz="950" dirty="0"/>
          </a:p>
        </p:txBody>
      </p:sp>
      <p:sp>
        <p:nvSpPr>
          <p:cNvPr id="75" name="Shape 73"/>
          <p:cNvSpPr/>
          <p:nvPr/>
        </p:nvSpPr>
        <p:spPr>
          <a:xfrm>
            <a:off x="6858000" y="4114800"/>
            <a:ext cx="1810512" cy="566928"/>
          </a:xfrm>
          <a:prstGeom prst="rect">
            <a:avLst/>
          </a:prstGeom>
          <a:solidFill>
            <a:srgbClr val="E8F1FA"/>
          </a:solidFill>
          <a:ln w="12700">
            <a:solidFill>
              <a:srgbClr val="CBD8E4"/>
            </a:solidFill>
            <a:prstDash val="solid"/>
          </a:ln>
        </p:spPr>
        <p:txBody>
          <a:bodyPr/>
          <a:lstStyle/>
          <a:p>
            <a:endParaRPr lang="en-IN"/>
          </a:p>
        </p:txBody>
      </p:sp>
      <p:sp>
        <p:nvSpPr>
          <p:cNvPr id="76" name="Text 74"/>
          <p:cNvSpPr/>
          <p:nvPr/>
        </p:nvSpPr>
        <p:spPr>
          <a:xfrm>
            <a:off x="6922008" y="4151376"/>
            <a:ext cx="1682496" cy="237744"/>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Isolation Forest</a:t>
            </a:r>
            <a:endParaRPr lang="en-US" sz="1100" dirty="0"/>
          </a:p>
        </p:txBody>
      </p:sp>
      <p:sp>
        <p:nvSpPr>
          <p:cNvPr id="77" name="Text 75"/>
          <p:cNvSpPr/>
          <p:nvPr/>
        </p:nvSpPr>
        <p:spPr>
          <a:xfrm>
            <a:off x="6922008" y="4389120"/>
            <a:ext cx="1682496" cy="256032"/>
          </a:xfrm>
          <a:prstGeom prst="rect">
            <a:avLst/>
          </a:prstGeom>
          <a:noFill/>
          <a:ln/>
        </p:spPr>
        <p:txBody>
          <a:bodyPr wrap="square" rtlCol="0" anchor="ctr"/>
          <a:lstStyle/>
          <a:p>
            <a:pPr marL="0" indent="0">
              <a:buNone/>
            </a:pPr>
            <a:r>
              <a:rPr lang="en-US" sz="950" dirty="0">
                <a:solidFill>
                  <a:srgbClr val="607D8B"/>
                </a:solidFill>
                <a:latin typeface="Calibri" pitchFamily="34" charset="0"/>
                <a:ea typeface="Calibri" pitchFamily="34" charset="-122"/>
                <a:cs typeface="Calibri" pitchFamily="34" charset="-120"/>
              </a:rPr>
              <a:t>Anomaly detection in ingestion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05</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Key Features</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Dashboard · Inventory · Suppliers · Departments · Alerts</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Key Feature — Main Dashboard</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320040" y="749808"/>
            <a:ext cx="8503920" cy="310896"/>
          </a:xfrm>
          <a:prstGeom prst="rect">
            <a:avLst/>
          </a:prstGeom>
          <a:noFill/>
          <a:ln/>
        </p:spPr>
        <p:txBody>
          <a:bodyPr wrap="square" rtlCol="0" anchor="ctr"/>
          <a:lstStyle/>
          <a:p>
            <a:pPr marL="0" indent="0">
              <a:buNone/>
            </a:pPr>
            <a:r>
              <a:rPr lang="en-US" sz="1300" b="1" dirty="0">
                <a:solidFill>
                  <a:srgbClr val="1A6FBF"/>
                </a:solidFill>
                <a:latin typeface="Calibri" pitchFamily="34" charset="0"/>
                <a:ea typeface="Calibri" pitchFamily="34" charset="-122"/>
                <a:cs typeface="Calibri" pitchFamily="34" charset="-120"/>
              </a:rPr>
              <a:t>Real-time KPI overview for the entire hospital inventory</a:t>
            </a:r>
            <a:endParaRPr lang="en-US" sz="1300" dirty="0"/>
          </a:p>
        </p:txBody>
      </p:sp>
      <p:sp>
        <p:nvSpPr>
          <p:cNvPr id="7" name="Text 5"/>
          <p:cNvSpPr/>
          <p:nvPr/>
        </p:nvSpPr>
        <p:spPr>
          <a:xfrm>
            <a:off x="320040" y="1024128"/>
            <a:ext cx="8503920" cy="502920"/>
          </a:xfrm>
          <a:prstGeom prst="rect">
            <a:avLst/>
          </a:prstGeom>
          <a:noFill/>
          <a:ln/>
        </p:spPr>
        <p:txBody>
          <a:bodyPr wrap="square" rtlCol="0" anchor="ctr"/>
          <a:lstStyle/>
          <a:p>
            <a:pPr marL="0" indent="0">
              <a:lnSpc>
                <a:spcPct val="140000"/>
              </a:lnSpc>
              <a:buNone/>
            </a:pPr>
            <a:r>
              <a:rPr lang="en-US" sz="1100" dirty="0">
                <a:solidFill>
                  <a:srgbClr val="607D8B"/>
                </a:solidFill>
                <a:latin typeface="Calibri" pitchFamily="34" charset="0"/>
                <a:ea typeface="Calibri" pitchFamily="34" charset="-122"/>
                <a:cs typeface="Calibri" pitchFamily="34" charset="-120"/>
              </a:rPr>
              <a:t>Shows Total Items (680), Low Stock (10), Expiring Soon (120), Total Value ($120.7M), Pending Orders — plus category bar chart, stock status donut, and ML-flagged at-risk items surfacing directly on screen.</a:t>
            </a:r>
            <a:endParaRPr lang="en-US" sz="1100" dirty="0"/>
          </a:p>
        </p:txBody>
      </p:sp>
      <p:pic>
        <p:nvPicPr>
          <p:cNvPr id="8" name="Image 0" descr="preencoded.png"/>
          <p:cNvPicPr>
            <a:picLocks noChangeAspect="1"/>
          </p:cNvPicPr>
          <p:nvPr/>
        </p:nvPicPr>
        <p:blipFill>
          <a:blip r:embed="rId3"/>
          <a:stretch>
            <a:fillRect/>
          </a:stretch>
        </p:blipFill>
        <p:spPr>
          <a:xfrm>
            <a:off x="1088571" y="1600200"/>
            <a:ext cx="6966857" cy="2926080"/>
          </a:xfrm>
          <a:prstGeom prst="rect">
            <a:avLst/>
          </a:prstGeom>
          <a:effectLst>
            <a:outerShdw blurRad="127000" dist="38100" dir="8100000" algn="bl" rotWithShape="0">
              <a:srgbClr val="000000">
                <a:alpha val="9000"/>
              </a:srgbClr>
            </a:outerShdw>
          </a:effectLst>
        </p:spPr>
      </p:pic>
      <p:sp>
        <p:nvSpPr>
          <p:cNvPr id="9" name="Shape 6"/>
          <p:cNvSpPr/>
          <p:nvPr/>
        </p:nvSpPr>
        <p:spPr>
          <a:xfrm>
            <a:off x="320040"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0" name="Text 7"/>
          <p:cNvSpPr/>
          <p:nvPr/>
        </p:nvSpPr>
        <p:spPr>
          <a:xfrm>
            <a:off x="320040"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Real-time KPI cards</a:t>
            </a:r>
            <a:endParaRPr lang="en-US" sz="950" dirty="0"/>
          </a:p>
        </p:txBody>
      </p:sp>
      <p:sp>
        <p:nvSpPr>
          <p:cNvPr id="11" name="Shape 8"/>
          <p:cNvSpPr/>
          <p:nvPr/>
        </p:nvSpPr>
        <p:spPr>
          <a:xfrm>
            <a:off x="2551176"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2" name="Text 9"/>
          <p:cNvSpPr/>
          <p:nvPr/>
        </p:nvSpPr>
        <p:spPr>
          <a:xfrm>
            <a:off x="2551176"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Category breakdown chart</a:t>
            </a:r>
            <a:endParaRPr lang="en-US" sz="950" dirty="0"/>
          </a:p>
        </p:txBody>
      </p:sp>
      <p:sp>
        <p:nvSpPr>
          <p:cNvPr id="13" name="Shape 10"/>
          <p:cNvSpPr/>
          <p:nvPr/>
        </p:nvSpPr>
        <p:spPr>
          <a:xfrm>
            <a:off x="4782312"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4" name="Text 11"/>
          <p:cNvSpPr/>
          <p:nvPr/>
        </p:nvSpPr>
        <p:spPr>
          <a:xfrm>
            <a:off x="4782312"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Stock status donut</a:t>
            </a:r>
            <a:endParaRPr lang="en-US" sz="950" dirty="0"/>
          </a:p>
        </p:txBody>
      </p:sp>
      <p:sp>
        <p:nvSpPr>
          <p:cNvPr id="15" name="Shape 12"/>
          <p:cNvSpPr/>
          <p:nvPr/>
        </p:nvSpPr>
        <p:spPr>
          <a:xfrm>
            <a:off x="7013448"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6" name="Text 13"/>
          <p:cNvSpPr/>
          <p:nvPr/>
        </p:nvSpPr>
        <p:spPr>
          <a:xfrm>
            <a:off x="7013448"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ML-powered risk feed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Key Feature — Inventory Management</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320040" y="749808"/>
            <a:ext cx="8503920" cy="310896"/>
          </a:xfrm>
          <a:prstGeom prst="rect">
            <a:avLst/>
          </a:prstGeom>
          <a:noFill/>
          <a:ln/>
        </p:spPr>
        <p:txBody>
          <a:bodyPr wrap="square" rtlCol="0" anchor="ctr"/>
          <a:lstStyle/>
          <a:p>
            <a:pPr marL="0" indent="0">
              <a:buNone/>
            </a:pPr>
            <a:r>
              <a:rPr lang="en-US" sz="1300" b="1" dirty="0">
                <a:solidFill>
                  <a:srgbClr val="1A6FBF"/>
                </a:solidFill>
                <a:latin typeface="Calibri" pitchFamily="34" charset="0"/>
                <a:ea typeface="Calibri" pitchFamily="34" charset="-122"/>
                <a:cs typeface="Calibri" pitchFamily="34" charset="-120"/>
              </a:rPr>
              <a:t>Full catalogue with inline status, filters and item drill-down</a:t>
            </a:r>
            <a:endParaRPr lang="en-US" sz="1300" dirty="0"/>
          </a:p>
        </p:txBody>
      </p:sp>
      <p:sp>
        <p:nvSpPr>
          <p:cNvPr id="7" name="Text 5"/>
          <p:cNvSpPr/>
          <p:nvPr/>
        </p:nvSpPr>
        <p:spPr>
          <a:xfrm>
            <a:off x="320040" y="1024128"/>
            <a:ext cx="8503920" cy="502920"/>
          </a:xfrm>
          <a:prstGeom prst="rect">
            <a:avLst/>
          </a:prstGeom>
          <a:noFill/>
          <a:ln/>
        </p:spPr>
        <p:txBody>
          <a:bodyPr wrap="square" rtlCol="0" anchor="ctr"/>
          <a:lstStyle/>
          <a:p>
            <a:pPr marL="0" indent="0">
              <a:lnSpc>
                <a:spcPct val="140000"/>
              </a:lnSpc>
              <a:buNone/>
            </a:pPr>
            <a:r>
              <a:rPr lang="en-US" sz="1100" dirty="0">
                <a:solidFill>
                  <a:srgbClr val="607D8B"/>
                </a:solidFill>
                <a:latin typeface="Calibri" pitchFamily="34" charset="0"/>
                <a:ea typeface="Calibri" pitchFamily="34" charset="-122"/>
                <a:cs typeface="Calibri" pitchFamily="34" charset="-120"/>
              </a:rPr>
              <a:t>Browse 680+ items across Medicines, Equipment, Surgical Supplies, PPE, Lab Reagents and Blood Bank. Each row shows stock status badge, unit price, quantity, expiry date and reorder level. Click any item for full consumption history.</a:t>
            </a:r>
            <a:endParaRPr lang="en-US" sz="1100" dirty="0"/>
          </a:p>
        </p:txBody>
      </p:sp>
      <p:pic>
        <p:nvPicPr>
          <p:cNvPr id="8" name="Image 0" descr="preencoded.png"/>
          <p:cNvPicPr>
            <a:picLocks noChangeAspect="1"/>
          </p:cNvPicPr>
          <p:nvPr/>
        </p:nvPicPr>
        <p:blipFill>
          <a:blip r:embed="rId3"/>
          <a:stretch>
            <a:fillRect/>
          </a:stretch>
        </p:blipFill>
        <p:spPr>
          <a:xfrm>
            <a:off x="1808288" y="1600200"/>
            <a:ext cx="5527424" cy="2926080"/>
          </a:xfrm>
          <a:prstGeom prst="rect">
            <a:avLst/>
          </a:prstGeom>
          <a:effectLst>
            <a:outerShdw blurRad="127000" dist="38100" dir="8100000" algn="bl" rotWithShape="0">
              <a:srgbClr val="000000">
                <a:alpha val="9000"/>
              </a:srgbClr>
            </a:outerShdw>
          </a:effectLst>
        </p:spPr>
      </p:pic>
      <p:sp>
        <p:nvSpPr>
          <p:cNvPr id="9" name="Shape 6"/>
          <p:cNvSpPr/>
          <p:nvPr/>
        </p:nvSpPr>
        <p:spPr>
          <a:xfrm>
            <a:off x="320040"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0" name="Text 7"/>
          <p:cNvSpPr/>
          <p:nvPr/>
        </p:nvSpPr>
        <p:spPr>
          <a:xfrm>
            <a:off x="320040"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Status badge per item</a:t>
            </a:r>
            <a:endParaRPr lang="en-US" sz="950" dirty="0"/>
          </a:p>
        </p:txBody>
      </p:sp>
      <p:sp>
        <p:nvSpPr>
          <p:cNvPr id="11" name="Shape 8"/>
          <p:cNvSpPr/>
          <p:nvPr/>
        </p:nvSpPr>
        <p:spPr>
          <a:xfrm>
            <a:off x="2551176"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2" name="Text 9"/>
          <p:cNvSpPr/>
          <p:nvPr/>
        </p:nvSpPr>
        <p:spPr>
          <a:xfrm>
            <a:off x="2551176"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Expiry + reorder level</a:t>
            </a:r>
            <a:endParaRPr lang="en-US" sz="950" dirty="0"/>
          </a:p>
        </p:txBody>
      </p:sp>
      <p:sp>
        <p:nvSpPr>
          <p:cNvPr id="13" name="Shape 10"/>
          <p:cNvSpPr/>
          <p:nvPr/>
        </p:nvSpPr>
        <p:spPr>
          <a:xfrm>
            <a:off x="4782312"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4" name="Text 11"/>
          <p:cNvSpPr/>
          <p:nvPr/>
        </p:nvSpPr>
        <p:spPr>
          <a:xfrm>
            <a:off x="4782312"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Filter by category</a:t>
            </a:r>
            <a:endParaRPr lang="en-US" sz="950" dirty="0"/>
          </a:p>
        </p:txBody>
      </p:sp>
      <p:sp>
        <p:nvSpPr>
          <p:cNvPr id="15" name="Shape 12"/>
          <p:cNvSpPr/>
          <p:nvPr/>
        </p:nvSpPr>
        <p:spPr>
          <a:xfrm>
            <a:off x="7013448"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6" name="Text 13"/>
          <p:cNvSpPr/>
          <p:nvPr/>
        </p:nvSpPr>
        <p:spPr>
          <a:xfrm>
            <a:off x="7013448"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Drill-down detail view</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Key Feature — Supplier Management</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320040" y="749808"/>
            <a:ext cx="8503920" cy="310896"/>
          </a:xfrm>
          <a:prstGeom prst="rect">
            <a:avLst/>
          </a:prstGeom>
          <a:noFill/>
          <a:ln/>
        </p:spPr>
        <p:txBody>
          <a:bodyPr wrap="square" rtlCol="0" anchor="ctr"/>
          <a:lstStyle/>
          <a:p>
            <a:pPr marL="0" indent="0">
              <a:buNone/>
            </a:pPr>
            <a:r>
              <a:rPr lang="en-US" sz="1300" b="1" dirty="0">
                <a:solidFill>
                  <a:srgbClr val="1A6FBF"/>
                </a:solidFill>
                <a:latin typeface="Calibri" pitchFamily="34" charset="0"/>
                <a:ea typeface="Calibri" pitchFamily="34" charset="-122"/>
                <a:cs typeface="Calibri" pitchFamily="34" charset="-120"/>
              </a:rPr>
              <a:t>AI-scored supplier directory with PO integration and NLP review analysis</a:t>
            </a:r>
            <a:endParaRPr lang="en-US" sz="1300" dirty="0"/>
          </a:p>
        </p:txBody>
      </p:sp>
      <p:sp>
        <p:nvSpPr>
          <p:cNvPr id="7" name="Text 5"/>
          <p:cNvSpPr/>
          <p:nvPr/>
        </p:nvSpPr>
        <p:spPr>
          <a:xfrm>
            <a:off x="320040" y="1024128"/>
            <a:ext cx="8503920" cy="502920"/>
          </a:xfrm>
          <a:prstGeom prst="rect">
            <a:avLst/>
          </a:prstGeom>
          <a:noFill/>
          <a:ln/>
        </p:spPr>
        <p:txBody>
          <a:bodyPr wrap="square" rtlCol="0" anchor="ctr"/>
          <a:lstStyle/>
          <a:p>
            <a:pPr marL="0" indent="0">
              <a:lnSpc>
                <a:spcPct val="140000"/>
              </a:lnSpc>
              <a:buNone/>
            </a:pPr>
            <a:r>
              <a:rPr lang="en-US" sz="1100" dirty="0">
                <a:solidFill>
                  <a:srgbClr val="607D8B"/>
                </a:solidFill>
                <a:latin typeface="Calibri" pitchFamily="34" charset="0"/>
                <a:ea typeface="Calibri" pitchFamily="34" charset="-122"/>
                <a:cs typeface="Calibri" pitchFamily="34" charset="-120"/>
              </a:rPr>
              <a:t>Supplier reliability computed from: on-time delivery (25%), price competitiveness (20%), distance penalty (15%), reliability score (30%), and NLP sentiment of supplier reviews (10%). Weighted scoring drives automated PO supplier selection.</a:t>
            </a:r>
            <a:endParaRPr lang="en-US" sz="1100" dirty="0"/>
          </a:p>
        </p:txBody>
      </p:sp>
      <p:pic>
        <p:nvPicPr>
          <p:cNvPr id="8" name="Image 0" descr="preencoded.png"/>
          <p:cNvPicPr>
            <a:picLocks noChangeAspect="1"/>
          </p:cNvPicPr>
          <p:nvPr/>
        </p:nvPicPr>
        <p:blipFill>
          <a:blip r:embed="rId3"/>
          <a:stretch>
            <a:fillRect/>
          </a:stretch>
        </p:blipFill>
        <p:spPr>
          <a:xfrm>
            <a:off x="937118" y="1600200"/>
            <a:ext cx="7269764" cy="2926080"/>
          </a:xfrm>
          <a:prstGeom prst="rect">
            <a:avLst/>
          </a:prstGeom>
          <a:effectLst>
            <a:outerShdw blurRad="127000" dist="38100" dir="8100000" algn="bl" rotWithShape="0">
              <a:srgbClr val="000000">
                <a:alpha val="9000"/>
              </a:srgbClr>
            </a:outerShdw>
          </a:effectLst>
        </p:spPr>
      </p:pic>
      <p:sp>
        <p:nvSpPr>
          <p:cNvPr id="9" name="Shape 6"/>
          <p:cNvSpPr/>
          <p:nvPr/>
        </p:nvSpPr>
        <p:spPr>
          <a:xfrm>
            <a:off x="320040"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0" name="Text 7"/>
          <p:cNvSpPr/>
          <p:nvPr/>
        </p:nvSpPr>
        <p:spPr>
          <a:xfrm>
            <a:off x="320040"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5-factor weighted scoring</a:t>
            </a:r>
            <a:endParaRPr lang="en-US" sz="950" dirty="0"/>
          </a:p>
        </p:txBody>
      </p:sp>
      <p:sp>
        <p:nvSpPr>
          <p:cNvPr id="11" name="Shape 8"/>
          <p:cNvSpPr/>
          <p:nvPr/>
        </p:nvSpPr>
        <p:spPr>
          <a:xfrm>
            <a:off x="2551176"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2" name="Text 9"/>
          <p:cNvSpPr/>
          <p:nvPr/>
        </p:nvSpPr>
        <p:spPr>
          <a:xfrm>
            <a:off x="2551176"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NLP review sentiment</a:t>
            </a:r>
            <a:endParaRPr lang="en-US" sz="950" dirty="0"/>
          </a:p>
        </p:txBody>
      </p:sp>
      <p:sp>
        <p:nvSpPr>
          <p:cNvPr id="13" name="Shape 10"/>
          <p:cNvSpPr/>
          <p:nvPr/>
        </p:nvSpPr>
        <p:spPr>
          <a:xfrm>
            <a:off x="4782312"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4" name="Text 11"/>
          <p:cNvSpPr/>
          <p:nvPr/>
        </p:nvSpPr>
        <p:spPr>
          <a:xfrm>
            <a:off x="4782312"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Lead-time tracking</a:t>
            </a:r>
            <a:endParaRPr lang="en-US" sz="950" dirty="0"/>
          </a:p>
        </p:txBody>
      </p:sp>
      <p:sp>
        <p:nvSpPr>
          <p:cNvPr id="15" name="Shape 12"/>
          <p:cNvSpPr/>
          <p:nvPr/>
        </p:nvSpPr>
        <p:spPr>
          <a:xfrm>
            <a:off x="7013448" y="4663440"/>
            <a:ext cx="2084832" cy="292608"/>
          </a:xfrm>
          <a:prstGeom prst="rect">
            <a:avLst/>
          </a:prstGeom>
          <a:solidFill>
            <a:srgbClr val="E8F1FA"/>
          </a:solidFill>
          <a:ln w="12700">
            <a:solidFill>
              <a:srgbClr val="D0E4F5"/>
            </a:solidFill>
            <a:prstDash val="solid"/>
          </a:ln>
        </p:spPr>
        <p:txBody>
          <a:bodyPr/>
          <a:lstStyle/>
          <a:p>
            <a:endParaRPr lang="en-IN"/>
          </a:p>
        </p:txBody>
      </p:sp>
      <p:sp>
        <p:nvSpPr>
          <p:cNvPr id="16" name="Text 13"/>
          <p:cNvSpPr/>
          <p:nvPr/>
        </p:nvSpPr>
        <p:spPr>
          <a:xfrm>
            <a:off x="7013448" y="4663440"/>
            <a:ext cx="2084832" cy="292608"/>
          </a:xfrm>
          <a:prstGeom prst="rect">
            <a:avLst/>
          </a:prstGeom>
          <a:noFill/>
          <a:ln/>
        </p:spPr>
        <p:txBody>
          <a:bodyPr wrap="square" rtlCol="0" anchor="ctr"/>
          <a:lstStyle/>
          <a:p>
            <a:pPr marL="0" indent="0" algn="ctr">
              <a:buNone/>
            </a:pPr>
            <a:r>
              <a:rPr lang="en-US" sz="950" dirty="0">
                <a:solidFill>
                  <a:srgbClr val="1A6FBF"/>
                </a:solidFill>
                <a:latin typeface="Calibri" pitchFamily="34" charset="0"/>
                <a:ea typeface="Calibri" pitchFamily="34" charset="-122"/>
                <a:cs typeface="Calibri" pitchFamily="34" charset="-120"/>
              </a:rPr>
              <a:t>One-click PO creation</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Key Feature — Department Budget Tracking</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320040" y="749808"/>
            <a:ext cx="8503920" cy="310896"/>
          </a:xfrm>
          <a:prstGeom prst="rect">
            <a:avLst/>
          </a:prstGeom>
          <a:noFill/>
          <a:ln/>
        </p:spPr>
        <p:txBody>
          <a:bodyPr wrap="square" rtlCol="0" anchor="ctr"/>
          <a:lstStyle/>
          <a:p>
            <a:pPr marL="0" indent="0">
              <a:buNone/>
            </a:pPr>
            <a:r>
              <a:rPr lang="en-US" sz="1300" b="1" dirty="0">
                <a:solidFill>
                  <a:srgbClr val="1A6FBF"/>
                </a:solidFill>
                <a:latin typeface="Calibri" pitchFamily="34" charset="0"/>
                <a:ea typeface="Calibri" pitchFamily="34" charset="-122"/>
                <a:cs typeface="Calibri" pitchFamily="34" charset="-120"/>
              </a:rPr>
              <a:t>Budget utilization and actual spend analytics per ward/department</a:t>
            </a:r>
            <a:endParaRPr lang="en-US" sz="1300" dirty="0"/>
          </a:p>
        </p:txBody>
      </p:sp>
      <p:sp>
        <p:nvSpPr>
          <p:cNvPr id="7" name="Text 5"/>
          <p:cNvSpPr/>
          <p:nvPr/>
        </p:nvSpPr>
        <p:spPr>
          <a:xfrm>
            <a:off x="320040" y="1024128"/>
            <a:ext cx="8503920" cy="502920"/>
          </a:xfrm>
          <a:prstGeom prst="rect">
            <a:avLst/>
          </a:prstGeom>
          <a:noFill/>
          <a:ln/>
        </p:spPr>
        <p:txBody>
          <a:bodyPr wrap="square" rtlCol="0" anchor="ctr"/>
          <a:lstStyle/>
          <a:p>
            <a:pPr marL="0" indent="0">
              <a:lnSpc>
                <a:spcPct val="140000"/>
              </a:lnSpc>
              <a:buNone/>
            </a:pPr>
            <a:r>
              <a:rPr lang="en-US" sz="1100" dirty="0">
                <a:solidFill>
                  <a:srgbClr val="607D8B"/>
                </a:solidFill>
                <a:latin typeface="Calibri" pitchFamily="34" charset="0"/>
                <a:ea typeface="Calibri" pitchFamily="34" charset="-122"/>
                <a:cs typeface="Calibri" pitchFamily="34" charset="-120"/>
              </a:rPr>
              <a:t>Each department's allocated budget vs actual spend visualised with bar charts. Procurement teams identify overruns early and re-prioritise spending across wards before month-end.</a:t>
            </a:r>
            <a:endParaRPr lang="en-US" sz="1100" dirty="0"/>
          </a:p>
        </p:txBody>
      </p:sp>
      <p:pic>
        <p:nvPicPr>
          <p:cNvPr id="8" name="Image 0" descr="preencoded.png"/>
          <p:cNvPicPr>
            <a:picLocks noChangeAspect="1"/>
          </p:cNvPicPr>
          <p:nvPr/>
        </p:nvPicPr>
        <p:blipFill>
          <a:blip r:embed="rId3"/>
          <a:stretch>
            <a:fillRect/>
          </a:stretch>
        </p:blipFill>
        <p:spPr>
          <a:xfrm>
            <a:off x="274320" y="1609344"/>
            <a:ext cx="4160520" cy="1502931"/>
          </a:xfrm>
          <a:prstGeom prst="rect">
            <a:avLst/>
          </a:prstGeom>
          <a:effectLst>
            <a:outerShdw blurRad="127000" dist="38100" dir="8100000" algn="bl" rotWithShape="0">
              <a:srgbClr val="000000">
                <a:alpha val="9000"/>
              </a:srgbClr>
            </a:outerShdw>
          </a:effectLst>
        </p:spPr>
      </p:pic>
      <p:pic>
        <p:nvPicPr>
          <p:cNvPr id="9" name="Image 1" descr="preencoded.png"/>
          <p:cNvPicPr>
            <a:picLocks noChangeAspect="1"/>
          </p:cNvPicPr>
          <p:nvPr/>
        </p:nvPicPr>
        <p:blipFill>
          <a:blip r:embed="rId4"/>
          <a:stretch>
            <a:fillRect/>
          </a:stretch>
        </p:blipFill>
        <p:spPr>
          <a:xfrm>
            <a:off x="4681728" y="1609344"/>
            <a:ext cx="4160520" cy="2334409"/>
          </a:xfrm>
          <a:prstGeom prst="rect">
            <a:avLst/>
          </a:prstGeom>
          <a:effectLst>
            <a:outerShdw blurRad="127000" dist="38100" dir="8100000" algn="bl" rotWithShape="0">
              <a:srgbClr val="000000">
                <a:alpha val="9000"/>
              </a:srgbClr>
            </a:outerShdw>
          </a:effectLst>
        </p:spPr>
      </p:pic>
      <p:sp>
        <p:nvSpPr>
          <p:cNvPr id="10" name="Shape 6"/>
          <p:cNvSpPr/>
          <p:nvPr/>
        </p:nvSpPr>
        <p:spPr>
          <a:xfrm>
            <a:off x="320040" y="4663440"/>
            <a:ext cx="2743200" cy="292608"/>
          </a:xfrm>
          <a:prstGeom prst="rect">
            <a:avLst/>
          </a:prstGeom>
          <a:solidFill>
            <a:srgbClr val="E0F2F1"/>
          </a:solidFill>
          <a:ln w="12700">
            <a:solidFill>
              <a:srgbClr val="E0F2F1"/>
            </a:solidFill>
            <a:prstDash val="solid"/>
          </a:ln>
        </p:spPr>
        <p:txBody>
          <a:bodyPr/>
          <a:lstStyle/>
          <a:p>
            <a:endParaRPr lang="en-IN"/>
          </a:p>
        </p:txBody>
      </p:sp>
      <p:sp>
        <p:nvSpPr>
          <p:cNvPr id="11" name="Text 7"/>
          <p:cNvSpPr/>
          <p:nvPr/>
        </p:nvSpPr>
        <p:spPr>
          <a:xfrm>
            <a:off x="320040" y="4663440"/>
            <a:ext cx="2743200" cy="292608"/>
          </a:xfrm>
          <a:prstGeom prst="rect">
            <a:avLst/>
          </a:prstGeom>
          <a:noFill/>
          <a:ln/>
        </p:spPr>
        <p:txBody>
          <a:bodyPr wrap="square" rtlCol="0" anchor="ctr"/>
          <a:lstStyle/>
          <a:p>
            <a:pPr marL="0" indent="0" algn="ctr">
              <a:buNone/>
            </a:pPr>
            <a:r>
              <a:rPr lang="en-US" sz="950" dirty="0">
                <a:solidFill>
                  <a:srgbClr val="00796B"/>
                </a:solidFill>
                <a:latin typeface="Calibri" pitchFamily="34" charset="0"/>
                <a:ea typeface="Calibri" pitchFamily="34" charset="-122"/>
                <a:cs typeface="Calibri" pitchFamily="34" charset="-120"/>
              </a:rPr>
              <a:t>Budget vs Actual per dept</a:t>
            </a:r>
            <a:endParaRPr lang="en-US" sz="950" dirty="0"/>
          </a:p>
        </p:txBody>
      </p:sp>
      <p:sp>
        <p:nvSpPr>
          <p:cNvPr id="12" name="Shape 8"/>
          <p:cNvSpPr/>
          <p:nvPr/>
        </p:nvSpPr>
        <p:spPr>
          <a:xfrm>
            <a:off x="3264408" y="4663440"/>
            <a:ext cx="2743200" cy="292608"/>
          </a:xfrm>
          <a:prstGeom prst="rect">
            <a:avLst/>
          </a:prstGeom>
          <a:solidFill>
            <a:srgbClr val="E0F2F1"/>
          </a:solidFill>
          <a:ln w="12700">
            <a:solidFill>
              <a:srgbClr val="E0F2F1"/>
            </a:solidFill>
            <a:prstDash val="solid"/>
          </a:ln>
        </p:spPr>
        <p:txBody>
          <a:bodyPr/>
          <a:lstStyle/>
          <a:p>
            <a:endParaRPr lang="en-IN"/>
          </a:p>
        </p:txBody>
      </p:sp>
      <p:sp>
        <p:nvSpPr>
          <p:cNvPr id="13" name="Text 9"/>
          <p:cNvSpPr/>
          <p:nvPr/>
        </p:nvSpPr>
        <p:spPr>
          <a:xfrm>
            <a:off x="3264408" y="4663440"/>
            <a:ext cx="2743200" cy="292608"/>
          </a:xfrm>
          <a:prstGeom prst="rect">
            <a:avLst/>
          </a:prstGeom>
          <a:noFill/>
          <a:ln/>
        </p:spPr>
        <p:txBody>
          <a:bodyPr wrap="square" rtlCol="0" anchor="ctr"/>
          <a:lstStyle/>
          <a:p>
            <a:pPr marL="0" indent="0" algn="ctr">
              <a:buNone/>
            </a:pPr>
            <a:r>
              <a:rPr lang="en-US" sz="950" dirty="0">
                <a:solidFill>
                  <a:srgbClr val="00796B"/>
                </a:solidFill>
                <a:latin typeface="Calibri" pitchFamily="34" charset="0"/>
                <a:ea typeface="Calibri" pitchFamily="34" charset="-122"/>
                <a:cs typeface="Calibri" pitchFamily="34" charset="-120"/>
              </a:rPr>
              <a:t>Visual overspend alerts</a:t>
            </a:r>
            <a:endParaRPr lang="en-US" sz="950" dirty="0"/>
          </a:p>
        </p:txBody>
      </p:sp>
      <p:sp>
        <p:nvSpPr>
          <p:cNvPr id="14" name="Shape 10"/>
          <p:cNvSpPr/>
          <p:nvPr/>
        </p:nvSpPr>
        <p:spPr>
          <a:xfrm>
            <a:off x="6208776" y="4663440"/>
            <a:ext cx="2743200" cy="292608"/>
          </a:xfrm>
          <a:prstGeom prst="rect">
            <a:avLst/>
          </a:prstGeom>
          <a:solidFill>
            <a:srgbClr val="E0F2F1"/>
          </a:solidFill>
          <a:ln w="12700">
            <a:solidFill>
              <a:srgbClr val="E0F2F1"/>
            </a:solidFill>
            <a:prstDash val="solid"/>
          </a:ln>
        </p:spPr>
        <p:txBody>
          <a:bodyPr/>
          <a:lstStyle/>
          <a:p>
            <a:endParaRPr lang="en-IN"/>
          </a:p>
        </p:txBody>
      </p:sp>
      <p:sp>
        <p:nvSpPr>
          <p:cNvPr id="15" name="Text 11"/>
          <p:cNvSpPr/>
          <p:nvPr/>
        </p:nvSpPr>
        <p:spPr>
          <a:xfrm>
            <a:off x="6208776" y="4663440"/>
            <a:ext cx="2743200" cy="292608"/>
          </a:xfrm>
          <a:prstGeom prst="rect">
            <a:avLst/>
          </a:prstGeom>
          <a:noFill/>
          <a:ln/>
        </p:spPr>
        <p:txBody>
          <a:bodyPr wrap="square" rtlCol="0" anchor="ctr"/>
          <a:lstStyle/>
          <a:p>
            <a:pPr marL="0" indent="0" algn="ctr">
              <a:buNone/>
            </a:pPr>
            <a:r>
              <a:rPr lang="en-US" sz="950" dirty="0">
                <a:solidFill>
                  <a:srgbClr val="00796B"/>
                </a:solidFill>
                <a:latin typeface="Calibri" pitchFamily="34" charset="0"/>
                <a:ea typeface="Calibri" pitchFamily="34" charset="-122"/>
                <a:cs typeface="Calibri" pitchFamily="34" charset="-120"/>
              </a:rPr>
              <a:t>Multi-department view</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E65100"/>
          </a:solidFill>
          <a:ln w="12700">
            <a:solidFill>
              <a:srgbClr val="E65100"/>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Key Feature — Alerts &amp; Notifications</a:t>
            </a:r>
            <a:endParaRPr lang="en-US" sz="1800" dirty="0"/>
          </a:p>
        </p:txBody>
      </p:sp>
      <p:sp>
        <p:nvSpPr>
          <p:cNvPr id="5" name="Shape 3"/>
          <p:cNvSpPr/>
          <p:nvPr/>
        </p:nvSpPr>
        <p:spPr>
          <a:xfrm>
            <a:off x="201168" y="640080"/>
            <a:ext cx="8942832" cy="36576"/>
          </a:xfrm>
          <a:prstGeom prst="rect">
            <a:avLst/>
          </a:prstGeom>
          <a:solidFill>
            <a:srgbClr val="E65100"/>
          </a:solidFill>
          <a:ln w="12700">
            <a:solidFill>
              <a:srgbClr val="E65100"/>
            </a:solidFill>
            <a:prstDash val="solid"/>
          </a:ln>
        </p:spPr>
        <p:txBody>
          <a:bodyPr/>
          <a:lstStyle/>
          <a:p>
            <a:endParaRPr lang="en-IN"/>
          </a:p>
        </p:txBody>
      </p:sp>
      <p:sp>
        <p:nvSpPr>
          <p:cNvPr id="6" name="Text 4"/>
          <p:cNvSpPr/>
          <p:nvPr/>
        </p:nvSpPr>
        <p:spPr>
          <a:xfrm>
            <a:off x="320040" y="749808"/>
            <a:ext cx="8503920" cy="310896"/>
          </a:xfrm>
          <a:prstGeom prst="rect">
            <a:avLst/>
          </a:prstGeom>
          <a:noFill/>
          <a:ln/>
        </p:spPr>
        <p:txBody>
          <a:bodyPr wrap="square" rtlCol="0" anchor="ctr"/>
          <a:lstStyle/>
          <a:p>
            <a:pPr marL="0" indent="0">
              <a:buNone/>
            </a:pPr>
            <a:r>
              <a:rPr lang="en-US" sz="1300" b="1" dirty="0">
                <a:solidFill>
                  <a:srgbClr val="E65100"/>
                </a:solidFill>
                <a:latin typeface="Calibri" pitchFamily="34" charset="0"/>
                <a:ea typeface="Calibri" pitchFamily="34" charset="-122"/>
                <a:cs typeface="Calibri" pitchFamily="34" charset="-120"/>
              </a:rPr>
              <a:t>Severity-graded alert feed with full item context and acknowledgement workflow</a:t>
            </a:r>
            <a:endParaRPr lang="en-US" sz="1300" dirty="0"/>
          </a:p>
        </p:txBody>
      </p:sp>
      <p:sp>
        <p:nvSpPr>
          <p:cNvPr id="7" name="Text 5"/>
          <p:cNvSpPr/>
          <p:nvPr/>
        </p:nvSpPr>
        <p:spPr>
          <a:xfrm>
            <a:off x="320040" y="1024128"/>
            <a:ext cx="8503920" cy="548640"/>
          </a:xfrm>
          <a:prstGeom prst="rect">
            <a:avLst/>
          </a:prstGeom>
          <a:noFill/>
          <a:ln/>
        </p:spPr>
        <p:txBody>
          <a:bodyPr wrap="square" rtlCol="0" anchor="ctr"/>
          <a:lstStyle/>
          <a:p>
            <a:pPr marL="0" indent="0">
              <a:lnSpc>
                <a:spcPct val="140000"/>
              </a:lnSpc>
              <a:buNone/>
            </a:pPr>
            <a:r>
              <a:rPr lang="en-US" sz="1100" dirty="0">
                <a:solidFill>
                  <a:srgbClr val="607D8B"/>
                </a:solidFill>
                <a:latin typeface="Calibri" pitchFamily="34" charset="0"/>
                <a:ea typeface="Calibri" pitchFamily="34" charset="-122"/>
                <a:cs typeface="Calibri" pitchFamily="34" charset="-120"/>
              </a:rPr>
              <a:t>Alert engine flags items crossing reorder thresholds and ML-predicted risk levels. Severity: Critical / High / Medium / Low. Each alert shows item name, quantity, reorder level and expiry date. Unacknowledged alerts are prioritised at top. Notifications via email, SMS or log.</a:t>
            </a:r>
            <a:endParaRPr lang="en-US" sz="1100" dirty="0"/>
          </a:p>
        </p:txBody>
      </p:sp>
      <p:pic>
        <p:nvPicPr>
          <p:cNvPr id="8" name="Image 0" descr="preencoded.png"/>
          <p:cNvPicPr>
            <a:picLocks noChangeAspect="1"/>
          </p:cNvPicPr>
          <p:nvPr/>
        </p:nvPicPr>
        <p:blipFill>
          <a:blip r:embed="rId3"/>
          <a:stretch>
            <a:fillRect/>
          </a:stretch>
        </p:blipFill>
        <p:spPr>
          <a:xfrm>
            <a:off x="274320" y="1664208"/>
            <a:ext cx="4160520" cy="1745337"/>
          </a:xfrm>
          <a:prstGeom prst="rect">
            <a:avLst/>
          </a:prstGeom>
          <a:effectLst>
            <a:outerShdw blurRad="127000" dist="38100" dir="8100000" algn="bl" rotWithShape="0">
              <a:srgbClr val="000000">
                <a:alpha val="9000"/>
              </a:srgbClr>
            </a:outerShdw>
          </a:effectLst>
        </p:spPr>
      </p:pic>
      <p:pic>
        <p:nvPicPr>
          <p:cNvPr id="9" name="Image 1" descr="preencoded.png"/>
          <p:cNvPicPr>
            <a:picLocks noChangeAspect="1"/>
          </p:cNvPicPr>
          <p:nvPr/>
        </p:nvPicPr>
        <p:blipFill>
          <a:blip r:embed="rId4"/>
          <a:stretch>
            <a:fillRect/>
          </a:stretch>
        </p:blipFill>
        <p:spPr>
          <a:xfrm>
            <a:off x="4681728" y="1664208"/>
            <a:ext cx="4160520" cy="2603034"/>
          </a:xfrm>
          <a:prstGeom prst="rect">
            <a:avLst/>
          </a:prstGeom>
          <a:effectLst>
            <a:outerShdw blurRad="127000" dist="38100" dir="8100000" algn="bl" rotWithShape="0">
              <a:srgbClr val="000000">
                <a:alpha val="9000"/>
              </a:srgbClr>
            </a:outerShdw>
          </a:effectLst>
        </p:spPr>
      </p:pic>
      <p:sp>
        <p:nvSpPr>
          <p:cNvPr id="10" name="Shape 6"/>
          <p:cNvSpPr/>
          <p:nvPr/>
        </p:nvSpPr>
        <p:spPr>
          <a:xfrm>
            <a:off x="320040" y="4663440"/>
            <a:ext cx="2743200" cy="292608"/>
          </a:xfrm>
          <a:prstGeom prst="rect">
            <a:avLst/>
          </a:prstGeom>
          <a:solidFill>
            <a:srgbClr val="FFF3E0"/>
          </a:solidFill>
          <a:ln w="12700">
            <a:solidFill>
              <a:srgbClr val="FFF3E0"/>
            </a:solidFill>
            <a:prstDash val="solid"/>
          </a:ln>
        </p:spPr>
        <p:txBody>
          <a:bodyPr/>
          <a:lstStyle/>
          <a:p>
            <a:endParaRPr lang="en-IN"/>
          </a:p>
        </p:txBody>
      </p:sp>
      <p:sp>
        <p:nvSpPr>
          <p:cNvPr id="11" name="Text 7"/>
          <p:cNvSpPr/>
          <p:nvPr/>
        </p:nvSpPr>
        <p:spPr>
          <a:xfrm>
            <a:off x="320040" y="4663440"/>
            <a:ext cx="2743200" cy="292608"/>
          </a:xfrm>
          <a:prstGeom prst="rect">
            <a:avLst/>
          </a:prstGeom>
          <a:noFill/>
          <a:ln/>
        </p:spPr>
        <p:txBody>
          <a:bodyPr wrap="square" rtlCol="0" anchor="ctr"/>
          <a:lstStyle/>
          <a:p>
            <a:pPr marL="0" indent="0" algn="ctr">
              <a:buNone/>
            </a:pPr>
            <a:r>
              <a:rPr lang="en-US" sz="950" dirty="0">
                <a:solidFill>
                  <a:srgbClr val="E65100"/>
                </a:solidFill>
                <a:latin typeface="Calibri" pitchFamily="34" charset="0"/>
                <a:ea typeface="Calibri" pitchFamily="34" charset="-122"/>
                <a:cs typeface="Calibri" pitchFamily="34" charset="-120"/>
              </a:rPr>
              <a:t>4 severity levels</a:t>
            </a:r>
            <a:endParaRPr lang="en-US" sz="950" dirty="0"/>
          </a:p>
        </p:txBody>
      </p:sp>
      <p:sp>
        <p:nvSpPr>
          <p:cNvPr id="12" name="Shape 8"/>
          <p:cNvSpPr/>
          <p:nvPr/>
        </p:nvSpPr>
        <p:spPr>
          <a:xfrm>
            <a:off x="3264408" y="4663440"/>
            <a:ext cx="2743200" cy="292608"/>
          </a:xfrm>
          <a:prstGeom prst="rect">
            <a:avLst/>
          </a:prstGeom>
          <a:solidFill>
            <a:srgbClr val="FFF3E0"/>
          </a:solidFill>
          <a:ln w="12700">
            <a:solidFill>
              <a:srgbClr val="FFF3E0"/>
            </a:solidFill>
            <a:prstDash val="solid"/>
          </a:ln>
        </p:spPr>
        <p:txBody>
          <a:bodyPr/>
          <a:lstStyle/>
          <a:p>
            <a:endParaRPr lang="en-IN"/>
          </a:p>
        </p:txBody>
      </p:sp>
      <p:sp>
        <p:nvSpPr>
          <p:cNvPr id="13" name="Text 9"/>
          <p:cNvSpPr/>
          <p:nvPr/>
        </p:nvSpPr>
        <p:spPr>
          <a:xfrm>
            <a:off x="3264408" y="4663440"/>
            <a:ext cx="2743200" cy="292608"/>
          </a:xfrm>
          <a:prstGeom prst="rect">
            <a:avLst/>
          </a:prstGeom>
          <a:noFill/>
          <a:ln/>
        </p:spPr>
        <p:txBody>
          <a:bodyPr wrap="square" rtlCol="0" anchor="ctr"/>
          <a:lstStyle/>
          <a:p>
            <a:pPr marL="0" indent="0" algn="ctr">
              <a:buNone/>
            </a:pPr>
            <a:r>
              <a:rPr lang="en-US" sz="950" dirty="0">
                <a:solidFill>
                  <a:srgbClr val="E65100"/>
                </a:solidFill>
                <a:latin typeface="Calibri" pitchFamily="34" charset="0"/>
                <a:ea typeface="Calibri" pitchFamily="34" charset="-122"/>
                <a:cs typeface="Calibri" pitchFamily="34" charset="-120"/>
              </a:rPr>
              <a:t>ML-triggered alerts</a:t>
            </a:r>
            <a:endParaRPr lang="en-US" sz="950" dirty="0"/>
          </a:p>
        </p:txBody>
      </p:sp>
      <p:sp>
        <p:nvSpPr>
          <p:cNvPr id="14" name="Shape 10"/>
          <p:cNvSpPr/>
          <p:nvPr/>
        </p:nvSpPr>
        <p:spPr>
          <a:xfrm>
            <a:off x="6208776" y="4663440"/>
            <a:ext cx="2743200" cy="292608"/>
          </a:xfrm>
          <a:prstGeom prst="rect">
            <a:avLst/>
          </a:prstGeom>
          <a:solidFill>
            <a:srgbClr val="FFF3E0"/>
          </a:solidFill>
          <a:ln w="12700">
            <a:solidFill>
              <a:srgbClr val="FFF3E0"/>
            </a:solidFill>
            <a:prstDash val="solid"/>
          </a:ln>
        </p:spPr>
        <p:txBody>
          <a:bodyPr/>
          <a:lstStyle/>
          <a:p>
            <a:endParaRPr lang="en-IN"/>
          </a:p>
        </p:txBody>
      </p:sp>
      <p:sp>
        <p:nvSpPr>
          <p:cNvPr id="15" name="Text 11"/>
          <p:cNvSpPr/>
          <p:nvPr/>
        </p:nvSpPr>
        <p:spPr>
          <a:xfrm>
            <a:off x="6208776" y="4663440"/>
            <a:ext cx="2743200" cy="292608"/>
          </a:xfrm>
          <a:prstGeom prst="rect">
            <a:avLst/>
          </a:prstGeom>
          <a:noFill/>
          <a:ln/>
        </p:spPr>
        <p:txBody>
          <a:bodyPr wrap="square" rtlCol="0" anchor="ctr"/>
          <a:lstStyle/>
          <a:p>
            <a:pPr marL="0" indent="0" algn="ctr">
              <a:buNone/>
            </a:pPr>
            <a:r>
              <a:rPr lang="en-US" sz="950" dirty="0">
                <a:solidFill>
                  <a:srgbClr val="E65100"/>
                </a:solidFill>
                <a:latin typeface="Calibri" pitchFamily="34" charset="0"/>
                <a:ea typeface="Calibri" pitchFamily="34" charset="-122"/>
                <a:cs typeface="Calibri" pitchFamily="34" charset="-120"/>
              </a:rPr>
              <a:t>Acknowledgement workflow</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06</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AI &amp; Predictive Analytics</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LightGBM · CatBoost · LSTM · Ensemble · SHAP · Optuna</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AI &amp; Predictive Analytics — ML Models &amp; Pipeline</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56032" y="804672"/>
            <a:ext cx="4480560" cy="1261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7" name="Shape 5"/>
          <p:cNvSpPr/>
          <p:nvPr/>
        </p:nvSpPr>
        <p:spPr>
          <a:xfrm>
            <a:off x="256032" y="804672"/>
            <a:ext cx="109728" cy="1261872"/>
          </a:xfrm>
          <a:prstGeom prst="rect">
            <a:avLst/>
          </a:prstGeom>
          <a:solidFill>
            <a:srgbClr val="1A6FBF"/>
          </a:solidFill>
          <a:ln w="12700">
            <a:solidFill>
              <a:srgbClr val="1A6FBF"/>
            </a:solidFill>
            <a:prstDash val="solid"/>
          </a:ln>
        </p:spPr>
        <p:txBody>
          <a:bodyPr/>
          <a:lstStyle/>
          <a:p>
            <a:endParaRPr lang="en-IN"/>
          </a:p>
        </p:txBody>
      </p:sp>
      <p:sp>
        <p:nvSpPr>
          <p:cNvPr id="8" name="Shape 6"/>
          <p:cNvSpPr/>
          <p:nvPr/>
        </p:nvSpPr>
        <p:spPr>
          <a:xfrm>
            <a:off x="3712464" y="804672"/>
            <a:ext cx="1024128" cy="329184"/>
          </a:xfrm>
          <a:prstGeom prst="rect">
            <a:avLst/>
          </a:prstGeom>
          <a:solidFill>
            <a:srgbClr val="1A6FBF"/>
          </a:solidFill>
          <a:ln w="12700">
            <a:solidFill>
              <a:srgbClr val="1A6FBF"/>
            </a:solidFill>
            <a:prstDash val="solid"/>
          </a:ln>
        </p:spPr>
        <p:txBody>
          <a:bodyPr/>
          <a:lstStyle/>
          <a:p>
            <a:endParaRPr lang="en-IN"/>
          </a:p>
        </p:txBody>
      </p:sp>
      <p:sp>
        <p:nvSpPr>
          <p:cNvPr id="9" name="Text 7"/>
          <p:cNvSpPr/>
          <p:nvPr/>
        </p:nvSpPr>
        <p:spPr>
          <a:xfrm>
            <a:off x="3712464" y="804672"/>
            <a:ext cx="1024128"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R² = 0.9998</a:t>
            </a:r>
            <a:endParaRPr lang="en-US" sz="1000" dirty="0"/>
          </a:p>
        </p:txBody>
      </p:sp>
      <p:sp>
        <p:nvSpPr>
          <p:cNvPr id="10" name="Text 8"/>
          <p:cNvSpPr/>
          <p:nvPr/>
        </p:nvSpPr>
        <p:spPr>
          <a:xfrm>
            <a:off x="457200" y="859536"/>
            <a:ext cx="3200400" cy="310896"/>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Demand Forecasting</a:t>
            </a:r>
            <a:endParaRPr lang="en-US" sz="1300" dirty="0"/>
          </a:p>
        </p:txBody>
      </p:sp>
      <p:sp>
        <p:nvSpPr>
          <p:cNvPr id="11" name="Text 9"/>
          <p:cNvSpPr/>
          <p:nvPr/>
        </p:nvSpPr>
        <p:spPr>
          <a:xfrm>
            <a:off x="457200" y="1170432"/>
            <a:ext cx="3200400" cy="237744"/>
          </a:xfrm>
          <a:prstGeom prst="rect">
            <a:avLst/>
          </a:prstGeom>
          <a:noFill/>
          <a:ln/>
        </p:spPr>
        <p:txBody>
          <a:bodyPr wrap="square" rtlCol="0" anchor="ctr"/>
          <a:lstStyle/>
          <a:p>
            <a:pPr marL="0" indent="0">
              <a:buNone/>
            </a:pPr>
            <a:r>
              <a:rPr lang="en-US" sz="1050" b="1" dirty="0">
                <a:solidFill>
                  <a:srgbClr val="1A6FBF"/>
                </a:solidFill>
                <a:latin typeface="Calibri" pitchFamily="34" charset="0"/>
                <a:ea typeface="Calibri" pitchFamily="34" charset="-122"/>
                <a:cs typeface="Calibri" pitchFamily="34" charset="-120"/>
              </a:rPr>
              <a:t>Model: LightGBM 4.0</a:t>
            </a:r>
            <a:endParaRPr lang="en-US" sz="1050" dirty="0"/>
          </a:p>
        </p:txBody>
      </p:sp>
      <p:sp>
        <p:nvSpPr>
          <p:cNvPr id="12" name="Text 10"/>
          <p:cNvSpPr/>
          <p:nvPr/>
        </p:nvSpPr>
        <p:spPr>
          <a:xfrm>
            <a:off x="457200" y="1408176"/>
            <a:ext cx="4206240" cy="603504"/>
          </a:xfrm>
          <a:prstGeom prst="rect">
            <a:avLst/>
          </a:prstGeom>
          <a:noFill/>
          <a:ln/>
        </p:spPr>
        <p:txBody>
          <a:bodyPr wrap="square" rtlCol="0" anchor="ctr"/>
          <a:lstStyle/>
          <a:p>
            <a:pPr marL="0" indent="0">
              <a:lnSpc>
                <a:spcPct val="130000"/>
              </a:lnSpc>
              <a:buNone/>
            </a:pPr>
            <a:r>
              <a:rPr lang="en-US" sz="1000" dirty="0">
                <a:solidFill>
                  <a:srgbClr val="607D8B"/>
                </a:solidFill>
                <a:latin typeface="Calibri" pitchFamily="34" charset="0"/>
                <a:ea typeface="Calibri" pitchFamily="34" charset="-122"/>
                <a:cs typeface="Calibri" pitchFamily="34" charset="-120"/>
              </a:rPr>
              <a:t>14-day horizon per item. Lag features, rolling averages, seasonality flags and department-level trends. 5-fold CV.</a:t>
            </a:r>
            <a:endParaRPr lang="en-US" sz="1000" dirty="0"/>
          </a:p>
        </p:txBody>
      </p:sp>
      <p:sp>
        <p:nvSpPr>
          <p:cNvPr id="13" name="Shape 11"/>
          <p:cNvSpPr/>
          <p:nvPr/>
        </p:nvSpPr>
        <p:spPr>
          <a:xfrm>
            <a:off x="256032" y="2194560"/>
            <a:ext cx="4480560" cy="1261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14" name="Shape 12"/>
          <p:cNvSpPr/>
          <p:nvPr/>
        </p:nvSpPr>
        <p:spPr>
          <a:xfrm>
            <a:off x="256032" y="2194560"/>
            <a:ext cx="109728" cy="1261872"/>
          </a:xfrm>
          <a:prstGeom prst="rect">
            <a:avLst/>
          </a:prstGeom>
          <a:solidFill>
            <a:srgbClr val="00796B"/>
          </a:solidFill>
          <a:ln w="12700">
            <a:solidFill>
              <a:srgbClr val="00796B"/>
            </a:solidFill>
            <a:prstDash val="solid"/>
          </a:ln>
        </p:spPr>
        <p:txBody>
          <a:bodyPr/>
          <a:lstStyle/>
          <a:p>
            <a:endParaRPr lang="en-IN"/>
          </a:p>
        </p:txBody>
      </p:sp>
      <p:sp>
        <p:nvSpPr>
          <p:cNvPr id="15" name="Shape 13"/>
          <p:cNvSpPr/>
          <p:nvPr/>
        </p:nvSpPr>
        <p:spPr>
          <a:xfrm>
            <a:off x="3712464" y="2194560"/>
            <a:ext cx="1024128" cy="329184"/>
          </a:xfrm>
          <a:prstGeom prst="rect">
            <a:avLst/>
          </a:prstGeom>
          <a:solidFill>
            <a:srgbClr val="00796B"/>
          </a:solidFill>
          <a:ln w="12700">
            <a:solidFill>
              <a:srgbClr val="00796B"/>
            </a:solidFill>
            <a:prstDash val="solid"/>
          </a:ln>
        </p:spPr>
        <p:txBody>
          <a:bodyPr/>
          <a:lstStyle/>
          <a:p>
            <a:endParaRPr lang="en-IN"/>
          </a:p>
        </p:txBody>
      </p:sp>
      <p:sp>
        <p:nvSpPr>
          <p:cNvPr id="16" name="Text 14"/>
          <p:cNvSpPr/>
          <p:nvPr/>
        </p:nvSpPr>
        <p:spPr>
          <a:xfrm>
            <a:off x="3712464" y="2194560"/>
            <a:ext cx="1024128"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Classifier</a:t>
            </a:r>
            <a:endParaRPr lang="en-US" sz="1000" dirty="0"/>
          </a:p>
        </p:txBody>
      </p:sp>
      <p:sp>
        <p:nvSpPr>
          <p:cNvPr id="17" name="Text 15"/>
          <p:cNvSpPr/>
          <p:nvPr/>
        </p:nvSpPr>
        <p:spPr>
          <a:xfrm>
            <a:off x="457200" y="2249424"/>
            <a:ext cx="3200400" cy="310896"/>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Stockout Risk</a:t>
            </a:r>
            <a:endParaRPr lang="en-US" sz="1300" dirty="0"/>
          </a:p>
        </p:txBody>
      </p:sp>
      <p:sp>
        <p:nvSpPr>
          <p:cNvPr id="18" name="Text 16"/>
          <p:cNvSpPr/>
          <p:nvPr/>
        </p:nvSpPr>
        <p:spPr>
          <a:xfrm>
            <a:off x="457200" y="2560320"/>
            <a:ext cx="3200400" cy="237744"/>
          </a:xfrm>
          <a:prstGeom prst="rect">
            <a:avLst/>
          </a:prstGeom>
          <a:noFill/>
          <a:ln/>
        </p:spPr>
        <p:txBody>
          <a:bodyPr wrap="square" rtlCol="0" anchor="ctr"/>
          <a:lstStyle/>
          <a:p>
            <a:pPr marL="0" indent="0">
              <a:buNone/>
            </a:pPr>
            <a:r>
              <a:rPr lang="en-US" sz="1050" b="1" dirty="0">
                <a:solidFill>
                  <a:srgbClr val="00796B"/>
                </a:solidFill>
                <a:latin typeface="Calibri" pitchFamily="34" charset="0"/>
                <a:ea typeface="Calibri" pitchFamily="34" charset="-122"/>
                <a:cs typeface="Calibri" pitchFamily="34" charset="-120"/>
              </a:rPr>
              <a:t>Model: CatBoost + Random Forest</a:t>
            </a:r>
            <a:endParaRPr lang="en-US" sz="1050" dirty="0"/>
          </a:p>
        </p:txBody>
      </p:sp>
      <p:sp>
        <p:nvSpPr>
          <p:cNvPr id="19" name="Text 17"/>
          <p:cNvSpPr/>
          <p:nvPr/>
        </p:nvSpPr>
        <p:spPr>
          <a:xfrm>
            <a:off x="457200" y="2798064"/>
            <a:ext cx="4206240" cy="603504"/>
          </a:xfrm>
          <a:prstGeom prst="rect">
            <a:avLst/>
          </a:prstGeom>
          <a:noFill/>
          <a:ln/>
        </p:spPr>
        <p:txBody>
          <a:bodyPr wrap="square" rtlCol="0" anchor="ctr"/>
          <a:lstStyle/>
          <a:p>
            <a:pPr marL="0" indent="0">
              <a:lnSpc>
                <a:spcPct val="130000"/>
              </a:lnSpc>
              <a:buNone/>
            </a:pPr>
            <a:r>
              <a:rPr lang="en-US" sz="1000" dirty="0">
                <a:solidFill>
                  <a:srgbClr val="607D8B"/>
                </a:solidFill>
                <a:latin typeface="Calibri" pitchFamily="34" charset="0"/>
                <a:ea typeface="Calibri" pitchFamily="34" charset="-122"/>
                <a:cs typeface="Calibri" pitchFamily="34" charset="-120"/>
              </a:rPr>
              <a:t>Ensemble classifier flagging items likely to run out. Handles supplier_id, dept_id, category natively via CatBoost.</a:t>
            </a:r>
            <a:endParaRPr lang="en-US" sz="1000" dirty="0"/>
          </a:p>
        </p:txBody>
      </p:sp>
      <p:sp>
        <p:nvSpPr>
          <p:cNvPr id="20" name="Shape 18"/>
          <p:cNvSpPr/>
          <p:nvPr/>
        </p:nvSpPr>
        <p:spPr>
          <a:xfrm>
            <a:off x="256032" y="3584448"/>
            <a:ext cx="4480560" cy="1261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1" name="Shape 19"/>
          <p:cNvSpPr/>
          <p:nvPr/>
        </p:nvSpPr>
        <p:spPr>
          <a:xfrm>
            <a:off x="256032" y="3584448"/>
            <a:ext cx="109728" cy="1261872"/>
          </a:xfrm>
          <a:prstGeom prst="rect">
            <a:avLst/>
          </a:prstGeom>
          <a:solidFill>
            <a:srgbClr val="E65100"/>
          </a:solidFill>
          <a:ln w="12700">
            <a:solidFill>
              <a:srgbClr val="E65100"/>
            </a:solidFill>
            <a:prstDash val="solid"/>
          </a:ln>
        </p:spPr>
        <p:txBody>
          <a:bodyPr/>
          <a:lstStyle/>
          <a:p>
            <a:endParaRPr lang="en-IN"/>
          </a:p>
        </p:txBody>
      </p:sp>
      <p:sp>
        <p:nvSpPr>
          <p:cNvPr id="22" name="Shape 20"/>
          <p:cNvSpPr/>
          <p:nvPr/>
        </p:nvSpPr>
        <p:spPr>
          <a:xfrm>
            <a:off x="3712464" y="3584448"/>
            <a:ext cx="1024128" cy="329184"/>
          </a:xfrm>
          <a:prstGeom prst="rect">
            <a:avLst/>
          </a:prstGeom>
          <a:solidFill>
            <a:srgbClr val="E65100"/>
          </a:solidFill>
          <a:ln w="12700">
            <a:solidFill>
              <a:srgbClr val="E65100"/>
            </a:solidFill>
            <a:prstDash val="solid"/>
          </a:ln>
        </p:spPr>
        <p:txBody>
          <a:bodyPr/>
          <a:lstStyle/>
          <a:p>
            <a:endParaRPr lang="en-IN"/>
          </a:p>
        </p:txBody>
      </p:sp>
      <p:sp>
        <p:nvSpPr>
          <p:cNvPr id="23" name="Text 21"/>
          <p:cNvSpPr/>
          <p:nvPr/>
        </p:nvSpPr>
        <p:spPr>
          <a:xfrm>
            <a:off x="3712464" y="3584448"/>
            <a:ext cx="1024128"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ROC curve</a:t>
            </a:r>
            <a:endParaRPr lang="en-US" sz="1000" dirty="0"/>
          </a:p>
        </p:txBody>
      </p:sp>
      <p:sp>
        <p:nvSpPr>
          <p:cNvPr id="24" name="Text 22"/>
          <p:cNvSpPr/>
          <p:nvPr/>
        </p:nvSpPr>
        <p:spPr>
          <a:xfrm>
            <a:off x="457200" y="3639312"/>
            <a:ext cx="3200400" cy="310896"/>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Expiry Risk</a:t>
            </a:r>
            <a:endParaRPr lang="en-US" sz="1300" dirty="0"/>
          </a:p>
        </p:txBody>
      </p:sp>
      <p:sp>
        <p:nvSpPr>
          <p:cNvPr id="25" name="Text 23"/>
          <p:cNvSpPr/>
          <p:nvPr/>
        </p:nvSpPr>
        <p:spPr>
          <a:xfrm>
            <a:off x="457200" y="3950208"/>
            <a:ext cx="3200400" cy="237744"/>
          </a:xfrm>
          <a:prstGeom prst="rect">
            <a:avLst/>
          </a:prstGeom>
          <a:noFill/>
          <a:ln/>
        </p:spPr>
        <p:txBody>
          <a:bodyPr wrap="square" rtlCol="0" anchor="ctr"/>
          <a:lstStyle/>
          <a:p>
            <a:pPr marL="0" indent="0">
              <a:buNone/>
            </a:pPr>
            <a:r>
              <a:rPr lang="en-US" sz="1050" b="1" dirty="0">
                <a:solidFill>
                  <a:srgbClr val="E65100"/>
                </a:solidFill>
                <a:latin typeface="Calibri" pitchFamily="34" charset="0"/>
                <a:ea typeface="Calibri" pitchFamily="34" charset="-122"/>
                <a:cs typeface="Calibri" pitchFamily="34" charset="-120"/>
              </a:rPr>
              <a:t>Model: Logistic Regression</a:t>
            </a:r>
            <a:endParaRPr lang="en-US" sz="1050" dirty="0"/>
          </a:p>
        </p:txBody>
      </p:sp>
      <p:sp>
        <p:nvSpPr>
          <p:cNvPr id="26" name="Text 24"/>
          <p:cNvSpPr/>
          <p:nvPr/>
        </p:nvSpPr>
        <p:spPr>
          <a:xfrm>
            <a:off x="457200" y="4187952"/>
            <a:ext cx="4206240" cy="603504"/>
          </a:xfrm>
          <a:prstGeom prst="rect">
            <a:avLst/>
          </a:prstGeom>
          <a:noFill/>
          <a:ln/>
        </p:spPr>
        <p:txBody>
          <a:bodyPr wrap="square" rtlCol="0" anchor="ctr"/>
          <a:lstStyle/>
          <a:p>
            <a:pPr marL="0" indent="0">
              <a:lnSpc>
                <a:spcPct val="130000"/>
              </a:lnSpc>
              <a:buNone/>
            </a:pPr>
            <a:r>
              <a:rPr lang="en-US" sz="1000" dirty="0">
                <a:solidFill>
                  <a:srgbClr val="607D8B"/>
                </a:solidFill>
                <a:latin typeface="Calibri" pitchFamily="34" charset="0"/>
                <a:ea typeface="Calibri" pitchFamily="34" charset="-122"/>
                <a:cs typeface="Calibri" pitchFamily="34" charset="-120"/>
              </a:rPr>
              <a:t>Classifies items at risk of expiry based on current stock, usage rate and days-to-expiry. ROC curve via /api/expiry-risk.</a:t>
            </a:r>
            <a:endParaRPr lang="en-US" sz="1000" dirty="0"/>
          </a:p>
        </p:txBody>
      </p:sp>
      <p:sp>
        <p:nvSpPr>
          <p:cNvPr id="27" name="Shape 25"/>
          <p:cNvSpPr/>
          <p:nvPr/>
        </p:nvSpPr>
        <p:spPr>
          <a:xfrm>
            <a:off x="5029200" y="804672"/>
            <a:ext cx="3858768" cy="2487168"/>
          </a:xfrm>
          <a:prstGeom prst="rect">
            <a:avLst/>
          </a:prstGeom>
          <a:solidFill>
            <a:srgbClr val="13294B"/>
          </a:solidFill>
          <a:ln w="12700">
            <a:solidFill>
              <a:srgbClr val="13294B"/>
            </a:solidFill>
            <a:prstDash val="solid"/>
          </a:ln>
          <a:effectLst>
            <a:outerShdw blurRad="127000" dist="38100" dir="8100000" algn="bl" rotWithShape="0">
              <a:srgbClr val="000000">
                <a:alpha val="9000"/>
              </a:srgbClr>
            </a:outerShdw>
          </a:effectLst>
        </p:spPr>
        <p:txBody>
          <a:bodyPr/>
          <a:lstStyle/>
          <a:p>
            <a:endParaRPr lang="en-IN"/>
          </a:p>
        </p:txBody>
      </p:sp>
      <p:sp>
        <p:nvSpPr>
          <p:cNvPr id="28" name="Text 26"/>
          <p:cNvSpPr/>
          <p:nvPr/>
        </p:nvSpPr>
        <p:spPr>
          <a:xfrm>
            <a:off x="5138928" y="859536"/>
            <a:ext cx="363931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CatBoost Benchmark  (benchmark_results_catboost.json)</a:t>
            </a:r>
            <a:endParaRPr lang="en-US" sz="1100" dirty="0"/>
          </a:p>
        </p:txBody>
      </p:sp>
      <p:sp>
        <p:nvSpPr>
          <p:cNvPr id="29" name="Shape 27"/>
          <p:cNvSpPr/>
          <p:nvPr/>
        </p:nvSpPr>
        <p:spPr>
          <a:xfrm>
            <a:off x="5138928" y="1261872"/>
            <a:ext cx="2011680" cy="292608"/>
          </a:xfrm>
          <a:prstGeom prst="rect">
            <a:avLst/>
          </a:prstGeom>
          <a:solidFill>
            <a:srgbClr val="1A3A5C"/>
          </a:solidFill>
          <a:ln w="12700">
            <a:solidFill>
              <a:srgbClr val="1A3A5C"/>
            </a:solidFill>
            <a:prstDash val="solid"/>
          </a:ln>
        </p:spPr>
        <p:txBody>
          <a:bodyPr/>
          <a:lstStyle/>
          <a:p>
            <a:endParaRPr lang="en-IN"/>
          </a:p>
        </p:txBody>
      </p:sp>
      <p:sp>
        <p:nvSpPr>
          <p:cNvPr id="30" name="Shape 28"/>
          <p:cNvSpPr/>
          <p:nvPr/>
        </p:nvSpPr>
        <p:spPr>
          <a:xfrm>
            <a:off x="7168896" y="1261872"/>
            <a:ext cx="877824" cy="292608"/>
          </a:xfrm>
          <a:prstGeom prst="rect">
            <a:avLst/>
          </a:prstGeom>
          <a:solidFill>
            <a:srgbClr val="00796B"/>
          </a:solidFill>
          <a:ln w="12700">
            <a:solidFill>
              <a:srgbClr val="00796B"/>
            </a:solidFill>
            <a:prstDash val="solid"/>
          </a:ln>
        </p:spPr>
        <p:txBody>
          <a:bodyPr/>
          <a:lstStyle/>
          <a:p>
            <a:endParaRPr lang="en-IN"/>
          </a:p>
        </p:txBody>
      </p:sp>
      <p:sp>
        <p:nvSpPr>
          <p:cNvPr id="31" name="Shape 29"/>
          <p:cNvSpPr/>
          <p:nvPr/>
        </p:nvSpPr>
        <p:spPr>
          <a:xfrm>
            <a:off x="6254496" y="1261872"/>
            <a:ext cx="896112" cy="292608"/>
          </a:xfrm>
          <a:prstGeom prst="rect">
            <a:avLst/>
          </a:prstGeom>
          <a:solidFill>
            <a:srgbClr val="13294B"/>
          </a:solidFill>
          <a:ln w="12700">
            <a:solidFill>
              <a:srgbClr val="13294B"/>
            </a:solidFill>
            <a:prstDash val="solid"/>
          </a:ln>
        </p:spPr>
        <p:txBody>
          <a:bodyPr/>
          <a:lstStyle/>
          <a:p>
            <a:endParaRPr lang="en-IN"/>
          </a:p>
        </p:txBody>
      </p:sp>
      <p:sp>
        <p:nvSpPr>
          <p:cNvPr id="32" name="Text 30"/>
          <p:cNvSpPr/>
          <p:nvPr/>
        </p:nvSpPr>
        <p:spPr>
          <a:xfrm>
            <a:off x="5175504" y="1261872"/>
            <a:ext cx="1956816" cy="292608"/>
          </a:xfrm>
          <a:prstGeom prst="rect">
            <a:avLst/>
          </a:prstGeom>
          <a:noFill/>
          <a:ln/>
        </p:spPr>
        <p:txBody>
          <a:bodyPr wrap="square" rtlCol="0" anchor="ctr"/>
          <a:lstStyle/>
          <a:p>
            <a:pPr marL="0" indent="0">
              <a:buNone/>
            </a:pPr>
            <a:r>
              <a:rPr lang="en-US" sz="1000" dirty="0">
                <a:solidFill>
                  <a:srgbClr val="A8C4DE"/>
                </a:solidFill>
                <a:latin typeface="Calibri" pitchFamily="34" charset="0"/>
                <a:ea typeface="Calibri" pitchFamily="34" charset="-122"/>
                <a:cs typeface="Calibri" pitchFamily="34" charset="-120"/>
              </a:rPr>
              <a:t>Training R²</a:t>
            </a:r>
            <a:endParaRPr lang="en-US" sz="1000" dirty="0"/>
          </a:p>
        </p:txBody>
      </p:sp>
      <p:sp>
        <p:nvSpPr>
          <p:cNvPr id="33" name="Text 31"/>
          <p:cNvSpPr/>
          <p:nvPr/>
        </p:nvSpPr>
        <p:spPr>
          <a:xfrm>
            <a:off x="6272784" y="1261872"/>
            <a:ext cx="877824"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0.9998</a:t>
            </a:r>
            <a:endParaRPr lang="en-US" sz="1000" dirty="0"/>
          </a:p>
        </p:txBody>
      </p:sp>
      <p:sp>
        <p:nvSpPr>
          <p:cNvPr id="34" name="Text 32"/>
          <p:cNvSpPr/>
          <p:nvPr/>
        </p:nvSpPr>
        <p:spPr>
          <a:xfrm>
            <a:off x="7168896" y="1261872"/>
            <a:ext cx="877824"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35" name="Shape 33"/>
          <p:cNvSpPr/>
          <p:nvPr/>
        </p:nvSpPr>
        <p:spPr>
          <a:xfrm>
            <a:off x="5138928" y="1572768"/>
            <a:ext cx="2011680" cy="292608"/>
          </a:xfrm>
          <a:prstGeom prst="rect">
            <a:avLst/>
          </a:prstGeom>
          <a:solidFill>
            <a:srgbClr val="1A3A5C"/>
          </a:solidFill>
          <a:ln w="12700">
            <a:solidFill>
              <a:srgbClr val="1A3A5C"/>
            </a:solidFill>
            <a:prstDash val="solid"/>
          </a:ln>
        </p:spPr>
        <p:txBody>
          <a:bodyPr/>
          <a:lstStyle/>
          <a:p>
            <a:endParaRPr lang="en-IN"/>
          </a:p>
        </p:txBody>
      </p:sp>
      <p:sp>
        <p:nvSpPr>
          <p:cNvPr id="36" name="Shape 34"/>
          <p:cNvSpPr/>
          <p:nvPr/>
        </p:nvSpPr>
        <p:spPr>
          <a:xfrm>
            <a:off x="7168896" y="1572768"/>
            <a:ext cx="877824" cy="292608"/>
          </a:xfrm>
          <a:prstGeom prst="rect">
            <a:avLst/>
          </a:prstGeom>
          <a:solidFill>
            <a:srgbClr val="00796B"/>
          </a:solidFill>
          <a:ln w="12700">
            <a:solidFill>
              <a:srgbClr val="00796B"/>
            </a:solidFill>
            <a:prstDash val="solid"/>
          </a:ln>
        </p:spPr>
        <p:txBody>
          <a:bodyPr/>
          <a:lstStyle/>
          <a:p>
            <a:endParaRPr lang="en-IN"/>
          </a:p>
        </p:txBody>
      </p:sp>
      <p:sp>
        <p:nvSpPr>
          <p:cNvPr id="37" name="Shape 35"/>
          <p:cNvSpPr/>
          <p:nvPr/>
        </p:nvSpPr>
        <p:spPr>
          <a:xfrm>
            <a:off x="6254496" y="1572768"/>
            <a:ext cx="896112" cy="292608"/>
          </a:xfrm>
          <a:prstGeom prst="rect">
            <a:avLst/>
          </a:prstGeom>
          <a:solidFill>
            <a:srgbClr val="13294B"/>
          </a:solidFill>
          <a:ln w="12700">
            <a:solidFill>
              <a:srgbClr val="13294B"/>
            </a:solidFill>
            <a:prstDash val="solid"/>
          </a:ln>
        </p:spPr>
        <p:txBody>
          <a:bodyPr/>
          <a:lstStyle/>
          <a:p>
            <a:endParaRPr lang="en-IN"/>
          </a:p>
        </p:txBody>
      </p:sp>
      <p:sp>
        <p:nvSpPr>
          <p:cNvPr id="38" name="Text 36"/>
          <p:cNvSpPr/>
          <p:nvPr/>
        </p:nvSpPr>
        <p:spPr>
          <a:xfrm>
            <a:off x="5175504" y="1572768"/>
            <a:ext cx="1956816" cy="292608"/>
          </a:xfrm>
          <a:prstGeom prst="rect">
            <a:avLst/>
          </a:prstGeom>
          <a:noFill/>
          <a:ln/>
        </p:spPr>
        <p:txBody>
          <a:bodyPr wrap="square" rtlCol="0" anchor="ctr"/>
          <a:lstStyle/>
          <a:p>
            <a:pPr marL="0" indent="0">
              <a:buNone/>
            </a:pPr>
            <a:r>
              <a:rPr lang="en-US" sz="1000" dirty="0">
                <a:solidFill>
                  <a:srgbClr val="A8C4DE"/>
                </a:solidFill>
                <a:latin typeface="Calibri" pitchFamily="34" charset="0"/>
                <a:ea typeface="Calibri" pitchFamily="34" charset="-122"/>
                <a:cs typeface="Calibri" pitchFamily="34" charset="-120"/>
              </a:rPr>
              <a:t>MAE (units)</a:t>
            </a:r>
            <a:endParaRPr lang="en-US" sz="1000" dirty="0"/>
          </a:p>
        </p:txBody>
      </p:sp>
      <p:sp>
        <p:nvSpPr>
          <p:cNvPr id="39" name="Text 37"/>
          <p:cNvSpPr/>
          <p:nvPr/>
        </p:nvSpPr>
        <p:spPr>
          <a:xfrm>
            <a:off x="6272784" y="1572768"/>
            <a:ext cx="877824"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1.74</a:t>
            </a:r>
            <a:endParaRPr lang="en-US" sz="1000" dirty="0"/>
          </a:p>
        </p:txBody>
      </p:sp>
      <p:sp>
        <p:nvSpPr>
          <p:cNvPr id="40" name="Text 38"/>
          <p:cNvSpPr/>
          <p:nvPr/>
        </p:nvSpPr>
        <p:spPr>
          <a:xfrm>
            <a:off x="7168896" y="1572768"/>
            <a:ext cx="877824"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41" name="Shape 39"/>
          <p:cNvSpPr/>
          <p:nvPr/>
        </p:nvSpPr>
        <p:spPr>
          <a:xfrm>
            <a:off x="5138928" y="1883664"/>
            <a:ext cx="2011680" cy="292608"/>
          </a:xfrm>
          <a:prstGeom prst="rect">
            <a:avLst/>
          </a:prstGeom>
          <a:solidFill>
            <a:srgbClr val="1A3A5C"/>
          </a:solidFill>
          <a:ln w="12700">
            <a:solidFill>
              <a:srgbClr val="1A3A5C"/>
            </a:solidFill>
            <a:prstDash val="solid"/>
          </a:ln>
        </p:spPr>
        <p:txBody>
          <a:bodyPr/>
          <a:lstStyle/>
          <a:p>
            <a:endParaRPr lang="en-IN"/>
          </a:p>
        </p:txBody>
      </p:sp>
      <p:sp>
        <p:nvSpPr>
          <p:cNvPr id="42" name="Shape 40"/>
          <p:cNvSpPr/>
          <p:nvPr/>
        </p:nvSpPr>
        <p:spPr>
          <a:xfrm>
            <a:off x="7168896" y="1883664"/>
            <a:ext cx="877824" cy="292608"/>
          </a:xfrm>
          <a:prstGeom prst="rect">
            <a:avLst/>
          </a:prstGeom>
          <a:solidFill>
            <a:srgbClr val="00796B"/>
          </a:solidFill>
          <a:ln w="12700">
            <a:solidFill>
              <a:srgbClr val="00796B"/>
            </a:solidFill>
            <a:prstDash val="solid"/>
          </a:ln>
        </p:spPr>
        <p:txBody>
          <a:bodyPr/>
          <a:lstStyle/>
          <a:p>
            <a:endParaRPr lang="en-IN"/>
          </a:p>
        </p:txBody>
      </p:sp>
      <p:sp>
        <p:nvSpPr>
          <p:cNvPr id="43" name="Shape 41"/>
          <p:cNvSpPr/>
          <p:nvPr/>
        </p:nvSpPr>
        <p:spPr>
          <a:xfrm>
            <a:off x="6254496" y="1883664"/>
            <a:ext cx="896112" cy="292608"/>
          </a:xfrm>
          <a:prstGeom prst="rect">
            <a:avLst/>
          </a:prstGeom>
          <a:solidFill>
            <a:srgbClr val="13294B"/>
          </a:solidFill>
          <a:ln w="12700">
            <a:solidFill>
              <a:srgbClr val="13294B"/>
            </a:solidFill>
            <a:prstDash val="solid"/>
          </a:ln>
        </p:spPr>
        <p:txBody>
          <a:bodyPr/>
          <a:lstStyle/>
          <a:p>
            <a:endParaRPr lang="en-IN"/>
          </a:p>
        </p:txBody>
      </p:sp>
      <p:sp>
        <p:nvSpPr>
          <p:cNvPr id="44" name="Text 42"/>
          <p:cNvSpPr/>
          <p:nvPr/>
        </p:nvSpPr>
        <p:spPr>
          <a:xfrm>
            <a:off x="5175504" y="1883664"/>
            <a:ext cx="1956816" cy="292608"/>
          </a:xfrm>
          <a:prstGeom prst="rect">
            <a:avLst/>
          </a:prstGeom>
          <a:noFill/>
          <a:ln/>
        </p:spPr>
        <p:txBody>
          <a:bodyPr wrap="square" rtlCol="0" anchor="ctr"/>
          <a:lstStyle/>
          <a:p>
            <a:pPr marL="0" indent="0">
              <a:buNone/>
            </a:pPr>
            <a:r>
              <a:rPr lang="en-US" sz="1000" dirty="0">
                <a:solidFill>
                  <a:srgbClr val="A8C4DE"/>
                </a:solidFill>
                <a:latin typeface="Calibri" pitchFamily="34" charset="0"/>
                <a:ea typeface="Calibri" pitchFamily="34" charset="-122"/>
                <a:cs typeface="Calibri" pitchFamily="34" charset="-120"/>
              </a:rPr>
              <a:t>Training time</a:t>
            </a:r>
            <a:endParaRPr lang="en-US" sz="1000" dirty="0"/>
          </a:p>
        </p:txBody>
      </p:sp>
      <p:sp>
        <p:nvSpPr>
          <p:cNvPr id="45" name="Text 43"/>
          <p:cNvSpPr/>
          <p:nvPr/>
        </p:nvSpPr>
        <p:spPr>
          <a:xfrm>
            <a:off x="6272784" y="1883664"/>
            <a:ext cx="877824"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4.06 s (2.64 s best)</a:t>
            </a:r>
            <a:endParaRPr lang="en-US" sz="1000" dirty="0"/>
          </a:p>
        </p:txBody>
      </p:sp>
      <p:sp>
        <p:nvSpPr>
          <p:cNvPr id="46" name="Text 44"/>
          <p:cNvSpPr/>
          <p:nvPr/>
        </p:nvSpPr>
        <p:spPr>
          <a:xfrm>
            <a:off x="7168896" y="1883664"/>
            <a:ext cx="877824"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47" name="Shape 45"/>
          <p:cNvSpPr/>
          <p:nvPr/>
        </p:nvSpPr>
        <p:spPr>
          <a:xfrm>
            <a:off x="5138928" y="2194560"/>
            <a:ext cx="2011680" cy="292608"/>
          </a:xfrm>
          <a:prstGeom prst="rect">
            <a:avLst/>
          </a:prstGeom>
          <a:solidFill>
            <a:srgbClr val="1A3A5C"/>
          </a:solidFill>
          <a:ln w="12700">
            <a:solidFill>
              <a:srgbClr val="1A3A5C"/>
            </a:solidFill>
            <a:prstDash val="solid"/>
          </a:ln>
        </p:spPr>
        <p:txBody>
          <a:bodyPr/>
          <a:lstStyle/>
          <a:p>
            <a:endParaRPr lang="en-IN"/>
          </a:p>
        </p:txBody>
      </p:sp>
      <p:sp>
        <p:nvSpPr>
          <p:cNvPr id="48" name="Shape 46"/>
          <p:cNvSpPr/>
          <p:nvPr/>
        </p:nvSpPr>
        <p:spPr>
          <a:xfrm>
            <a:off x="7168896" y="2194560"/>
            <a:ext cx="877824" cy="292608"/>
          </a:xfrm>
          <a:prstGeom prst="rect">
            <a:avLst/>
          </a:prstGeom>
          <a:solidFill>
            <a:srgbClr val="00796B"/>
          </a:solidFill>
          <a:ln w="12700">
            <a:solidFill>
              <a:srgbClr val="00796B"/>
            </a:solidFill>
            <a:prstDash val="solid"/>
          </a:ln>
        </p:spPr>
        <p:txBody>
          <a:bodyPr/>
          <a:lstStyle/>
          <a:p>
            <a:endParaRPr lang="en-IN"/>
          </a:p>
        </p:txBody>
      </p:sp>
      <p:sp>
        <p:nvSpPr>
          <p:cNvPr id="49" name="Shape 47"/>
          <p:cNvSpPr/>
          <p:nvPr/>
        </p:nvSpPr>
        <p:spPr>
          <a:xfrm>
            <a:off x="6254496" y="2194560"/>
            <a:ext cx="896112" cy="292608"/>
          </a:xfrm>
          <a:prstGeom prst="rect">
            <a:avLst/>
          </a:prstGeom>
          <a:solidFill>
            <a:srgbClr val="13294B"/>
          </a:solidFill>
          <a:ln w="12700">
            <a:solidFill>
              <a:srgbClr val="13294B"/>
            </a:solidFill>
            <a:prstDash val="solid"/>
          </a:ln>
        </p:spPr>
        <p:txBody>
          <a:bodyPr/>
          <a:lstStyle/>
          <a:p>
            <a:endParaRPr lang="en-IN"/>
          </a:p>
        </p:txBody>
      </p:sp>
      <p:sp>
        <p:nvSpPr>
          <p:cNvPr id="50" name="Text 48"/>
          <p:cNvSpPr/>
          <p:nvPr/>
        </p:nvSpPr>
        <p:spPr>
          <a:xfrm>
            <a:off x="5175504" y="2194560"/>
            <a:ext cx="1956816" cy="292608"/>
          </a:xfrm>
          <a:prstGeom prst="rect">
            <a:avLst/>
          </a:prstGeom>
          <a:noFill/>
          <a:ln/>
        </p:spPr>
        <p:txBody>
          <a:bodyPr wrap="square" rtlCol="0" anchor="ctr"/>
          <a:lstStyle/>
          <a:p>
            <a:pPr marL="0" indent="0">
              <a:buNone/>
            </a:pPr>
            <a:r>
              <a:rPr lang="en-US" sz="1000" dirty="0">
                <a:solidFill>
                  <a:srgbClr val="A8C4DE"/>
                </a:solidFill>
                <a:latin typeface="Calibri" pitchFamily="34" charset="0"/>
                <a:ea typeface="Calibri" pitchFamily="34" charset="-122"/>
                <a:cs typeface="Calibri" pitchFamily="34" charset="-120"/>
              </a:rPr>
              <a:t>Inference p99</a:t>
            </a:r>
            <a:endParaRPr lang="en-US" sz="1000" dirty="0"/>
          </a:p>
        </p:txBody>
      </p:sp>
      <p:sp>
        <p:nvSpPr>
          <p:cNvPr id="51" name="Text 49"/>
          <p:cNvSpPr/>
          <p:nvPr/>
        </p:nvSpPr>
        <p:spPr>
          <a:xfrm>
            <a:off x="6272784" y="2194560"/>
            <a:ext cx="877824"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1.59 ms</a:t>
            </a:r>
            <a:endParaRPr lang="en-US" sz="1000" dirty="0"/>
          </a:p>
        </p:txBody>
      </p:sp>
      <p:sp>
        <p:nvSpPr>
          <p:cNvPr id="52" name="Text 50"/>
          <p:cNvSpPr/>
          <p:nvPr/>
        </p:nvSpPr>
        <p:spPr>
          <a:xfrm>
            <a:off x="7168896" y="2194560"/>
            <a:ext cx="877824"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PASS</a:t>
            </a:r>
            <a:endParaRPr lang="en-US" sz="1000" dirty="0"/>
          </a:p>
        </p:txBody>
      </p:sp>
      <p:sp>
        <p:nvSpPr>
          <p:cNvPr id="53" name="Shape 51"/>
          <p:cNvSpPr/>
          <p:nvPr/>
        </p:nvSpPr>
        <p:spPr>
          <a:xfrm>
            <a:off x="5138928" y="2505456"/>
            <a:ext cx="2011680" cy="292608"/>
          </a:xfrm>
          <a:prstGeom prst="rect">
            <a:avLst/>
          </a:prstGeom>
          <a:solidFill>
            <a:srgbClr val="1A3A5C"/>
          </a:solidFill>
          <a:ln w="12700">
            <a:solidFill>
              <a:srgbClr val="1A3A5C"/>
            </a:solidFill>
            <a:prstDash val="solid"/>
          </a:ln>
        </p:spPr>
        <p:txBody>
          <a:bodyPr/>
          <a:lstStyle/>
          <a:p>
            <a:endParaRPr lang="en-IN"/>
          </a:p>
        </p:txBody>
      </p:sp>
      <p:sp>
        <p:nvSpPr>
          <p:cNvPr id="54" name="Shape 52"/>
          <p:cNvSpPr/>
          <p:nvPr/>
        </p:nvSpPr>
        <p:spPr>
          <a:xfrm>
            <a:off x="7168896" y="2505456"/>
            <a:ext cx="877824" cy="292608"/>
          </a:xfrm>
          <a:prstGeom prst="rect">
            <a:avLst/>
          </a:prstGeom>
          <a:solidFill>
            <a:srgbClr val="1A3A5C"/>
          </a:solidFill>
          <a:ln w="12700">
            <a:solidFill>
              <a:srgbClr val="1A3A5C"/>
            </a:solidFill>
            <a:prstDash val="solid"/>
          </a:ln>
        </p:spPr>
        <p:txBody>
          <a:bodyPr/>
          <a:lstStyle/>
          <a:p>
            <a:endParaRPr lang="en-IN"/>
          </a:p>
        </p:txBody>
      </p:sp>
      <p:sp>
        <p:nvSpPr>
          <p:cNvPr id="55" name="Shape 53"/>
          <p:cNvSpPr/>
          <p:nvPr/>
        </p:nvSpPr>
        <p:spPr>
          <a:xfrm>
            <a:off x="6254496" y="2505456"/>
            <a:ext cx="896112" cy="292608"/>
          </a:xfrm>
          <a:prstGeom prst="rect">
            <a:avLst/>
          </a:prstGeom>
          <a:solidFill>
            <a:srgbClr val="13294B"/>
          </a:solidFill>
          <a:ln w="12700">
            <a:solidFill>
              <a:srgbClr val="13294B"/>
            </a:solidFill>
            <a:prstDash val="solid"/>
          </a:ln>
        </p:spPr>
        <p:txBody>
          <a:bodyPr/>
          <a:lstStyle/>
          <a:p>
            <a:endParaRPr lang="en-IN"/>
          </a:p>
        </p:txBody>
      </p:sp>
      <p:sp>
        <p:nvSpPr>
          <p:cNvPr id="56" name="Text 54"/>
          <p:cNvSpPr/>
          <p:nvPr/>
        </p:nvSpPr>
        <p:spPr>
          <a:xfrm>
            <a:off x="5175504" y="2505456"/>
            <a:ext cx="1956816" cy="292608"/>
          </a:xfrm>
          <a:prstGeom prst="rect">
            <a:avLst/>
          </a:prstGeom>
          <a:noFill/>
          <a:ln/>
        </p:spPr>
        <p:txBody>
          <a:bodyPr wrap="square" rtlCol="0" anchor="ctr"/>
          <a:lstStyle/>
          <a:p>
            <a:pPr marL="0" indent="0">
              <a:buNone/>
            </a:pPr>
            <a:r>
              <a:rPr lang="en-US" sz="1000" dirty="0">
                <a:solidFill>
                  <a:srgbClr val="A8C4DE"/>
                </a:solidFill>
                <a:latin typeface="Calibri" pitchFamily="34" charset="0"/>
                <a:ea typeface="Calibri" pitchFamily="34" charset="-122"/>
                <a:cs typeface="Calibri" pitchFamily="34" charset="-120"/>
              </a:rPr>
              <a:t>CV R² mean</a:t>
            </a:r>
            <a:endParaRPr lang="en-US" sz="1000" dirty="0"/>
          </a:p>
        </p:txBody>
      </p:sp>
      <p:sp>
        <p:nvSpPr>
          <p:cNvPr id="57" name="Text 55"/>
          <p:cNvSpPr/>
          <p:nvPr/>
        </p:nvSpPr>
        <p:spPr>
          <a:xfrm>
            <a:off x="6272784" y="2505456"/>
            <a:ext cx="877824" cy="292608"/>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0.906 (5-fold)</a:t>
            </a:r>
            <a:endParaRPr lang="en-US" sz="1000" dirty="0"/>
          </a:p>
        </p:txBody>
      </p:sp>
      <p:sp>
        <p:nvSpPr>
          <p:cNvPr id="58" name="Text 56"/>
          <p:cNvSpPr/>
          <p:nvPr/>
        </p:nvSpPr>
        <p:spPr>
          <a:xfrm>
            <a:off x="7168896" y="2505456"/>
            <a:ext cx="877824" cy="29260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59" name="Text 57"/>
          <p:cNvSpPr/>
          <p:nvPr/>
        </p:nvSpPr>
        <p:spPr>
          <a:xfrm>
            <a:off x="5029200" y="3401568"/>
            <a:ext cx="3858768" cy="329184"/>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Advanced ML Pipeline</a:t>
            </a:r>
            <a:endParaRPr lang="en-US" sz="1200" dirty="0"/>
          </a:p>
        </p:txBody>
      </p:sp>
      <p:sp>
        <p:nvSpPr>
          <p:cNvPr id="60" name="Text 58"/>
          <p:cNvSpPr/>
          <p:nvPr/>
        </p:nvSpPr>
        <p:spPr>
          <a:xfrm>
            <a:off x="5029200" y="3785616"/>
            <a:ext cx="3858768" cy="2560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LSTM/GRU — TensorFlow/Keras, 14-day seq2seq, seasonal cycles</a:t>
            </a:r>
            <a:endParaRPr lang="en-US" sz="1000" dirty="0"/>
          </a:p>
        </p:txBody>
      </p:sp>
      <p:sp>
        <p:nvSpPr>
          <p:cNvPr id="61" name="Text 59"/>
          <p:cNvSpPr/>
          <p:nvPr/>
        </p:nvSpPr>
        <p:spPr>
          <a:xfrm>
            <a:off x="5029200" y="4059936"/>
            <a:ext cx="3858768" cy="2560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Ensemble — 40% LightGBM + 30% CatBoost + 20% LSTM + 10% LR</a:t>
            </a:r>
            <a:endParaRPr lang="en-US" sz="1000" dirty="0"/>
          </a:p>
        </p:txBody>
      </p:sp>
      <p:sp>
        <p:nvSpPr>
          <p:cNvPr id="62" name="Text 60"/>
          <p:cNvSpPr/>
          <p:nvPr/>
        </p:nvSpPr>
        <p:spPr>
          <a:xfrm>
            <a:off x="5029200" y="4334256"/>
            <a:ext cx="3858768" cy="2560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Anomaly Detection — Isolation Forest on ingestion records</a:t>
            </a:r>
            <a:endParaRPr lang="en-US" sz="1000" dirty="0"/>
          </a:p>
        </p:txBody>
      </p:sp>
      <p:sp>
        <p:nvSpPr>
          <p:cNvPr id="63" name="Text 61"/>
          <p:cNvSpPr/>
          <p:nvPr/>
        </p:nvSpPr>
        <p:spPr>
          <a:xfrm>
            <a:off x="5029200" y="4608576"/>
            <a:ext cx="3858768" cy="2560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Optuna — Bayesian search; best params saved to best_params.json</a:t>
            </a:r>
            <a:endParaRPr lang="en-US" sz="1000" dirty="0"/>
          </a:p>
        </p:txBody>
      </p:sp>
      <p:sp>
        <p:nvSpPr>
          <p:cNvPr id="64" name="Text 62"/>
          <p:cNvSpPr/>
          <p:nvPr/>
        </p:nvSpPr>
        <p:spPr>
          <a:xfrm>
            <a:off x="5029200" y="4882896"/>
            <a:ext cx="3858768" cy="256032"/>
          </a:xfrm>
          <a:prstGeom prst="rect">
            <a:avLst/>
          </a:prstGeom>
          <a:noFill/>
          <a:ln/>
        </p:spPr>
        <p:txBody>
          <a:bodyPr wrap="square" rtlCol="0" anchor="ctr"/>
          <a:lstStyle/>
          <a:p>
            <a:pPr marL="0" indent="0">
              <a:buNone/>
            </a:pPr>
            <a:r>
              <a:rPr lang="en-US" sz="1000" dirty="0">
                <a:solidFill>
                  <a:srgbClr val="2C3E50"/>
                </a:solidFill>
                <a:latin typeface="Calibri" pitchFamily="34" charset="0"/>
                <a:ea typeface="Calibri" pitchFamily="34" charset="-122"/>
                <a:cs typeface="Calibri" pitchFamily="34" charset="-120"/>
              </a:rPr>
              <a:t>SHAP + LIME — Global + per-item explanations via /api/explain/*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07</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AI Agent System</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CrewAI + local Ollama3 (llama3) — autonomous supply chain</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AI Agent System — CrewAI + Ollama3 Agents</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320040" y="749808"/>
            <a:ext cx="8503920" cy="274320"/>
          </a:xfrm>
          <a:prstGeom prst="rect">
            <a:avLst/>
          </a:prstGeom>
          <a:noFill/>
          <a:ln/>
        </p:spPr>
        <p:txBody>
          <a:bodyPr wrap="square" rtlCol="0" anchor="ctr"/>
          <a:lstStyle/>
          <a:p>
            <a:pPr marL="0" indent="0">
              <a:buNone/>
            </a:pPr>
            <a:r>
              <a:rPr lang="en-US" sz="1050" i="1" dirty="0">
                <a:solidFill>
                  <a:srgbClr val="607D8B"/>
                </a:solidFill>
                <a:latin typeface="Calibri" pitchFamily="34" charset="0"/>
                <a:ea typeface="Calibri" pitchFamily="34" charset="-122"/>
                <a:cs typeface="Calibri" pitchFamily="34" charset="-120"/>
              </a:rPr>
              <a:t>All agents run on local Ollama3 (llama3 @ localhost:11434) via CrewAI — no cloud LLM dependency required.</a:t>
            </a:r>
            <a:endParaRPr lang="en-US" sz="1050" dirty="0"/>
          </a:p>
        </p:txBody>
      </p:sp>
      <p:sp>
        <p:nvSpPr>
          <p:cNvPr id="7" name="Shape 5"/>
          <p:cNvSpPr/>
          <p:nvPr/>
        </p:nvSpPr>
        <p:spPr>
          <a:xfrm>
            <a:off x="256032" y="1115568"/>
            <a:ext cx="4160520" cy="190195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8" name="Shape 6"/>
          <p:cNvSpPr/>
          <p:nvPr/>
        </p:nvSpPr>
        <p:spPr>
          <a:xfrm>
            <a:off x="256032" y="1115568"/>
            <a:ext cx="4160520" cy="402336"/>
          </a:xfrm>
          <a:prstGeom prst="rect">
            <a:avLst/>
          </a:prstGeom>
          <a:solidFill>
            <a:srgbClr val="1A6FBF"/>
          </a:solidFill>
          <a:ln w="12700">
            <a:solidFill>
              <a:srgbClr val="1A6FBF"/>
            </a:solidFill>
            <a:prstDash val="solid"/>
          </a:ln>
        </p:spPr>
        <p:txBody>
          <a:bodyPr/>
          <a:lstStyle/>
          <a:p>
            <a:endParaRPr lang="en-IN"/>
          </a:p>
        </p:txBody>
      </p:sp>
      <p:sp>
        <p:nvSpPr>
          <p:cNvPr id="9" name="Text 7"/>
          <p:cNvSpPr/>
          <p:nvPr/>
        </p:nvSpPr>
        <p:spPr>
          <a:xfrm>
            <a:off x="365760" y="1115568"/>
            <a:ext cx="283464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Ingestion Agent</a:t>
            </a:r>
            <a:endParaRPr lang="en-US" sz="1200" dirty="0"/>
          </a:p>
        </p:txBody>
      </p:sp>
      <p:sp>
        <p:nvSpPr>
          <p:cNvPr id="10" name="Text 8"/>
          <p:cNvSpPr/>
          <p:nvPr/>
        </p:nvSpPr>
        <p:spPr>
          <a:xfrm>
            <a:off x="3236976" y="1115568"/>
            <a:ext cx="1069848" cy="402336"/>
          </a:xfrm>
          <a:prstGeom prst="rect">
            <a:avLst/>
          </a:prstGeom>
          <a:noFill/>
          <a:ln/>
        </p:spPr>
        <p:txBody>
          <a:bodyPr wrap="square"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EPIC-2 · TASK-201/202/203</a:t>
            </a:r>
            <a:endParaRPr lang="en-US" sz="850" dirty="0"/>
          </a:p>
        </p:txBody>
      </p:sp>
      <p:sp>
        <p:nvSpPr>
          <p:cNvPr id="11" name="Shape 9"/>
          <p:cNvSpPr/>
          <p:nvPr/>
        </p:nvSpPr>
        <p:spPr>
          <a:xfrm>
            <a:off x="365760" y="1664208"/>
            <a:ext cx="128016" cy="128016"/>
          </a:xfrm>
          <a:prstGeom prst="line">
            <a:avLst/>
          </a:prstGeom>
          <a:solidFill>
            <a:srgbClr val="1A6FBF"/>
          </a:solidFill>
          <a:ln w="12700">
            <a:solidFill>
              <a:srgbClr val="1A6FBF"/>
            </a:solidFill>
            <a:prstDash val="solid"/>
          </a:ln>
        </p:spPr>
        <p:txBody>
          <a:bodyPr/>
          <a:lstStyle/>
          <a:p>
            <a:endParaRPr lang="en-IN"/>
          </a:p>
        </p:txBody>
      </p:sp>
      <p:sp>
        <p:nvSpPr>
          <p:cNvPr id="12" name="Text 10"/>
          <p:cNvSpPr/>
          <p:nvPr/>
        </p:nvSpPr>
        <p:spPr>
          <a:xfrm>
            <a:off x="566928" y="1572768"/>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Accepts CSV / inline records / external API source</a:t>
            </a:r>
            <a:endParaRPr lang="en-US" sz="1000" dirty="0"/>
          </a:p>
        </p:txBody>
      </p:sp>
      <p:sp>
        <p:nvSpPr>
          <p:cNvPr id="13" name="Shape 11"/>
          <p:cNvSpPr/>
          <p:nvPr/>
        </p:nvSpPr>
        <p:spPr>
          <a:xfrm>
            <a:off x="365760" y="1956816"/>
            <a:ext cx="128016" cy="128016"/>
          </a:xfrm>
          <a:prstGeom prst="line">
            <a:avLst/>
          </a:prstGeom>
          <a:solidFill>
            <a:srgbClr val="1A6FBF"/>
          </a:solidFill>
          <a:ln w="12700">
            <a:solidFill>
              <a:srgbClr val="1A6FBF"/>
            </a:solidFill>
            <a:prstDash val="solid"/>
          </a:ln>
        </p:spPr>
        <p:txBody>
          <a:bodyPr/>
          <a:lstStyle/>
          <a:p>
            <a:endParaRPr lang="en-IN"/>
          </a:p>
        </p:txBody>
      </p:sp>
      <p:sp>
        <p:nvSpPr>
          <p:cNvPr id="14" name="Text 12"/>
          <p:cNvSpPr/>
          <p:nvPr/>
        </p:nvSpPr>
        <p:spPr>
          <a:xfrm>
            <a:off x="566928" y="1865376"/>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Validates schema: item_id, quantity, timestamp required</a:t>
            </a:r>
            <a:endParaRPr lang="en-US" sz="1000" dirty="0"/>
          </a:p>
        </p:txBody>
      </p:sp>
      <p:sp>
        <p:nvSpPr>
          <p:cNvPr id="15" name="Shape 13"/>
          <p:cNvSpPr/>
          <p:nvPr/>
        </p:nvSpPr>
        <p:spPr>
          <a:xfrm>
            <a:off x="365760" y="2249424"/>
            <a:ext cx="128016" cy="128016"/>
          </a:xfrm>
          <a:prstGeom prst="line">
            <a:avLst/>
          </a:prstGeom>
          <a:solidFill>
            <a:srgbClr val="1A6FBF"/>
          </a:solidFill>
          <a:ln w="12700">
            <a:solidFill>
              <a:srgbClr val="1A6FBF"/>
            </a:solidFill>
            <a:prstDash val="solid"/>
          </a:ln>
        </p:spPr>
        <p:txBody>
          <a:bodyPr/>
          <a:lstStyle/>
          <a:p>
            <a:endParaRPr lang="en-IN"/>
          </a:p>
        </p:txBody>
      </p:sp>
      <p:sp>
        <p:nvSpPr>
          <p:cNvPr id="16" name="Text 14"/>
          <p:cNvSpPr/>
          <p:nvPr/>
        </p:nvSpPr>
        <p:spPr>
          <a:xfrm>
            <a:off x="566928" y="2157984"/>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Anomaly detection on ingested records (Isolation Forest)</a:t>
            </a:r>
            <a:endParaRPr lang="en-US" sz="1000" dirty="0"/>
          </a:p>
        </p:txBody>
      </p:sp>
      <p:sp>
        <p:nvSpPr>
          <p:cNvPr id="17" name="Shape 15"/>
          <p:cNvSpPr/>
          <p:nvPr/>
        </p:nvSpPr>
        <p:spPr>
          <a:xfrm>
            <a:off x="365760" y="2542032"/>
            <a:ext cx="128016" cy="128016"/>
          </a:xfrm>
          <a:prstGeom prst="line">
            <a:avLst/>
          </a:prstGeom>
          <a:solidFill>
            <a:srgbClr val="1A6FBF"/>
          </a:solidFill>
          <a:ln w="12700">
            <a:solidFill>
              <a:srgbClr val="1A6FBF"/>
            </a:solidFill>
            <a:prstDash val="solid"/>
          </a:ln>
        </p:spPr>
        <p:txBody>
          <a:bodyPr/>
          <a:lstStyle/>
          <a:p>
            <a:endParaRPr lang="en-IN"/>
          </a:p>
        </p:txBody>
      </p:sp>
      <p:sp>
        <p:nvSpPr>
          <p:cNvPr id="18" name="Text 16"/>
          <p:cNvSpPr/>
          <p:nvPr/>
        </p:nvSpPr>
        <p:spPr>
          <a:xfrm>
            <a:off x="566928" y="2450592"/>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Quarantines suspicious records to admin audit table</a:t>
            </a:r>
            <a:endParaRPr lang="en-US" sz="1000" dirty="0"/>
          </a:p>
        </p:txBody>
      </p:sp>
      <p:sp>
        <p:nvSpPr>
          <p:cNvPr id="19" name="Shape 17"/>
          <p:cNvSpPr/>
          <p:nvPr/>
        </p:nvSpPr>
        <p:spPr>
          <a:xfrm>
            <a:off x="365760" y="2834640"/>
            <a:ext cx="128016" cy="128016"/>
          </a:xfrm>
          <a:prstGeom prst="line">
            <a:avLst/>
          </a:prstGeom>
          <a:solidFill>
            <a:srgbClr val="1A6FBF"/>
          </a:solidFill>
          <a:ln w="12700">
            <a:solidFill>
              <a:srgbClr val="1A6FBF"/>
            </a:solidFill>
            <a:prstDash val="solid"/>
          </a:ln>
        </p:spPr>
        <p:txBody>
          <a:bodyPr/>
          <a:lstStyle/>
          <a:p>
            <a:endParaRPr lang="en-IN"/>
          </a:p>
        </p:txBody>
      </p:sp>
      <p:sp>
        <p:nvSpPr>
          <p:cNvPr id="20" name="Text 18"/>
          <p:cNvSpPr/>
          <p:nvPr/>
        </p:nvSpPr>
        <p:spPr>
          <a:xfrm>
            <a:off x="566928" y="2743200"/>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Triggers ML alert summary after each ingestion batch</a:t>
            </a:r>
            <a:endParaRPr lang="en-US" sz="1000" dirty="0"/>
          </a:p>
        </p:txBody>
      </p:sp>
      <p:sp>
        <p:nvSpPr>
          <p:cNvPr id="21" name="Shape 19"/>
          <p:cNvSpPr/>
          <p:nvPr/>
        </p:nvSpPr>
        <p:spPr>
          <a:xfrm>
            <a:off x="4736592" y="1115568"/>
            <a:ext cx="4160520" cy="190195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2" name="Shape 20"/>
          <p:cNvSpPr/>
          <p:nvPr/>
        </p:nvSpPr>
        <p:spPr>
          <a:xfrm>
            <a:off x="4736592" y="1115568"/>
            <a:ext cx="4160520" cy="402336"/>
          </a:xfrm>
          <a:prstGeom prst="rect">
            <a:avLst/>
          </a:prstGeom>
          <a:solidFill>
            <a:srgbClr val="00796B"/>
          </a:solidFill>
          <a:ln w="12700">
            <a:solidFill>
              <a:srgbClr val="00796B"/>
            </a:solidFill>
            <a:prstDash val="solid"/>
          </a:ln>
        </p:spPr>
        <p:txBody>
          <a:bodyPr/>
          <a:lstStyle/>
          <a:p>
            <a:endParaRPr lang="en-IN"/>
          </a:p>
        </p:txBody>
      </p:sp>
      <p:sp>
        <p:nvSpPr>
          <p:cNvPr id="23" name="Text 21"/>
          <p:cNvSpPr/>
          <p:nvPr/>
        </p:nvSpPr>
        <p:spPr>
          <a:xfrm>
            <a:off x="4846320" y="1115568"/>
            <a:ext cx="283464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Supply Chain Agent</a:t>
            </a:r>
            <a:endParaRPr lang="en-US" sz="1200" dirty="0"/>
          </a:p>
        </p:txBody>
      </p:sp>
      <p:sp>
        <p:nvSpPr>
          <p:cNvPr id="24" name="Text 22"/>
          <p:cNvSpPr/>
          <p:nvPr/>
        </p:nvSpPr>
        <p:spPr>
          <a:xfrm>
            <a:off x="7717536" y="1115568"/>
            <a:ext cx="1069848" cy="402336"/>
          </a:xfrm>
          <a:prstGeom prst="rect">
            <a:avLst/>
          </a:prstGeom>
          <a:noFill/>
          <a:ln/>
        </p:spPr>
        <p:txBody>
          <a:bodyPr wrap="square"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EPIC-3 · TASK-303/304</a:t>
            </a:r>
            <a:endParaRPr lang="en-US" sz="850" dirty="0"/>
          </a:p>
        </p:txBody>
      </p:sp>
      <p:sp>
        <p:nvSpPr>
          <p:cNvPr id="25" name="Shape 23"/>
          <p:cNvSpPr/>
          <p:nvPr/>
        </p:nvSpPr>
        <p:spPr>
          <a:xfrm>
            <a:off x="4846320" y="1664208"/>
            <a:ext cx="128016" cy="128016"/>
          </a:xfrm>
          <a:prstGeom prst="line">
            <a:avLst/>
          </a:prstGeom>
          <a:solidFill>
            <a:srgbClr val="00796B"/>
          </a:solidFill>
          <a:ln w="12700">
            <a:solidFill>
              <a:srgbClr val="00796B"/>
            </a:solidFill>
            <a:prstDash val="solid"/>
          </a:ln>
        </p:spPr>
        <p:txBody>
          <a:bodyPr/>
          <a:lstStyle/>
          <a:p>
            <a:endParaRPr lang="en-IN"/>
          </a:p>
        </p:txBody>
      </p:sp>
      <p:sp>
        <p:nvSpPr>
          <p:cNvPr id="26" name="Text 24"/>
          <p:cNvSpPr/>
          <p:nvPr/>
        </p:nvSpPr>
        <p:spPr>
          <a:xfrm>
            <a:off x="5047488" y="1572768"/>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Monitors stockout risk every N hours (configurable cadence)</a:t>
            </a:r>
            <a:endParaRPr lang="en-US" sz="1000" dirty="0"/>
          </a:p>
        </p:txBody>
      </p:sp>
      <p:sp>
        <p:nvSpPr>
          <p:cNvPr id="27" name="Shape 25"/>
          <p:cNvSpPr/>
          <p:nvPr/>
        </p:nvSpPr>
        <p:spPr>
          <a:xfrm>
            <a:off x="4846320" y="1956816"/>
            <a:ext cx="128016" cy="128016"/>
          </a:xfrm>
          <a:prstGeom prst="line">
            <a:avLst/>
          </a:prstGeom>
          <a:solidFill>
            <a:srgbClr val="00796B"/>
          </a:solidFill>
          <a:ln w="12700">
            <a:solidFill>
              <a:srgbClr val="00796B"/>
            </a:solidFill>
            <a:prstDash val="solid"/>
          </a:ln>
        </p:spPr>
        <p:txBody>
          <a:bodyPr/>
          <a:lstStyle/>
          <a:p>
            <a:endParaRPr lang="en-IN"/>
          </a:p>
        </p:txBody>
      </p:sp>
      <p:sp>
        <p:nvSpPr>
          <p:cNvPr id="28" name="Text 26"/>
          <p:cNvSpPr/>
          <p:nvPr/>
        </p:nvSpPr>
        <p:spPr>
          <a:xfrm>
            <a:off x="5047488" y="1865376"/>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Scores all suppliers using 5-factor weighted formula</a:t>
            </a:r>
            <a:endParaRPr lang="en-US" sz="1000" dirty="0"/>
          </a:p>
        </p:txBody>
      </p:sp>
      <p:sp>
        <p:nvSpPr>
          <p:cNvPr id="29" name="Shape 27"/>
          <p:cNvSpPr/>
          <p:nvPr/>
        </p:nvSpPr>
        <p:spPr>
          <a:xfrm>
            <a:off x="4846320" y="2249424"/>
            <a:ext cx="128016" cy="128016"/>
          </a:xfrm>
          <a:prstGeom prst="line">
            <a:avLst/>
          </a:prstGeom>
          <a:solidFill>
            <a:srgbClr val="00796B"/>
          </a:solidFill>
          <a:ln w="12700">
            <a:solidFill>
              <a:srgbClr val="00796B"/>
            </a:solidFill>
            <a:prstDash val="solid"/>
          </a:ln>
        </p:spPr>
        <p:txBody>
          <a:bodyPr/>
          <a:lstStyle/>
          <a:p>
            <a:endParaRPr lang="en-IN"/>
          </a:p>
        </p:txBody>
      </p:sp>
      <p:sp>
        <p:nvSpPr>
          <p:cNvPr id="30" name="Text 28"/>
          <p:cNvSpPr/>
          <p:nvPr/>
        </p:nvSpPr>
        <p:spPr>
          <a:xfrm>
            <a:off x="5047488" y="2157984"/>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Calculates EOQ-based order quantity per at-risk item</a:t>
            </a:r>
            <a:endParaRPr lang="en-US" sz="1000" dirty="0"/>
          </a:p>
        </p:txBody>
      </p:sp>
      <p:sp>
        <p:nvSpPr>
          <p:cNvPr id="31" name="Shape 29"/>
          <p:cNvSpPr/>
          <p:nvPr/>
        </p:nvSpPr>
        <p:spPr>
          <a:xfrm>
            <a:off x="4846320" y="2542032"/>
            <a:ext cx="128016" cy="128016"/>
          </a:xfrm>
          <a:prstGeom prst="line">
            <a:avLst/>
          </a:prstGeom>
          <a:solidFill>
            <a:srgbClr val="00796B"/>
          </a:solidFill>
          <a:ln w="12700">
            <a:solidFill>
              <a:srgbClr val="00796B"/>
            </a:solidFill>
            <a:prstDash val="solid"/>
          </a:ln>
        </p:spPr>
        <p:txBody>
          <a:bodyPr/>
          <a:lstStyle/>
          <a:p>
            <a:endParaRPr lang="en-IN"/>
          </a:p>
        </p:txBody>
      </p:sp>
      <p:sp>
        <p:nvSpPr>
          <p:cNvPr id="32" name="Text 30"/>
          <p:cNvSpPr/>
          <p:nvPr/>
        </p:nvSpPr>
        <p:spPr>
          <a:xfrm>
            <a:off x="5047488" y="2450592"/>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Auto-creates Purchase Orders with approval routing</a:t>
            </a:r>
            <a:endParaRPr lang="en-US" sz="1000" dirty="0"/>
          </a:p>
        </p:txBody>
      </p:sp>
      <p:sp>
        <p:nvSpPr>
          <p:cNvPr id="33" name="Shape 31"/>
          <p:cNvSpPr/>
          <p:nvPr/>
        </p:nvSpPr>
        <p:spPr>
          <a:xfrm>
            <a:off x="4846320" y="2834640"/>
            <a:ext cx="128016" cy="128016"/>
          </a:xfrm>
          <a:prstGeom prst="line">
            <a:avLst/>
          </a:prstGeom>
          <a:solidFill>
            <a:srgbClr val="00796B"/>
          </a:solidFill>
          <a:ln w="12700">
            <a:solidFill>
              <a:srgbClr val="00796B"/>
            </a:solidFill>
            <a:prstDash val="solid"/>
          </a:ln>
        </p:spPr>
        <p:txBody>
          <a:bodyPr/>
          <a:lstStyle/>
          <a:p>
            <a:endParaRPr lang="en-IN"/>
          </a:p>
        </p:txBody>
      </p:sp>
      <p:sp>
        <p:nvSpPr>
          <p:cNvPr id="34" name="Text 32"/>
          <p:cNvSpPr/>
          <p:nvPr/>
        </p:nvSpPr>
        <p:spPr>
          <a:xfrm>
            <a:off x="5047488" y="2743200"/>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Submits PO via EDI / email / API per supplier config</a:t>
            </a:r>
            <a:endParaRPr lang="en-US" sz="1000" dirty="0"/>
          </a:p>
        </p:txBody>
      </p:sp>
      <p:sp>
        <p:nvSpPr>
          <p:cNvPr id="35" name="Shape 33"/>
          <p:cNvSpPr/>
          <p:nvPr/>
        </p:nvSpPr>
        <p:spPr>
          <a:xfrm>
            <a:off x="256032" y="3108960"/>
            <a:ext cx="4160520" cy="190195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36" name="Shape 34"/>
          <p:cNvSpPr/>
          <p:nvPr/>
        </p:nvSpPr>
        <p:spPr>
          <a:xfrm>
            <a:off x="256032" y="3108960"/>
            <a:ext cx="4160520" cy="402336"/>
          </a:xfrm>
          <a:prstGeom prst="rect">
            <a:avLst/>
          </a:prstGeom>
          <a:solidFill>
            <a:srgbClr val="E65100"/>
          </a:solidFill>
          <a:ln w="12700">
            <a:solidFill>
              <a:srgbClr val="E65100"/>
            </a:solidFill>
            <a:prstDash val="solid"/>
          </a:ln>
        </p:spPr>
        <p:txBody>
          <a:bodyPr/>
          <a:lstStyle/>
          <a:p>
            <a:endParaRPr lang="en-IN"/>
          </a:p>
        </p:txBody>
      </p:sp>
      <p:sp>
        <p:nvSpPr>
          <p:cNvPr id="37" name="Text 35"/>
          <p:cNvSpPr/>
          <p:nvPr/>
        </p:nvSpPr>
        <p:spPr>
          <a:xfrm>
            <a:off x="365760" y="3108960"/>
            <a:ext cx="283464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Delivery Tracker</a:t>
            </a:r>
            <a:endParaRPr lang="en-US" sz="1200" dirty="0"/>
          </a:p>
        </p:txBody>
      </p:sp>
      <p:sp>
        <p:nvSpPr>
          <p:cNvPr id="38" name="Text 36"/>
          <p:cNvSpPr/>
          <p:nvPr/>
        </p:nvSpPr>
        <p:spPr>
          <a:xfrm>
            <a:off x="3236976" y="3108960"/>
            <a:ext cx="1069848" cy="402336"/>
          </a:xfrm>
          <a:prstGeom prst="rect">
            <a:avLst/>
          </a:prstGeom>
          <a:noFill/>
          <a:ln/>
        </p:spPr>
        <p:txBody>
          <a:bodyPr wrap="square"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EPIC-3 · TASK-305</a:t>
            </a:r>
            <a:endParaRPr lang="en-US" sz="850" dirty="0"/>
          </a:p>
        </p:txBody>
      </p:sp>
      <p:sp>
        <p:nvSpPr>
          <p:cNvPr id="39" name="Shape 37"/>
          <p:cNvSpPr/>
          <p:nvPr/>
        </p:nvSpPr>
        <p:spPr>
          <a:xfrm>
            <a:off x="365760" y="3657600"/>
            <a:ext cx="128016" cy="128016"/>
          </a:xfrm>
          <a:prstGeom prst="line">
            <a:avLst/>
          </a:prstGeom>
          <a:solidFill>
            <a:srgbClr val="E65100"/>
          </a:solidFill>
          <a:ln w="12700">
            <a:solidFill>
              <a:srgbClr val="E65100"/>
            </a:solidFill>
            <a:prstDash val="solid"/>
          </a:ln>
        </p:spPr>
        <p:txBody>
          <a:bodyPr/>
          <a:lstStyle/>
          <a:p>
            <a:endParaRPr lang="en-IN"/>
          </a:p>
        </p:txBody>
      </p:sp>
      <p:sp>
        <p:nvSpPr>
          <p:cNvPr id="40" name="Text 38"/>
          <p:cNvSpPr/>
          <p:nvPr/>
        </p:nvSpPr>
        <p:spPr>
          <a:xfrm>
            <a:off x="566928" y="3566160"/>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Creates delivery record on PO submission</a:t>
            </a:r>
            <a:endParaRPr lang="en-US" sz="1000" dirty="0"/>
          </a:p>
        </p:txBody>
      </p:sp>
      <p:sp>
        <p:nvSpPr>
          <p:cNvPr id="41" name="Shape 39"/>
          <p:cNvSpPr/>
          <p:nvPr/>
        </p:nvSpPr>
        <p:spPr>
          <a:xfrm>
            <a:off x="365760" y="3950208"/>
            <a:ext cx="128016" cy="128016"/>
          </a:xfrm>
          <a:prstGeom prst="line">
            <a:avLst/>
          </a:prstGeom>
          <a:solidFill>
            <a:srgbClr val="E65100"/>
          </a:solidFill>
          <a:ln w="12700">
            <a:solidFill>
              <a:srgbClr val="E65100"/>
            </a:solidFill>
            <a:prstDash val="solid"/>
          </a:ln>
        </p:spPr>
        <p:txBody>
          <a:bodyPr/>
          <a:lstStyle/>
          <a:p>
            <a:endParaRPr lang="en-IN"/>
          </a:p>
        </p:txBody>
      </p:sp>
      <p:sp>
        <p:nvSpPr>
          <p:cNvPr id="42" name="Text 40"/>
          <p:cNvSpPr/>
          <p:nvPr/>
        </p:nvSpPr>
        <p:spPr>
          <a:xfrm>
            <a:off x="566928" y="3858768"/>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Ingests barcode scans, webhooks, manual status updates</a:t>
            </a:r>
            <a:endParaRPr lang="en-US" sz="1000" dirty="0"/>
          </a:p>
        </p:txBody>
      </p:sp>
      <p:sp>
        <p:nvSpPr>
          <p:cNvPr id="43" name="Shape 41"/>
          <p:cNvSpPr/>
          <p:nvPr/>
        </p:nvSpPr>
        <p:spPr>
          <a:xfrm>
            <a:off x="365760" y="4242816"/>
            <a:ext cx="128016" cy="128016"/>
          </a:xfrm>
          <a:prstGeom prst="line">
            <a:avLst/>
          </a:prstGeom>
          <a:solidFill>
            <a:srgbClr val="E65100"/>
          </a:solidFill>
          <a:ln w="12700">
            <a:solidFill>
              <a:srgbClr val="E65100"/>
            </a:solidFill>
            <a:prstDash val="solid"/>
          </a:ln>
        </p:spPr>
        <p:txBody>
          <a:bodyPr/>
          <a:lstStyle/>
          <a:p>
            <a:endParaRPr lang="en-IN"/>
          </a:p>
        </p:txBody>
      </p:sp>
      <p:sp>
        <p:nvSpPr>
          <p:cNvPr id="44" name="Text 42"/>
          <p:cNvSpPr/>
          <p:nvPr/>
        </p:nvSpPr>
        <p:spPr>
          <a:xfrm>
            <a:off x="566928" y="4151376"/>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States: Pending → Shipped → In Transit → Delivered</a:t>
            </a:r>
            <a:endParaRPr lang="en-US" sz="1000" dirty="0"/>
          </a:p>
        </p:txBody>
      </p:sp>
      <p:sp>
        <p:nvSpPr>
          <p:cNvPr id="45" name="Shape 43"/>
          <p:cNvSpPr/>
          <p:nvPr/>
        </p:nvSpPr>
        <p:spPr>
          <a:xfrm>
            <a:off x="365760" y="4535424"/>
            <a:ext cx="128016" cy="128016"/>
          </a:xfrm>
          <a:prstGeom prst="line">
            <a:avLst/>
          </a:prstGeom>
          <a:solidFill>
            <a:srgbClr val="E65100"/>
          </a:solidFill>
          <a:ln w="12700">
            <a:solidFill>
              <a:srgbClr val="E65100"/>
            </a:solidFill>
            <a:prstDash val="solid"/>
          </a:ln>
        </p:spPr>
        <p:txBody>
          <a:bodyPr/>
          <a:lstStyle/>
          <a:p>
            <a:endParaRPr lang="en-IN"/>
          </a:p>
        </p:txBody>
      </p:sp>
      <p:sp>
        <p:nvSpPr>
          <p:cNvPr id="46" name="Text 44"/>
          <p:cNvSpPr/>
          <p:nvPr/>
        </p:nvSpPr>
        <p:spPr>
          <a:xfrm>
            <a:off x="566928" y="4443984"/>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Raises delay alert if delivery exceeds lead-time SLA</a:t>
            </a:r>
            <a:endParaRPr lang="en-US" sz="1000" dirty="0"/>
          </a:p>
        </p:txBody>
      </p:sp>
      <p:sp>
        <p:nvSpPr>
          <p:cNvPr id="47" name="Shape 45"/>
          <p:cNvSpPr/>
          <p:nvPr/>
        </p:nvSpPr>
        <p:spPr>
          <a:xfrm>
            <a:off x="365760" y="4828032"/>
            <a:ext cx="128016" cy="128016"/>
          </a:xfrm>
          <a:prstGeom prst="line">
            <a:avLst/>
          </a:prstGeom>
          <a:solidFill>
            <a:srgbClr val="E65100"/>
          </a:solidFill>
          <a:ln w="12700">
            <a:solidFill>
              <a:srgbClr val="E65100"/>
            </a:solidFill>
            <a:prstDash val="solid"/>
          </a:ln>
        </p:spPr>
        <p:txBody>
          <a:bodyPr/>
          <a:lstStyle/>
          <a:p>
            <a:endParaRPr lang="en-IN"/>
          </a:p>
        </p:txBody>
      </p:sp>
      <p:sp>
        <p:nvSpPr>
          <p:cNvPr id="48" name="Text 46"/>
          <p:cNvSpPr/>
          <p:nvPr/>
        </p:nvSpPr>
        <p:spPr>
          <a:xfrm>
            <a:off x="566928" y="4736592"/>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Dashboard view: /api/deliveries/status</a:t>
            </a:r>
            <a:endParaRPr lang="en-US" sz="1000" dirty="0"/>
          </a:p>
        </p:txBody>
      </p:sp>
      <p:sp>
        <p:nvSpPr>
          <p:cNvPr id="49" name="Shape 47"/>
          <p:cNvSpPr/>
          <p:nvPr/>
        </p:nvSpPr>
        <p:spPr>
          <a:xfrm>
            <a:off x="4736592" y="3108960"/>
            <a:ext cx="4160520" cy="190195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50" name="Shape 48"/>
          <p:cNvSpPr/>
          <p:nvPr/>
        </p:nvSpPr>
        <p:spPr>
          <a:xfrm>
            <a:off x="4736592" y="3108960"/>
            <a:ext cx="4160520" cy="402336"/>
          </a:xfrm>
          <a:prstGeom prst="rect">
            <a:avLst/>
          </a:prstGeom>
          <a:solidFill>
            <a:srgbClr val="1A3A5C"/>
          </a:solidFill>
          <a:ln w="12700">
            <a:solidFill>
              <a:srgbClr val="1A3A5C"/>
            </a:solidFill>
            <a:prstDash val="solid"/>
          </a:ln>
        </p:spPr>
        <p:txBody>
          <a:bodyPr/>
          <a:lstStyle/>
          <a:p>
            <a:endParaRPr lang="en-IN"/>
          </a:p>
        </p:txBody>
      </p:sp>
      <p:sp>
        <p:nvSpPr>
          <p:cNvPr id="51" name="Text 49"/>
          <p:cNvSpPr/>
          <p:nvPr/>
        </p:nvSpPr>
        <p:spPr>
          <a:xfrm>
            <a:off x="4846320" y="3108960"/>
            <a:ext cx="2834640" cy="40233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Sentiment Analyzer</a:t>
            </a:r>
            <a:endParaRPr lang="en-US" sz="1200" dirty="0"/>
          </a:p>
        </p:txBody>
      </p:sp>
      <p:sp>
        <p:nvSpPr>
          <p:cNvPr id="52" name="Text 50"/>
          <p:cNvSpPr/>
          <p:nvPr/>
        </p:nvSpPr>
        <p:spPr>
          <a:xfrm>
            <a:off x="7717536" y="3108960"/>
            <a:ext cx="1069848" cy="402336"/>
          </a:xfrm>
          <a:prstGeom prst="rect">
            <a:avLst/>
          </a:prstGeom>
          <a:noFill/>
          <a:ln/>
        </p:spPr>
        <p:txBody>
          <a:bodyPr wrap="square" rtlCol="0" anchor="ctr"/>
          <a:lstStyle/>
          <a:p>
            <a:pPr marL="0" indent="0" algn="r">
              <a:buNone/>
            </a:pPr>
            <a:r>
              <a:rPr lang="en-US" sz="850" dirty="0">
                <a:solidFill>
                  <a:srgbClr val="FFFFFF"/>
                </a:solidFill>
                <a:latin typeface="Calibri" pitchFamily="34" charset="0"/>
                <a:ea typeface="Calibri" pitchFamily="34" charset="-122"/>
                <a:cs typeface="Calibri" pitchFamily="34" charset="-120"/>
              </a:rPr>
              <a:t>EPIC-3 · TASK-302</a:t>
            </a:r>
            <a:endParaRPr lang="en-US" sz="850" dirty="0"/>
          </a:p>
        </p:txBody>
      </p:sp>
      <p:sp>
        <p:nvSpPr>
          <p:cNvPr id="53" name="Shape 51"/>
          <p:cNvSpPr/>
          <p:nvPr/>
        </p:nvSpPr>
        <p:spPr>
          <a:xfrm>
            <a:off x="4846320" y="3657600"/>
            <a:ext cx="128016" cy="128016"/>
          </a:xfrm>
          <a:prstGeom prst="line">
            <a:avLst/>
          </a:prstGeom>
          <a:solidFill>
            <a:srgbClr val="1A3A5C"/>
          </a:solidFill>
          <a:ln w="12700">
            <a:solidFill>
              <a:srgbClr val="1A3A5C"/>
            </a:solidFill>
            <a:prstDash val="solid"/>
          </a:ln>
        </p:spPr>
        <p:txBody>
          <a:bodyPr/>
          <a:lstStyle/>
          <a:p>
            <a:endParaRPr lang="en-IN"/>
          </a:p>
        </p:txBody>
      </p:sp>
      <p:sp>
        <p:nvSpPr>
          <p:cNvPr id="54" name="Text 52"/>
          <p:cNvSpPr/>
          <p:nvPr/>
        </p:nvSpPr>
        <p:spPr>
          <a:xfrm>
            <a:off x="5047488" y="3566160"/>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NLP analysis of supplier review text</a:t>
            </a:r>
            <a:endParaRPr lang="en-US" sz="1000" dirty="0"/>
          </a:p>
        </p:txBody>
      </p:sp>
      <p:sp>
        <p:nvSpPr>
          <p:cNvPr id="55" name="Shape 53"/>
          <p:cNvSpPr/>
          <p:nvPr/>
        </p:nvSpPr>
        <p:spPr>
          <a:xfrm>
            <a:off x="4846320" y="3950208"/>
            <a:ext cx="128016" cy="128016"/>
          </a:xfrm>
          <a:prstGeom prst="line">
            <a:avLst/>
          </a:prstGeom>
          <a:solidFill>
            <a:srgbClr val="1A3A5C"/>
          </a:solidFill>
          <a:ln w="12700">
            <a:solidFill>
              <a:srgbClr val="1A3A5C"/>
            </a:solidFill>
            <a:prstDash val="solid"/>
          </a:ln>
        </p:spPr>
        <p:txBody>
          <a:bodyPr/>
          <a:lstStyle/>
          <a:p>
            <a:endParaRPr lang="en-IN"/>
          </a:p>
        </p:txBody>
      </p:sp>
      <p:sp>
        <p:nvSpPr>
          <p:cNvPr id="56" name="Text 54"/>
          <p:cNvSpPr/>
          <p:nvPr/>
        </p:nvSpPr>
        <p:spPr>
          <a:xfrm>
            <a:off x="5047488" y="3858768"/>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Score: -1.0 (negative) → +1.0 (positive)</a:t>
            </a:r>
            <a:endParaRPr lang="en-US" sz="1000" dirty="0"/>
          </a:p>
        </p:txBody>
      </p:sp>
      <p:sp>
        <p:nvSpPr>
          <p:cNvPr id="57" name="Shape 55"/>
          <p:cNvSpPr/>
          <p:nvPr/>
        </p:nvSpPr>
        <p:spPr>
          <a:xfrm>
            <a:off x="4846320" y="4242816"/>
            <a:ext cx="128016" cy="128016"/>
          </a:xfrm>
          <a:prstGeom prst="line">
            <a:avLst/>
          </a:prstGeom>
          <a:solidFill>
            <a:srgbClr val="1A3A5C"/>
          </a:solidFill>
          <a:ln w="12700">
            <a:solidFill>
              <a:srgbClr val="1A3A5C"/>
            </a:solidFill>
            <a:prstDash val="solid"/>
          </a:ln>
        </p:spPr>
        <p:txBody>
          <a:bodyPr/>
          <a:lstStyle/>
          <a:p>
            <a:endParaRPr lang="en-IN"/>
          </a:p>
        </p:txBody>
      </p:sp>
      <p:sp>
        <p:nvSpPr>
          <p:cNvPr id="58" name="Text 56"/>
          <p:cNvSpPr/>
          <p:nvPr/>
        </p:nvSpPr>
        <p:spPr>
          <a:xfrm>
            <a:off x="5047488" y="4151376"/>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Feeds into supplier scoring formula (10% weight)</a:t>
            </a:r>
            <a:endParaRPr lang="en-US" sz="1000" dirty="0"/>
          </a:p>
        </p:txBody>
      </p:sp>
      <p:sp>
        <p:nvSpPr>
          <p:cNvPr id="59" name="Shape 57"/>
          <p:cNvSpPr/>
          <p:nvPr/>
        </p:nvSpPr>
        <p:spPr>
          <a:xfrm>
            <a:off x="4846320" y="4535424"/>
            <a:ext cx="128016" cy="128016"/>
          </a:xfrm>
          <a:prstGeom prst="line">
            <a:avLst/>
          </a:prstGeom>
          <a:solidFill>
            <a:srgbClr val="1A3A5C"/>
          </a:solidFill>
          <a:ln w="12700">
            <a:solidFill>
              <a:srgbClr val="1A3A5C"/>
            </a:solidFill>
            <a:prstDash val="solid"/>
          </a:ln>
        </p:spPr>
        <p:txBody>
          <a:bodyPr/>
          <a:lstStyle/>
          <a:p>
            <a:endParaRPr lang="en-IN"/>
          </a:p>
        </p:txBody>
      </p:sp>
      <p:sp>
        <p:nvSpPr>
          <p:cNvPr id="60" name="Text 58"/>
          <p:cNvSpPr/>
          <p:nvPr/>
        </p:nvSpPr>
        <p:spPr>
          <a:xfrm>
            <a:off x="5047488" y="4443984"/>
            <a:ext cx="3712464" cy="402336"/>
          </a:xfrm>
          <a:prstGeom prst="rect">
            <a:avLst/>
          </a:prstGeom>
          <a:noFill/>
          <a:ln/>
        </p:spPr>
        <p:txBody>
          <a:bodyPr wrap="square" rtlCol="0" anchor="ctr"/>
          <a:lstStyle/>
          <a:p>
            <a:pPr marL="0" indent="0">
              <a:lnSpc>
                <a:spcPct val="125000"/>
              </a:lnSpc>
              <a:buNone/>
            </a:pPr>
            <a:r>
              <a:rPr lang="en-US" sz="1000" dirty="0">
                <a:solidFill>
                  <a:srgbClr val="2C3E50"/>
                </a:solidFill>
                <a:latin typeface="Calibri" pitchFamily="34" charset="0"/>
                <a:ea typeface="Calibri" pitchFamily="34" charset="-122"/>
                <a:cs typeface="Calibri" pitchFamily="34" charset="-120"/>
              </a:rPr>
              <a:t>Cached per supplier for fast reuse in scoring calls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AI Agent System — Approval Queue, Logs &amp; Audit Trail</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56032" y="786384"/>
            <a:ext cx="4224528" cy="4059936"/>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7" name="Shape 5"/>
          <p:cNvSpPr/>
          <p:nvPr/>
        </p:nvSpPr>
        <p:spPr>
          <a:xfrm>
            <a:off x="256032" y="786384"/>
            <a:ext cx="4224528" cy="384048"/>
          </a:xfrm>
          <a:prstGeom prst="rect">
            <a:avLst/>
          </a:prstGeom>
          <a:solidFill>
            <a:srgbClr val="1A6FBF"/>
          </a:solidFill>
          <a:ln w="12700">
            <a:solidFill>
              <a:srgbClr val="1A6FBF"/>
            </a:solidFill>
            <a:prstDash val="solid"/>
          </a:ln>
        </p:spPr>
        <p:txBody>
          <a:bodyPr/>
          <a:lstStyle/>
          <a:p>
            <a:endParaRPr lang="en-IN"/>
          </a:p>
        </p:txBody>
      </p:sp>
      <p:sp>
        <p:nvSpPr>
          <p:cNvPr id="8" name="Text 6"/>
          <p:cNvSpPr/>
          <p:nvPr/>
        </p:nvSpPr>
        <p:spPr>
          <a:xfrm>
            <a:off x="384048" y="786384"/>
            <a:ext cx="4023360" cy="3840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Manual Approval Queue  (TASK-502)</a:t>
            </a:r>
            <a:endParaRPr lang="en-US" sz="1150" dirty="0"/>
          </a:p>
        </p:txBody>
      </p:sp>
      <p:sp>
        <p:nvSpPr>
          <p:cNvPr id="9" name="Shape 7"/>
          <p:cNvSpPr/>
          <p:nvPr/>
        </p:nvSpPr>
        <p:spPr>
          <a:xfrm>
            <a:off x="384048" y="1335024"/>
            <a:ext cx="128016" cy="128016"/>
          </a:xfrm>
          <a:prstGeom prst="line">
            <a:avLst/>
          </a:prstGeom>
          <a:solidFill>
            <a:srgbClr val="1A6FBF"/>
          </a:solidFill>
          <a:ln w="12700">
            <a:solidFill>
              <a:srgbClr val="1A6FBF"/>
            </a:solidFill>
            <a:prstDash val="solid"/>
          </a:ln>
        </p:spPr>
        <p:txBody>
          <a:bodyPr/>
          <a:lstStyle/>
          <a:p>
            <a:endParaRPr lang="en-IN"/>
          </a:p>
        </p:txBody>
      </p:sp>
      <p:sp>
        <p:nvSpPr>
          <p:cNvPr id="10" name="Text 8"/>
          <p:cNvSpPr/>
          <p:nvPr/>
        </p:nvSpPr>
        <p:spPr>
          <a:xfrm>
            <a:off x="585216" y="1243584"/>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POs above cost threshold routed to approval queue</a:t>
            </a:r>
            <a:endParaRPr lang="en-US" sz="1100" dirty="0"/>
          </a:p>
        </p:txBody>
      </p:sp>
      <p:sp>
        <p:nvSpPr>
          <p:cNvPr id="11" name="Shape 9"/>
          <p:cNvSpPr/>
          <p:nvPr/>
        </p:nvSpPr>
        <p:spPr>
          <a:xfrm>
            <a:off x="384048" y="1847088"/>
            <a:ext cx="128016" cy="128016"/>
          </a:xfrm>
          <a:prstGeom prst="line">
            <a:avLst/>
          </a:prstGeom>
          <a:solidFill>
            <a:srgbClr val="1A6FBF"/>
          </a:solidFill>
          <a:ln w="12700">
            <a:solidFill>
              <a:srgbClr val="1A6FBF"/>
            </a:solidFill>
            <a:prstDash val="solid"/>
          </a:ln>
        </p:spPr>
        <p:txBody>
          <a:bodyPr/>
          <a:lstStyle/>
          <a:p>
            <a:endParaRPr lang="en-IN"/>
          </a:p>
        </p:txBody>
      </p:sp>
      <p:sp>
        <p:nvSpPr>
          <p:cNvPr id="12" name="Text 10"/>
          <p:cNvSpPr/>
          <p:nvPr/>
        </p:nvSpPr>
        <p:spPr>
          <a:xfrm>
            <a:off x="585216" y="1755648"/>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Reviewer sees: item, qty, supplier score breakdown, cost</a:t>
            </a:r>
            <a:endParaRPr lang="en-US" sz="1100" dirty="0"/>
          </a:p>
        </p:txBody>
      </p:sp>
      <p:sp>
        <p:nvSpPr>
          <p:cNvPr id="13" name="Shape 11"/>
          <p:cNvSpPr/>
          <p:nvPr/>
        </p:nvSpPr>
        <p:spPr>
          <a:xfrm>
            <a:off x="384048" y="2359152"/>
            <a:ext cx="128016" cy="128016"/>
          </a:xfrm>
          <a:prstGeom prst="line">
            <a:avLst/>
          </a:prstGeom>
          <a:solidFill>
            <a:srgbClr val="1A6FBF"/>
          </a:solidFill>
          <a:ln w="12700">
            <a:solidFill>
              <a:srgbClr val="1A6FBF"/>
            </a:solidFill>
            <a:prstDash val="solid"/>
          </a:ln>
        </p:spPr>
        <p:txBody>
          <a:bodyPr/>
          <a:lstStyle/>
          <a:p>
            <a:endParaRPr lang="en-IN"/>
          </a:p>
        </p:txBody>
      </p:sp>
      <p:sp>
        <p:nvSpPr>
          <p:cNvPr id="14" name="Text 12"/>
          <p:cNvSpPr/>
          <p:nvPr/>
        </p:nvSpPr>
        <p:spPr>
          <a:xfrm>
            <a:off x="585216" y="2267712"/>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Approve or Reject with optional reviewer comments</a:t>
            </a:r>
            <a:endParaRPr lang="en-US" sz="1100" dirty="0"/>
          </a:p>
        </p:txBody>
      </p:sp>
      <p:sp>
        <p:nvSpPr>
          <p:cNvPr id="15" name="Shape 13"/>
          <p:cNvSpPr/>
          <p:nvPr/>
        </p:nvSpPr>
        <p:spPr>
          <a:xfrm>
            <a:off x="384048" y="2871216"/>
            <a:ext cx="128016" cy="128016"/>
          </a:xfrm>
          <a:prstGeom prst="line">
            <a:avLst/>
          </a:prstGeom>
          <a:solidFill>
            <a:srgbClr val="1A6FBF"/>
          </a:solidFill>
          <a:ln w="12700">
            <a:solidFill>
              <a:srgbClr val="1A6FBF"/>
            </a:solidFill>
            <a:prstDash val="solid"/>
          </a:ln>
        </p:spPr>
        <p:txBody>
          <a:bodyPr/>
          <a:lstStyle/>
          <a:p>
            <a:endParaRPr lang="en-IN"/>
          </a:p>
        </p:txBody>
      </p:sp>
      <p:sp>
        <p:nvSpPr>
          <p:cNvPr id="16" name="Text 14"/>
          <p:cNvSpPr/>
          <p:nvPr/>
        </p:nvSpPr>
        <p:spPr>
          <a:xfrm>
            <a:off x="585216" y="2779776"/>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Audit trail records every decision with reviewer identity</a:t>
            </a:r>
            <a:endParaRPr lang="en-US" sz="1100" dirty="0"/>
          </a:p>
        </p:txBody>
      </p:sp>
      <p:sp>
        <p:nvSpPr>
          <p:cNvPr id="17" name="Shape 15"/>
          <p:cNvSpPr/>
          <p:nvPr/>
        </p:nvSpPr>
        <p:spPr>
          <a:xfrm>
            <a:off x="384048" y="3383280"/>
            <a:ext cx="128016" cy="128016"/>
          </a:xfrm>
          <a:prstGeom prst="line">
            <a:avLst/>
          </a:prstGeom>
          <a:solidFill>
            <a:srgbClr val="1A6FBF"/>
          </a:solidFill>
          <a:ln w="12700">
            <a:solidFill>
              <a:srgbClr val="1A6FBF"/>
            </a:solidFill>
            <a:prstDash val="solid"/>
          </a:ln>
        </p:spPr>
        <p:txBody>
          <a:bodyPr/>
          <a:lstStyle/>
          <a:p>
            <a:endParaRPr lang="en-IN"/>
          </a:p>
        </p:txBody>
      </p:sp>
      <p:sp>
        <p:nvSpPr>
          <p:cNvPr id="18" name="Text 16"/>
          <p:cNvSpPr/>
          <p:nvPr/>
        </p:nvSpPr>
        <p:spPr>
          <a:xfrm>
            <a:off x="585216" y="3291840"/>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Auto-timeout: pending approvals &gt;24h auto-processed</a:t>
            </a:r>
            <a:endParaRPr lang="en-US" sz="1100" dirty="0"/>
          </a:p>
        </p:txBody>
      </p:sp>
      <p:sp>
        <p:nvSpPr>
          <p:cNvPr id="19" name="Shape 17"/>
          <p:cNvSpPr/>
          <p:nvPr/>
        </p:nvSpPr>
        <p:spPr>
          <a:xfrm>
            <a:off x="384048" y="3895344"/>
            <a:ext cx="128016" cy="128016"/>
          </a:xfrm>
          <a:prstGeom prst="line">
            <a:avLst/>
          </a:prstGeom>
          <a:solidFill>
            <a:srgbClr val="1A6FBF"/>
          </a:solidFill>
          <a:ln w="12700">
            <a:solidFill>
              <a:srgbClr val="1A6FBF"/>
            </a:solidFill>
            <a:prstDash val="solid"/>
          </a:ln>
        </p:spPr>
        <p:txBody>
          <a:bodyPr/>
          <a:lstStyle/>
          <a:p>
            <a:endParaRPr lang="en-IN"/>
          </a:p>
        </p:txBody>
      </p:sp>
      <p:sp>
        <p:nvSpPr>
          <p:cNvPr id="20" name="Text 18"/>
          <p:cNvSpPr/>
          <p:nvPr/>
        </p:nvSpPr>
        <p:spPr>
          <a:xfrm>
            <a:off x="585216" y="3803904"/>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Frontend: /approval-queue — filter/search/pagination</a:t>
            </a:r>
            <a:endParaRPr lang="en-US" sz="1100" dirty="0"/>
          </a:p>
        </p:txBody>
      </p:sp>
      <p:sp>
        <p:nvSpPr>
          <p:cNvPr id="21" name="Shape 19"/>
          <p:cNvSpPr/>
          <p:nvPr/>
        </p:nvSpPr>
        <p:spPr>
          <a:xfrm>
            <a:off x="4645152" y="786384"/>
            <a:ext cx="4224528" cy="4059936"/>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2" name="Shape 20"/>
          <p:cNvSpPr/>
          <p:nvPr/>
        </p:nvSpPr>
        <p:spPr>
          <a:xfrm>
            <a:off x="4645152" y="786384"/>
            <a:ext cx="4224528" cy="384048"/>
          </a:xfrm>
          <a:prstGeom prst="rect">
            <a:avLst/>
          </a:prstGeom>
          <a:solidFill>
            <a:srgbClr val="00796B"/>
          </a:solidFill>
          <a:ln w="12700">
            <a:solidFill>
              <a:srgbClr val="00796B"/>
            </a:solidFill>
            <a:prstDash val="solid"/>
          </a:ln>
        </p:spPr>
        <p:txBody>
          <a:bodyPr/>
          <a:lstStyle/>
          <a:p>
            <a:endParaRPr lang="en-IN"/>
          </a:p>
        </p:txBody>
      </p:sp>
      <p:sp>
        <p:nvSpPr>
          <p:cNvPr id="23" name="Text 21"/>
          <p:cNvSpPr/>
          <p:nvPr/>
        </p:nvSpPr>
        <p:spPr>
          <a:xfrm>
            <a:off x="4773168" y="786384"/>
            <a:ext cx="3977640" cy="3840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Agent Logs &amp; Audit System  (TASK-401)</a:t>
            </a:r>
            <a:endParaRPr lang="en-US" sz="1150" dirty="0"/>
          </a:p>
        </p:txBody>
      </p:sp>
      <p:sp>
        <p:nvSpPr>
          <p:cNvPr id="24" name="Shape 22"/>
          <p:cNvSpPr/>
          <p:nvPr/>
        </p:nvSpPr>
        <p:spPr>
          <a:xfrm>
            <a:off x="4773168" y="1335024"/>
            <a:ext cx="128016" cy="128016"/>
          </a:xfrm>
          <a:prstGeom prst="line">
            <a:avLst/>
          </a:prstGeom>
          <a:solidFill>
            <a:srgbClr val="00796B"/>
          </a:solidFill>
          <a:ln w="12700">
            <a:solidFill>
              <a:srgbClr val="00796B"/>
            </a:solidFill>
            <a:prstDash val="solid"/>
          </a:ln>
        </p:spPr>
        <p:txBody>
          <a:bodyPr/>
          <a:lstStyle/>
          <a:p>
            <a:endParaRPr lang="en-IN"/>
          </a:p>
        </p:txBody>
      </p:sp>
      <p:sp>
        <p:nvSpPr>
          <p:cNvPr id="25" name="Text 23"/>
          <p:cNvSpPr/>
          <p:nvPr/>
        </p:nvSpPr>
        <p:spPr>
          <a:xfrm>
            <a:off x="4974336" y="1243584"/>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All agent actions persisted to agent_logs table</a:t>
            </a:r>
            <a:endParaRPr lang="en-US" sz="1100" dirty="0"/>
          </a:p>
        </p:txBody>
      </p:sp>
      <p:sp>
        <p:nvSpPr>
          <p:cNvPr id="26" name="Shape 24"/>
          <p:cNvSpPr/>
          <p:nvPr/>
        </p:nvSpPr>
        <p:spPr>
          <a:xfrm>
            <a:off x="4773168" y="1847088"/>
            <a:ext cx="128016" cy="128016"/>
          </a:xfrm>
          <a:prstGeom prst="line">
            <a:avLst/>
          </a:prstGeom>
          <a:solidFill>
            <a:srgbClr val="00796B"/>
          </a:solidFill>
          <a:ln w="12700">
            <a:solidFill>
              <a:srgbClr val="00796B"/>
            </a:solidFill>
            <a:prstDash val="solid"/>
          </a:ln>
        </p:spPr>
        <p:txBody>
          <a:bodyPr/>
          <a:lstStyle/>
          <a:p>
            <a:endParaRPr lang="en-IN"/>
          </a:p>
        </p:txBody>
      </p:sp>
      <p:sp>
        <p:nvSpPr>
          <p:cNvPr id="27" name="Text 25"/>
          <p:cNvSpPr/>
          <p:nvPr/>
        </p:nvSpPr>
        <p:spPr>
          <a:xfrm>
            <a:off x="4974336" y="1755648"/>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Rolling retention policy keeps log footprint bounded</a:t>
            </a:r>
            <a:endParaRPr lang="en-US" sz="1100" dirty="0"/>
          </a:p>
        </p:txBody>
      </p:sp>
      <p:sp>
        <p:nvSpPr>
          <p:cNvPr id="28" name="Shape 26"/>
          <p:cNvSpPr/>
          <p:nvPr/>
        </p:nvSpPr>
        <p:spPr>
          <a:xfrm>
            <a:off x="4773168" y="2359152"/>
            <a:ext cx="128016" cy="128016"/>
          </a:xfrm>
          <a:prstGeom prst="line">
            <a:avLst/>
          </a:prstGeom>
          <a:solidFill>
            <a:srgbClr val="00796B"/>
          </a:solidFill>
          <a:ln w="12700">
            <a:solidFill>
              <a:srgbClr val="00796B"/>
            </a:solidFill>
            <a:prstDash val="solid"/>
          </a:ln>
        </p:spPr>
        <p:txBody>
          <a:bodyPr/>
          <a:lstStyle/>
          <a:p>
            <a:endParaRPr lang="en-IN"/>
          </a:p>
        </p:txBody>
      </p:sp>
      <p:sp>
        <p:nvSpPr>
          <p:cNvPr id="29" name="Text 27"/>
          <p:cNvSpPr/>
          <p:nvPr/>
        </p:nvSpPr>
        <p:spPr>
          <a:xfrm>
            <a:off x="4974336" y="2267712"/>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GET /api/agents/logs — filter by agent, status, level</a:t>
            </a:r>
            <a:endParaRPr lang="en-US" sz="1100" dirty="0"/>
          </a:p>
        </p:txBody>
      </p:sp>
      <p:sp>
        <p:nvSpPr>
          <p:cNvPr id="30" name="Shape 28"/>
          <p:cNvSpPr/>
          <p:nvPr/>
        </p:nvSpPr>
        <p:spPr>
          <a:xfrm>
            <a:off x="4773168" y="2871216"/>
            <a:ext cx="128016" cy="128016"/>
          </a:xfrm>
          <a:prstGeom prst="line">
            <a:avLst/>
          </a:prstGeom>
          <a:solidFill>
            <a:srgbClr val="00796B"/>
          </a:solidFill>
          <a:ln w="12700">
            <a:solidFill>
              <a:srgbClr val="00796B"/>
            </a:solidFill>
            <a:prstDash val="solid"/>
          </a:ln>
        </p:spPr>
        <p:txBody>
          <a:bodyPr/>
          <a:lstStyle/>
          <a:p>
            <a:endParaRPr lang="en-IN"/>
          </a:p>
        </p:txBody>
      </p:sp>
      <p:sp>
        <p:nvSpPr>
          <p:cNvPr id="31" name="Text 29"/>
          <p:cNvSpPr/>
          <p:nvPr/>
        </p:nvSpPr>
        <p:spPr>
          <a:xfrm>
            <a:off x="4974336" y="2779776"/>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Full-text search on task description + error payload</a:t>
            </a:r>
            <a:endParaRPr lang="en-US" sz="1100" dirty="0"/>
          </a:p>
        </p:txBody>
      </p:sp>
      <p:sp>
        <p:nvSpPr>
          <p:cNvPr id="32" name="Shape 30"/>
          <p:cNvSpPr/>
          <p:nvPr/>
        </p:nvSpPr>
        <p:spPr>
          <a:xfrm>
            <a:off x="4773168" y="3383280"/>
            <a:ext cx="128016" cy="128016"/>
          </a:xfrm>
          <a:prstGeom prst="line">
            <a:avLst/>
          </a:prstGeom>
          <a:solidFill>
            <a:srgbClr val="00796B"/>
          </a:solidFill>
          <a:ln w="12700">
            <a:solidFill>
              <a:srgbClr val="00796B"/>
            </a:solidFill>
            <a:prstDash val="solid"/>
          </a:ln>
        </p:spPr>
        <p:txBody>
          <a:bodyPr/>
          <a:lstStyle/>
          <a:p>
            <a:endParaRPr lang="en-IN"/>
          </a:p>
        </p:txBody>
      </p:sp>
      <p:sp>
        <p:nvSpPr>
          <p:cNvPr id="33" name="Text 31"/>
          <p:cNvSpPr/>
          <p:nvPr/>
        </p:nvSpPr>
        <p:spPr>
          <a:xfrm>
            <a:off x="4974336" y="3291840"/>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Pagination: limit + offset params supported</a:t>
            </a:r>
            <a:endParaRPr lang="en-US" sz="1100" dirty="0"/>
          </a:p>
        </p:txBody>
      </p:sp>
      <p:sp>
        <p:nvSpPr>
          <p:cNvPr id="34" name="Shape 32"/>
          <p:cNvSpPr/>
          <p:nvPr/>
        </p:nvSpPr>
        <p:spPr>
          <a:xfrm>
            <a:off x="4773168" y="3895344"/>
            <a:ext cx="128016" cy="128016"/>
          </a:xfrm>
          <a:prstGeom prst="line">
            <a:avLst/>
          </a:prstGeom>
          <a:solidFill>
            <a:srgbClr val="00796B"/>
          </a:solidFill>
          <a:ln w="12700">
            <a:solidFill>
              <a:srgbClr val="00796B"/>
            </a:solidFill>
            <a:prstDash val="solid"/>
          </a:ln>
        </p:spPr>
        <p:txBody>
          <a:bodyPr/>
          <a:lstStyle/>
          <a:p>
            <a:endParaRPr lang="en-IN"/>
          </a:p>
        </p:txBody>
      </p:sp>
      <p:sp>
        <p:nvSpPr>
          <p:cNvPr id="35" name="Text 33"/>
          <p:cNvSpPr/>
          <p:nvPr/>
        </p:nvSpPr>
        <p:spPr>
          <a:xfrm>
            <a:off x="4974336" y="3803904"/>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GET /api/agents/dashboard — jobs summary + audit queue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08</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Backend &amp; API</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35+ REST endpoints · Docker · Explainability layer</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Backend Architecture &amp; Data Analysis</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46888" y="786384"/>
            <a:ext cx="2743200" cy="438912"/>
          </a:xfrm>
          <a:prstGeom prst="rect">
            <a:avLst/>
          </a:prstGeom>
          <a:solidFill>
            <a:srgbClr val="1A6FBF"/>
          </a:solidFill>
          <a:ln w="12700">
            <a:solidFill>
              <a:srgbClr val="1A6FBF"/>
            </a:solidFill>
            <a:prstDash val="solid"/>
          </a:ln>
        </p:spPr>
        <p:txBody>
          <a:bodyPr/>
          <a:lstStyle/>
          <a:p>
            <a:endParaRPr lang="en-IN"/>
          </a:p>
        </p:txBody>
      </p:sp>
      <p:sp>
        <p:nvSpPr>
          <p:cNvPr id="7" name="Text 5"/>
          <p:cNvSpPr/>
          <p:nvPr/>
        </p:nvSpPr>
        <p:spPr>
          <a:xfrm>
            <a:off x="246888" y="786384"/>
            <a:ext cx="2743200" cy="43891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Backend Framework</a:t>
            </a:r>
            <a:endParaRPr lang="en-US" sz="1250" dirty="0"/>
          </a:p>
        </p:txBody>
      </p:sp>
      <p:sp>
        <p:nvSpPr>
          <p:cNvPr id="8" name="Shape 6"/>
          <p:cNvSpPr/>
          <p:nvPr/>
        </p:nvSpPr>
        <p:spPr>
          <a:xfrm>
            <a:off x="246888" y="1225296"/>
            <a:ext cx="2743200" cy="1645920"/>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9" name="Shape 7"/>
          <p:cNvSpPr/>
          <p:nvPr/>
        </p:nvSpPr>
        <p:spPr>
          <a:xfrm>
            <a:off x="393192" y="1389888"/>
            <a:ext cx="128016" cy="128016"/>
          </a:xfrm>
          <a:prstGeom prst="line">
            <a:avLst/>
          </a:prstGeom>
          <a:solidFill>
            <a:srgbClr val="1A6FBF"/>
          </a:solidFill>
          <a:ln w="12700">
            <a:solidFill>
              <a:srgbClr val="1A6FBF"/>
            </a:solidFill>
            <a:prstDash val="solid"/>
          </a:ln>
        </p:spPr>
        <p:txBody>
          <a:bodyPr/>
          <a:lstStyle/>
          <a:p>
            <a:endParaRPr lang="en-IN"/>
          </a:p>
        </p:txBody>
      </p:sp>
      <p:sp>
        <p:nvSpPr>
          <p:cNvPr id="10" name="Text 8"/>
          <p:cNvSpPr/>
          <p:nvPr/>
        </p:nvSpPr>
        <p:spPr>
          <a:xfrm>
            <a:off x="594360" y="1298448"/>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High-performance REST API endpoints for predictions, inventory, alerts &amp; reports</a:t>
            </a:r>
            <a:endParaRPr lang="en-US" sz="1050" dirty="0"/>
          </a:p>
        </p:txBody>
      </p:sp>
      <p:sp>
        <p:nvSpPr>
          <p:cNvPr id="11" name="Shape 9"/>
          <p:cNvSpPr/>
          <p:nvPr/>
        </p:nvSpPr>
        <p:spPr>
          <a:xfrm>
            <a:off x="393192" y="1920240"/>
            <a:ext cx="128016" cy="128016"/>
          </a:xfrm>
          <a:prstGeom prst="line">
            <a:avLst/>
          </a:prstGeom>
          <a:solidFill>
            <a:srgbClr val="1A6FBF"/>
          </a:solidFill>
          <a:ln w="12700">
            <a:solidFill>
              <a:srgbClr val="1A6FBF"/>
            </a:solidFill>
            <a:prstDash val="solid"/>
          </a:ln>
        </p:spPr>
        <p:txBody>
          <a:bodyPr/>
          <a:lstStyle/>
          <a:p>
            <a:endParaRPr lang="en-IN"/>
          </a:p>
        </p:txBody>
      </p:sp>
      <p:sp>
        <p:nvSpPr>
          <p:cNvPr id="12" name="Text 10"/>
          <p:cNvSpPr/>
          <p:nvPr/>
        </p:nvSpPr>
        <p:spPr>
          <a:xfrm>
            <a:off x="594360" y="1828800"/>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Auto database setup and schema initialisation on startup</a:t>
            </a:r>
            <a:endParaRPr lang="en-US" sz="1050" dirty="0"/>
          </a:p>
        </p:txBody>
      </p:sp>
      <p:sp>
        <p:nvSpPr>
          <p:cNvPr id="13" name="Shape 11"/>
          <p:cNvSpPr/>
          <p:nvPr/>
        </p:nvSpPr>
        <p:spPr>
          <a:xfrm>
            <a:off x="393192" y="2450592"/>
            <a:ext cx="128016" cy="128016"/>
          </a:xfrm>
          <a:prstGeom prst="line">
            <a:avLst/>
          </a:prstGeom>
          <a:solidFill>
            <a:srgbClr val="1A6FBF"/>
          </a:solidFill>
          <a:ln w="12700">
            <a:solidFill>
              <a:srgbClr val="1A6FBF"/>
            </a:solidFill>
            <a:prstDash val="solid"/>
          </a:ln>
        </p:spPr>
        <p:txBody>
          <a:bodyPr/>
          <a:lstStyle/>
          <a:p>
            <a:endParaRPr lang="en-IN"/>
          </a:p>
        </p:txBody>
      </p:sp>
      <p:sp>
        <p:nvSpPr>
          <p:cNvPr id="14" name="Text 12"/>
          <p:cNvSpPr/>
          <p:nvPr/>
        </p:nvSpPr>
        <p:spPr>
          <a:xfrm>
            <a:off x="594360" y="2359152"/>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Lifespan events for clean startup and graceful shutdown</a:t>
            </a:r>
            <a:endParaRPr lang="en-US" sz="1050" dirty="0"/>
          </a:p>
        </p:txBody>
      </p:sp>
      <p:sp>
        <p:nvSpPr>
          <p:cNvPr id="15" name="Shape 13"/>
          <p:cNvSpPr/>
          <p:nvPr/>
        </p:nvSpPr>
        <p:spPr>
          <a:xfrm>
            <a:off x="3191256" y="786384"/>
            <a:ext cx="2743200" cy="438912"/>
          </a:xfrm>
          <a:prstGeom prst="rect">
            <a:avLst/>
          </a:prstGeom>
          <a:solidFill>
            <a:srgbClr val="00796B"/>
          </a:solidFill>
          <a:ln w="12700">
            <a:solidFill>
              <a:srgbClr val="00796B"/>
            </a:solidFill>
            <a:prstDash val="solid"/>
          </a:ln>
        </p:spPr>
        <p:txBody>
          <a:bodyPr/>
          <a:lstStyle/>
          <a:p>
            <a:endParaRPr lang="en-IN"/>
          </a:p>
        </p:txBody>
      </p:sp>
      <p:sp>
        <p:nvSpPr>
          <p:cNvPr id="16" name="Text 14"/>
          <p:cNvSpPr/>
          <p:nvPr/>
        </p:nvSpPr>
        <p:spPr>
          <a:xfrm>
            <a:off x="3191256" y="786384"/>
            <a:ext cx="2743200" cy="43891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Database Layer</a:t>
            </a:r>
            <a:endParaRPr lang="en-US" sz="1250" dirty="0"/>
          </a:p>
        </p:txBody>
      </p:sp>
      <p:sp>
        <p:nvSpPr>
          <p:cNvPr id="17" name="Shape 15"/>
          <p:cNvSpPr/>
          <p:nvPr/>
        </p:nvSpPr>
        <p:spPr>
          <a:xfrm>
            <a:off x="3191256" y="1225296"/>
            <a:ext cx="2743200" cy="1645920"/>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18" name="Shape 16"/>
          <p:cNvSpPr/>
          <p:nvPr/>
        </p:nvSpPr>
        <p:spPr>
          <a:xfrm>
            <a:off x="3337560" y="1389888"/>
            <a:ext cx="128016" cy="128016"/>
          </a:xfrm>
          <a:prstGeom prst="line">
            <a:avLst/>
          </a:prstGeom>
          <a:solidFill>
            <a:srgbClr val="00796B"/>
          </a:solidFill>
          <a:ln w="12700">
            <a:solidFill>
              <a:srgbClr val="00796B"/>
            </a:solidFill>
            <a:prstDash val="solid"/>
          </a:ln>
        </p:spPr>
        <p:txBody>
          <a:bodyPr/>
          <a:lstStyle/>
          <a:p>
            <a:endParaRPr lang="en-IN"/>
          </a:p>
        </p:txBody>
      </p:sp>
      <p:sp>
        <p:nvSpPr>
          <p:cNvPr id="19" name="Text 17"/>
          <p:cNvSpPr/>
          <p:nvPr/>
        </p:nvSpPr>
        <p:spPr>
          <a:xfrm>
            <a:off x="3538728" y="1298448"/>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PostgreSQL 15 as primary production database</a:t>
            </a:r>
            <a:endParaRPr lang="en-US" sz="1050" dirty="0"/>
          </a:p>
        </p:txBody>
      </p:sp>
      <p:sp>
        <p:nvSpPr>
          <p:cNvPr id="20" name="Shape 18"/>
          <p:cNvSpPr/>
          <p:nvPr/>
        </p:nvSpPr>
        <p:spPr>
          <a:xfrm>
            <a:off x="3337560" y="1920240"/>
            <a:ext cx="128016" cy="128016"/>
          </a:xfrm>
          <a:prstGeom prst="line">
            <a:avLst/>
          </a:prstGeom>
          <a:solidFill>
            <a:srgbClr val="00796B"/>
          </a:solidFill>
          <a:ln w="12700">
            <a:solidFill>
              <a:srgbClr val="00796B"/>
            </a:solidFill>
            <a:prstDash val="solid"/>
          </a:ln>
        </p:spPr>
        <p:txBody>
          <a:bodyPr/>
          <a:lstStyle/>
          <a:p>
            <a:endParaRPr lang="en-IN"/>
          </a:p>
        </p:txBody>
      </p:sp>
      <p:sp>
        <p:nvSpPr>
          <p:cNvPr id="21" name="Text 19"/>
          <p:cNvSpPr/>
          <p:nvPr/>
        </p:nvSpPr>
        <p:spPr>
          <a:xfrm>
            <a:off x="3538728" y="1828800"/>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SQLite as local development fallback (no Docker needed)</a:t>
            </a:r>
            <a:endParaRPr lang="en-US" sz="1050" dirty="0"/>
          </a:p>
        </p:txBody>
      </p:sp>
      <p:sp>
        <p:nvSpPr>
          <p:cNvPr id="22" name="Shape 20"/>
          <p:cNvSpPr/>
          <p:nvPr/>
        </p:nvSpPr>
        <p:spPr>
          <a:xfrm>
            <a:off x="3337560" y="2450592"/>
            <a:ext cx="128016" cy="128016"/>
          </a:xfrm>
          <a:prstGeom prst="line">
            <a:avLst/>
          </a:prstGeom>
          <a:solidFill>
            <a:srgbClr val="00796B"/>
          </a:solidFill>
          <a:ln w="12700">
            <a:solidFill>
              <a:srgbClr val="00796B"/>
            </a:solidFill>
            <a:prstDash val="solid"/>
          </a:ln>
        </p:spPr>
        <p:txBody>
          <a:bodyPr/>
          <a:lstStyle/>
          <a:p>
            <a:endParaRPr lang="en-IN"/>
          </a:p>
        </p:txBody>
      </p:sp>
      <p:sp>
        <p:nvSpPr>
          <p:cNvPr id="23" name="Text 21"/>
          <p:cNvSpPr/>
          <p:nvPr/>
        </p:nvSpPr>
        <p:spPr>
          <a:xfrm>
            <a:off x="3538728" y="2359152"/>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Synthetic hospital dataset — ~7.3M daily consumption records</a:t>
            </a:r>
            <a:endParaRPr lang="en-US" sz="1050" dirty="0"/>
          </a:p>
        </p:txBody>
      </p:sp>
      <p:sp>
        <p:nvSpPr>
          <p:cNvPr id="24" name="Shape 22"/>
          <p:cNvSpPr/>
          <p:nvPr/>
        </p:nvSpPr>
        <p:spPr>
          <a:xfrm>
            <a:off x="6135624" y="786384"/>
            <a:ext cx="2743200" cy="438912"/>
          </a:xfrm>
          <a:prstGeom prst="rect">
            <a:avLst/>
          </a:prstGeom>
          <a:solidFill>
            <a:srgbClr val="E65100"/>
          </a:solidFill>
          <a:ln w="12700">
            <a:solidFill>
              <a:srgbClr val="E65100"/>
            </a:solidFill>
            <a:prstDash val="solid"/>
          </a:ln>
        </p:spPr>
        <p:txBody>
          <a:bodyPr/>
          <a:lstStyle/>
          <a:p>
            <a:endParaRPr lang="en-IN"/>
          </a:p>
        </p:txBody>
      </p:sp>
      <p:sp>
        <p:nvSpPr>
          <p:cNvPr id="25" name="Text 23"/>
          <p:cNvSpPr/>
          <p:nvPr/>
        </p:nvSpPr>
        <p:spPr>
          <a:xfrm>
            <a:off x="6135624" y="786384"/>
            <a:ext cx="2743200" cy="438912"/>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ML Integration</a:t>
            </a:r>
            <a:endParaRPr lang="en-US" sz="1250" dirty="0"/>
          </a:p>
        </p:txBody>
      </p:sp>
      <p:sp>
        <p:nvSpPr>
          <p:cNvPr id="26" name="Shape 24"/>
          <p:cNvSpPr/>
          <p:nvPr/>
        </p:nvSpPr>
        <p:spPr>
          <a:xfrm>
            <a:off x="6135624" y="1225296"/>
            <a:ext cx="2743200" cy="1645920"/>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7" name="Shape 25"/>
          <p:cNvSpPr/>
          <p:nvPr/>
        </p:nvSpPr>
        <p:spPr>
          <a:xfrm>
            <a:off x="6281928" y="1389888"/>
            <a:ext cx="128016" cy="128016"/>
          </a:xfrm>
          <a:prstGeom prst="line">
            <a:avLst/>
          </a:prstGeom>
          <a:solidFill>
            <a:srgbClr val="E65100"/>
          </a:solidFill>
          <a:ln w="12700">
            <a:solidFill>
              <a:srgbClr val="E65100"/>
            </a:solidFill>
            <a:prstDash val="solid"/>
          </a:ln>
        </p:spPr>
        <p:txBody>
          <a:bodyPr/>
          <a:lstStyle/>
          <a:p>
            <a:endParaRPr lang="en-IN"/>
          </a:p>
        </p:txBody>
      </p:sp>
      <p:sp>
        <p:nvSpPr>
          <p:cNvPr id="28" name="Text 26"/>
          <p:cNvSpPr/>
          <p:nvPr/>
        </p:nvSpPr>
        <p:spPr>
          <a:xfrm>
            <a:off x="6483096" y="1298448"/>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Models trained and persisted as .pkl files for fast inference</a:t>
            </a:r>
            <a:endParaRPr lang="en-US" sz="1050" dirty="0"/>
          </a:p>
        </p:txBody>
      </p:sp>
      <p:sp>
        <p:nvSpPr>
          <p:cNvPr id="29" name="Shape 27"/>
          <p:cNvSpPr/>
          <p:nvPr/>
        </p:nvSpPr>
        <p:spPr>
          <a:xfrm>
            <a:off x="6281928" y="1920240"/>
            <a:ext cx="128016" cy="128016"/>
          </a:xfrm>
          <a:prstGeom prst="line">
            <a:avLst/>
          </a:prstGeom>
          <a:solidFill>
            <a:srgbClr val="E65100"/>
          </a:solidFill>
          <a:ln w="12700">
            <a:solidFill>
              <a:srgbClr val="E65100"/>
            </a:solidFill>
            <a:prstDash val="solid"/>
          </a:ln>
        </p:spPr>
        <p:txBody>
          <a:bodyPr/>
          <a:lstStyle/>
          <a:p>
            <a:endParaRPr lang="en-IN"/>
          </a:p>
        </p:txBody>
      </p:sp>
      <p:sp>
        <p:nvSpPr>
          <p:cNvPr id="30" name="Text 28"/>
          <p:cNvSpPr/>
          <p:nvPr/>
        </p:nvSpPr>
        <p:spPr>
          <a:xfrm>
            <a:off x="6483096" y="1828800"/>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Feature engineering pipelines for demand, stockout &amp; expiry</a:t>
            </a:r>
            <a:endParaRPr lang="en-US" sz="1050" dirty="0"/>
          </a:p>
        </p:txBody>
      </p:sp>
      <p:sp>
        <p:nvSpPr>
          <p:cNvPr id="31" name="Shape 29"/>
          <p:cNvSpPr/>
          <p:nvPr/>
        </p:nvSpPr>
        <p:spPr>
          <a:xfrm>
            <a:off x="6281928" y="2450592"/>
            <a:ext cx="128016" cy="128016"/>
          </a:xfrm>
          <a:prstGeom prst="line">
            <a:avLst/>
          </a:prstGeom>
          <a:solidFill>
            <a:srgbClr val="E65100"/>
          </a:solidFill>
          <a:ln w="12700">
            <a:solidFill>
              <a:srgbClr val="E65100"/>
            </a:solidFill>
            <a:prstDash val="solid"/>
          </a:ln>
        </p:spPr>
        <p:txBody>
          <a:bodyPr/>
          <a:lstStyle/>
          <a:p>
            <a:endParaRPr lang="en-IN"/>
          </a:p>
        </p:txBody>
      </p:sp>
      <p:sp>
        <p:nvSpPr>
          <p:cNvPr id="32" name="Text 30"/>
          <p:cNvSpPr/>
          <p:nvPr/>
        </p:nvSpPr>
        <p:spPr>
          <a:xfrm>
            <a:off x="6483096" y="2359152"/>
            <a:ext cx="2267712"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Prediction endpoints integrated directly into dashboard views</a:t>
            </a:r>
            <a:endParaRPr lang="en-US" sz="1050" dirty="0"/>
          </a:p>
        </p:txBody>
      </p:sp>
      <p:sp>
        <p:nvSpPr>
          <p:cNvPr id="33" name="Text 31"/>
          <p:cNvSpPr/>
          <p:nvPr/>
        </p:nvSpPr>
        <p:spPr>
          <a:xfrm>
            <a:off x="246888" y="2999232"/>
            <a:ext cx="8686800" cy="329184"/>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Key API Endpoint Groups</a:t>
            </a:r>
            <a:endParaRPr lang="en-US" sz="1300" dirty="0"/>
          </a:p>
        </p:txBody>
      </p:sp>
      <p:sp>
        <p:nvSpPr>
          <p:cNvPr id="34" name="Shape 32"/>
          <p:cNvSpPr/>
          <p:nvPr/>
        </p:nvSpPr>
        <p:spPr>
          <a:xfrm>
            <a:off x="246888" y="3401568"/>
            <a:ext cx="4251960" cy="8046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35" name="Shape 33"/>
          <p:cNvSpPr/>
          <p:nvPr/>
        </p:nvSpPr>
        <p:spPr>
          <a:xfrm>
            <a:off x="246888" y="3401568"/>
            <a:ext cx="1325880" cy="804672"/>
          </a:xfrm>
          <a:prstGeom prst="rect">
            <a:avLst/>
          </a:prstGeom>
          <a:solidFill>
            <a:srgbClr val="1A6FBF"/>
          </a:solidFill>
          <a:ln w="12700">
            <a:solidFill>
              <a:srgbClr val="1A6FBF"/>
            </a:solidFill>
            <a:prstDash val="solid"/>
          </a:ln>
        </p:spPr>
        <p:txBody>
          <a:bodyPr/>
          <a:lstStyle/>
          <a:p>
            <a:endParaRPr lang="en-IN"/>
          </a:p>
        </p:txBody>
      </p:sp>
      <p:sp>
        <p:nvSpPr>
          <p:cNvPr id="36" name="Text 34"/>
          <p:cNvSpPr/>
          <p:nvPr/>
        </p:nvSpPr>
        <p:spPr>
          <a:xfrm>
            <a:off x="301752" y="3401568"/>
            <a:ext cx="121615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ML Predictions</a:t>
            </a:r>
            <a:endParaRPr lang="en-US" sz="1000" dirty="0"/>
          </a:p>
        </p:txBody>
      </p:sp>
      <p:sp>
        <p:nvSpPr>
          <p:cNvPr id="37" name="Text 35"/>
          <p:cNvSpPr/>
          <p:nvPr/>
        </p:nvSpPr>
        <p:spPr>
          <a:xfrm>
            <a:off x="1655064" y="343814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/api/demand-forecast?item_id=N</a:t>
            </a:r>
            <a:endParaRPr lang="en-US" sz="900" dirty="0"/>
          </a:p>
        </p:txBody>
      </p:sp>
      <p:sp>
        <p:nvSpPr>
          <p:cNvPr id="38" name="Text 36"/>
          <p:cNvSpPr/>
          <p:nvPr/>
        </p:nvSpPr>
        <p:spPr>
          <a:xfrm>
            <a:off x="1655064" y="362102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/api/stockout-risk</a:t>
            </a:r>
            <a:endParaRPr lang="en-US" sz="900" dirty="0"/>
          </a:p>
        </p:txBody>
      </p:sp>
      <p:sp>
        <p:nvSpPr>
          <p:cNvPr id="39" name="Text 37"/>
          <p:cNvSpPr/>
          <p:nvPr/>
        </p:nvSpPr>
        <p:spPr>
          <a:xfrm>
            <a:off x="1655064" y="380390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/api/expiry-risk</a:t>
            </a:r>
            <a:endParaRPr lang="en-US" sz="900" dirty="0"/>
          </a:p>
        </p:txBody>
      </p:sp>
      <p:sp>
        <p:nvSpPr>
          <p:cNvPr id="40" name="Text 38"/>
          <p:cNvSpPr/>
          <p:nvPr/>
        </p:nvSpPr>
        <p:spPr>
          <a:xfrm>
            <a:off x="1655064" y="398678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/api/ensemble-forecast</a:t>
            </a:r>
            <a:endParaRPr lang="en-US" sz="900" dirty="0"/>
          </a:p>
        </p:txBody>
      </p:sp>
      <p:sp>
        <p:nvSpPr>
          <p:cNvPr id="41" name="Text 39"/>
          <p:cNvSpPr/>
          <p:nvPr/>
        </p:nvSpPr>
        <p:spPr>
          <a:xfrm>
            <a:off x="1655064" y="416966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/api/anomalies/recent</a:t>
            </a:r>
            <a:endParaRPr lang="en-US" sz="900" dirty="0"/>
          </a:p>
        </p:txBody>
      </p:sp>
      <p:sp>
        <p:nvSpPr>
          <p:cNvPr id="42" name="Shape 40"/>
          <p:cNvSpPr/>
          <p:nvPr/>
        </p:nvSpPr>
        <p:spPr>
          <a:xfrm>
            <a:off x="4818888" y="3401568"/>
            <a:ext cx="4251960" cy="8046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43" name="Shape 41"/>
          <p:cNvSpPr/>
          <p:nvPr/>
        </p:nvSpPr>
        <p:spPr>
          <a:xfrm>
            <a:off x="4818888" y="3401568"/>
            <a:ext cx="1325880" cy="804672"/>
          </a:xfrm>
          <a:prstGeom prst="rect">
            <a:avLst/>
          </a:prstGeom>
          <a:solidFill>
            <a:srgbClr val="00796B"/>
          </a:solidFill>
          <a:ln w="12700">
            <a:solidFill>
              <a:srgbClr val="00796B"/>
            </a:solidFill>
            <a:prstDash val="solid"/>
          </a:ln>
        </p:spPr>
        <p:txBody>
          <a:bodyPr/>
          <a:lstStyle/>
          <a:p>
            <a:endParaRPr lang="en-IN"/>
          </a:p>
        </p:txBody>
      </p:sp>
      <p:sp>
        <p:nvSpPr>
          <p:cNvPr id="44" name="Text 42"/>
          <p:cNvSpPr/>
          <p:nvPr/>
        </p:nvSpPr>
        <p:spPr>
          <a:xfrm>
            <a:off x="4873752" y="3401568"/>
            <a:ext cx="121615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Explainability</a:t>
            </a:r>
            <a:endParaRPr lang="en-US" sz="1000" dirty="0"/>
          </a:p>
        </p:txBody>
      </p:sp>
      <p:sp>
        <p:nvSpPr>
          <p:cNvPr id="45" name="Text 43"/>
          <p:cNvSpPr/>
          <p:nvPr/>
        </p:nvSpPr>
        <p:spPr>
          <a:xfrm>
            <a:off x="6227064" y="343814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/api/explain/item/{id}</a:t>
            </a:r>
            <a:endParaRPr lang="en-US" sz="900" dirty="0"/>
          </a:p>
        </p:txBody>
      </p:sp>
      <p:sp>
        <p:nvSpPr>
          <p:cNvPr id="46" name="Text 44"/>
          <p:cNvSpPr/>
          <p:nvPr/>
        </p:nvSpPr>
        <p:spPr>
          <a:xfrm>
            <a:off x="6227064" y="362102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/api/explain/prediction/{id}</a:t>
            </a:r>
            <a:endParaRPr lang="en-US" sz="900" dirty="0"/>
          </a:p>
        </p:txBody>
      </p:sp>
      <p:sp>
        <p:nvSpPr>
          <p:cNvPr id="47" name="Text 45"/>
          <p:cNvSpPr/>
          <p:nvPr/>
        </p:nvSpPr>
        <p:spPr>
          <a:xfrm>
            <a:off x="6227064" y="380390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/api/model-overview</a:t>
            </a:r>
            <a:endParaRPr lang="en-US" sz="900" dirty="0"/>
          </a:p>
        </p:txBody>
      </p:sp>
      <p:sp>
        <p:nvSpPr>
          <p:cNvPr id="48" name="Text 46"/>
          <p:cNvSpPr/>
          <p:nvPr/>
        </p:nvSpPr>
        <p:spPr>
          <a:xfrm>
            <a:off x="6227064" y="3986784"/>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/api/model-comparison</a:t>
            </a:r>
            <a:endParaRPr lang="en-US" sz="900" dirty="0"/>
          </a:p>
        </p:txBody>
      </p:sp>
      <p:sp>
        <p:nvSpPr>
          <p:cNvPr id="49" name="Shape 47"/>
          <p:cNvSpPr/>
          <p:nvPr/>
        </p:nvSpPr>
        <p:spPr>
          <a:xfrm>
            <a:off x="246888" y="4297680"/>
            <a:ext cx="4251960" cy="8046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50" name="Shape 48"/>
          <p:cNvSpPr/>
          <p:nvPr/>
        </p:nvSpPr>
        <p:spPr>
          <a:xfrm>
            <a:off x="246888" y="4297680"/>
            <a:ext cx="1325880" cy="804672"/>
          </a:xfrm>
          <a:prstGeom prst="rect">
            <a:avLst/>
          </a:prstGeom>
          <a:solidFill>
            <a:srgbClr val="E65100"/>
          </a:solidFill>
          <a:ln w="12700">
            <a:solidFill>
              <a:srgbClr val="E65100"/>
            </a:solidFill>
            <a:prstDash val="solid"/>
          </a:ln>
        </p:spPr>
        <p:txBody>
          <a:bodyPr/>
          <a:lstStyle/>
          <a:p>
            <a:endParaRPr lang="en-IN"/>
          </a:p>
        </p:txBody>
      </p:sp>
      <p:sp>
        <p:nvSpPr>
          <p:cNvPr id="51" name="Text 49"/>
          <p:cNvSpPr/>
          <p:nvPr/>
        </p:nvSpPr>
        <p:spPr>
          <a:xfrm>
            <a:off x="301752" y="4297680"/>
            <a:ext cx="121615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Agents &amp; Procurement</a:t>
            </a:r>
            <a:endParaRPr lang="en-US" sz="1000" dirty="0"/>
          </a:p>
        </p:txBody>
      </p:sp>
      <p:sp>
        <p:nvSpPr>
          <p:cNvPr id="52" name="Text 50"/>
          <p:cNvSpPr/>
          <p:nvPr/>
        </p:nvSpPr>
        <p:spPr>
          <a:xfrm>
            <a:off x="1655064" y="433425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/api/agents/supply-chain/optimize</a:t>
            </a:r>
            <a:endParaRPr lang="en-US" sz="900" dirty="0"/>
          </a:p>
        </p:txBody>
      </p:sp>
      <p:sp>
        <p:nvSpPr>
          <p:cNvPr id="53" name="Text 51"/>
          <p:cNvSpPr/>
          <p:nvPr/>
        </p:nvSpPr>
        <p:spPr>
          <a:xfrm>
            <a:off x="1655064" y="451713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/api/purchase-orders (GET/POST)</a:t>
            </a:r>
            <a:endParaRPr lang="en-US" sz="900" dirty="0"/>
          </a:p>
        </p:txBody>
      </p:sp>
      <p:sp>
        <p:nvSpPr>
          <p:cNvPr id="54" name="Text 52"/>
          <p:cNvSpPr/>
          <p:nvPr/>
        </p:nvSpPr>
        <p:spPr>
          <a:xfrm>
            <a:off x="1655064" y="470001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/api/approval-queue/{id}/decision</a:t>
            </a:r>
            <a:endParaRPr lang="en-US" sz="900" dirty="0"/>
          </a:p>
        </p:txBody>
      </p:sp>
      <p:sp>
        <p:nvSpPr>
          <p:cNvPr id="55" name="Text 53"/>
          <p:cNvSpPr/>
          <p:nvPr/>
        </p:nvSpPr>
        <p:spPr>
          <a:xfrm>
            <a:off x="1655064" y="488289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/api/suppliers/scoring</a:t>
            </a:r>
            <a:endParaRPr lang="en-US" sz="900" dirty="0"/>
          </a:p>
        </p:txBody>
      </p:sp>
      <p:sp>
        <p:nvSpPr>
          <p:cNvPr id="56" name="Shape 54"/>
          <p:cNvSpPr/>
          <p:nvPr/>
        </p:nvSpPr>
        <p:spPr>
          <a:xfrm>
            <a:off x="4818888" y="4297680"/>
            <a:ext cx="4251960" cy="8046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57" name="Shape 55"/>
          <p:cNvSpPr/>
          <p:nvPr/>
        </p:nvSpPr>
        <p:spPr>
          <a:xfrm>
            <a:off x="4818888" y="4297680"/>
            <a:ext cx="1325880" cy="804672"/>
          </a:xfrm>
          <a:prstGeom prst="rect">
            <a:avLst/>
          </a:prstGeom>
          <a:solidFill>
            <a:srgbClr val="1A3A5C"/>
          </a:solidFill>
          <a:ln w="12700">
            <a:solidFill>
              <a:srgbClr val="1A3A5C"/>
            </a:solidFill>
            <a:prstDash val="solid"/>
          </a:ln>
        </p:spPr>
        <p:txBody>
          <a:bodyPr/>
          <a:lstStyle/>
          <a:p>
            <a:endParaRPr lang="en-IN"/>
          </a:p>
        </p:txBody>
      </p:sp>
      <p:sp>
        <p:nvSpPr>
          <p:cNvPr id="58" name="Text 56"/>
          <p:cNvSpPr/>
          <p:nvPr/>
        </p:nvSpPr>
        <p:spPr>
          <a:xfrm>
            <a:off x="4873752" y="4297680"/>
            <a:ext cx="1216152" cy="8046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Deliveries &amp; Audit</a:t>
            </a:r>
            <a:endParaRPr lang="en-US" sz="1000" dirty="0"/>
          </a:p>
        </p:txBody>
      </p:sp>
      <p:sp>
        <p:nvSpPr>
          <p:cNvPr id="59" name="Text 57"/>
          <p:cNvSpPr/>
          <p:nvPr/>
        </p:nvSpPr>
        <p:spPr>
          <a:xfrm>
            <a:off x="6227064" y="433425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/api/deliveries/status (GET/POST)</a:t>
            </a:r>
            <a:endParaRPr lang="en-US" sz="900" dirty="0"/>
          </a:p>
        </p:txBody>
      </p:sp>
      <p:sp>
        <p:nvSpPr>
          <p:cNvPr id="60" name="Text 58"/>
          <p:cNvSpPr/>
          <p:nvPr/>
        </p:nvSpPr>
        <p:spPr>
          <a:xfrm>
            <a:off x="6227064" y="451713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/api/deliveries/sync</a:t>
            </a:r>
            <a:endParaRPr lang="en-US" sz="900" dirty="0"/>
          </a:p>
        </p:txBody>
      </p:sp>
      <p:sp>
        <p:nvSpPr>
          <p:cNvPr id="61" name="Text 59"/>
          <p:cNvSpPr/>
          <p:nvPr/>
        </p:nvSpPr>
        <p:spPr>
          <a:xfrm>
            <a:off x="6227064" y="470001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/api/agents/logs</a:t>
            </a:r>
            <a:endParaRPr lang="en-US" sz="900" dirty="0"/>
          </a:p>
        </p:txBody>
      </p:sp>
      <p:sp>
        <p:nvSpPr>
          <p:cNvPr id="62" name="Text 60"/>
          <p:cNvSpPr/>
          <p:nvPr/>
        </p:nvSpPr>
        <p:spPr>
          <a:xfrm>
            <a:off x="6227064" y="4882896"/>
            <a:ext cx="2788920" cy="182880"/>
          </a:xfrm>
          <a:prstGeom prst="rect">
            <a:avLst/>
          </a:prstGeom>
          <a:noFill/>
          <a:ln/>
        </p:spPr>
        <p:txBody>
          <a:bodyPr wrap="square" rtlCol="0" anchor="ctr"/>
          <a:lstStyle/>
          <a:p>
            <a:pPr marL="0" indent="0">
              <a:buNone/>
            </a:pPr>
            <a:r>
              <a:rPr lang="en-US" sz="900" dirty="0">
                <a:solidFill>
                  <a:srgbClr val="2C3E50"/>
                </a:solidFill>
                <a:latin typeface="Consolas" pitchFamily="34" charset="0"/>
                <a:ea typeface="Consolas" pitchFamily="34" charset="-122"/>
                <a:cs typeface="Consolas" pitchFamily="34" charset="-120"/>
              </a:rPr>
              <a:t>/api/admin/ingestion-audit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09</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Development Workflow</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Epics · sprints · Git branching · Definition of Done</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Development Workflow — Sprint Timeline &amp; Git Standards</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256032" y="749808"/>
            <a:ext cx="8686800" cy="329184"/>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Project Timeline — 3 Epics across 4 Sprints</a:t>
            </a:r>
            <a:endParaRPr lang="en-US" sz="1300" dirty="0"/>
          </a:p>
        </p:txBody>
      </p:sp>
      <p:sp>
        <p:nvSpPr>
          <p:cNvPr id="7" name="Shape 5"/>
          <p:cNvSpPr/>
          <p:nvPr/>
        </p:nvSpPr>
        <p:spPr>
          <a:xfrm>
            <a:off x="256032" y="1170432"/>
            <a:ext cx="1993392" cy="3547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8" name="Shape 6"/>
          <p:cNvSpPr/>
          <p:nvPr/>
        </p:nvSpPr>
        <p:spPr>
          <a:xfrm>
            <a:off x="256032" y="1170432"/>
            <a:ext cx="1993392" cy="621792"/>
          </a:xfrm>
          <a:prstGeom prst="rect">
            <a:avLst/>
          </a:prstGeom>
          <a:solidFill>
            <a:srgbClr val="1A6FBF"/>
          </a:solidFill>
          <a:ln w="12700">
            <a:solidFill>
              <a:srgbClr val="1A6FBF"/>
            </a:solidFill>
            <a:prstDash val="solid"/>
          </a:ln>
        </p:spPr>
        <p:txBody>
          <a:bodyPr/>
          <a:lstStyle/>
          <a:p>
            <a:endParaRPr lang="en-IN"/>
          </a:p>
        </p:txBody>
      </p:sp>
      <p:sp>
        <p:nvSpPr>
          <p:cNvPr id="9" name="Text 7"/>
          <p:cNvSpPr/>
          <p:nvPr/>
        </p:nvSpPr>
        <p:spPr>
          <a:xfrm>
            <a:off x="256032" y="1188720"/>
            <a:ext cx="1993392" cy="58521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EPIC-1</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Sprints 1–2</a:t>
            </a:r>
            <a:endParaRPr lang="en-US" sz="1100" dirty="0"/>
          </a:p>
        </p:txBody>
      </p:sp>
      <p:sp>
        <p:nvSpPr>
          <p:cNvPr id="10" name="Text 8"/>
          <p:cNvSpPr/>
          <p:nvPr/>
        </p:nvSpPr>
        <p:spPr>
          <a:xfrm>
            <a:off x="256032" y="1847088"/>
            <a:ext cx="1993392" cy="402336"/>
          </a:xfrm>
          <a:prstGeom prst="rect">
            <a:avLst/>
          </a:prstGeom>
          <a:noFill/>
          <a:ln/>
        </p:spPr>
        <p:txBody>
          <a:bodyPr wrap="square" rtlCol="0" anchor="ctr"/>
          <a:lstStyle/>
          <a:p>
            <a:pPr marL="0" indent="0" algn="ctr">
              <a:buNone/>
            </a:pPr>
            <a:r>
              <a:rPr lang="en-US" sz="2000" b="1" dirty="0">
                <a:solidFill>
                  <a:srgbClr val="1A6FBF"/>
                </a:solidFill>
                <a:latin typeface="Calibri" pitchFamily="34" charset="0"/>
                <a:ea typeface="Calibri" pitchFamily="34" charset="-122"/>
                <a:cs typeface="Calibri" pitchFamily="34" charset="-120"/>
              </a:rPr>
              <a:t>81 pts</a:t>
            </a:r>
            <a:endParaRPr lang="en-US" sz="2000" dirty="0"/>
          </a:p>
        </p:txBody>
      </p:sp>
      <p:sp>
        <p:nvSpPr>
          <p:cNvPr id="11" name="Text 9"/>
          <p:cNvSpPr/>
          <p:nvPr/>
        </p:nvSpPr>
        <p:spPr>
          <a:xfrm>
            <a:off x="365760" y="2267712"/>
            <a:ext cx="1773936" cy="256032"/>
          </a:xfrm>
          <a:prstGeom prst="rect">
            <a:avLst/>
          </a:prstGeom>
          <a:noFill/>
          <a:ln/>
        </p:spPr>
        <p:txBody>
          <a:bodyPr wrap="square" rtlCol="0" anchor="ctr"/>
          <a:lstStyle/>
          <a:p>
            <a:pPr marL="0" indent="0" algn="ctr">
              <a:buNone/>
            </a:pPr>
            <a:r>
              <a:rPr lang="en-US" sz="950" dirty="0">
                <a:solidFill>
                  <a:srgbClr val="607D8B"/>
                </a:solidFill>
                <a:latin typeface="Calibri" pitchFamily="34" charset="0"/>
                <a:ea typeface="Calibri" pitchFamily="34" charset="-122"/>
                <a:cs typeface="Calibri" pitchFamily="34" charset="-120"/>
              </a:rPr>
              <a:t>TASK-101 → 107</a:t>
            </a:r>
            <a:endParaRPr lang="en-US" sz="950" dirty="0"/>
          </a:p>
        </p:txBody>
      </p:sp>
      <p:sp>
        <p:nvSpPr>
          <p:cNvPr id="12" name="Text 10"/>
          <p:cNvSpPr/>
          <p:nvPr/>
        </p:nvSpPr>
        <p:spPr>
          <a:xfrm>
            <a:off x="347472" y="2596896"/>
            <a:ext cx="1810512" cy="1115568"/>
          </a:xfrm>
          <a:prstGeom prst="rect">
            <a:avLst/>
          </a:prstGeom>
          <a:noFill/>
          <a:ln/>
        </p:spPr>
        <p:txBody>
          <a:bodyPr wrap="square" rtlCol="0" anchor="ctr"/>
          <a:lstStyle/>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LightGBM · CatBoost</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LSTM · Ensemble</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Optuna · SHAP</a:t>
            </a:r>
            <a:endParaRPr lang="en-US" sz="1000" dirty="0"/>
          </a:p>
        </p:txBody>
      </p:sp>
      <p:sp>
        <p:nvSpPr>
          <p:cNvPr id="13" name="Shape 11"/>
          <p:cNvSpPr/>
          <p:nvPr/>
        </p:nvSpPr>
        <p:spPr>
          <a:xfrm>
            <a:off x="658368" y="3913632"/>
            <a:ext cx="1188720" cy="292608"/>
          </a:xfrm>
          <a:prstGeom prst="rect">
            <a:avLst/>
          </a:prstGeom>
          <a:solidFill>
            <a:srgbClr val="E8F5E9"/>
          </a:solidFill>
          <a:ln w="12700">
            <a:solidFill>
              <a:srgbClr val="E8F5E9"/>
            </a:solidFill>
            <a:prstDash val="solid"/>
          </a:ln>
        </p:spPr>
        <p:txBody>
          <a:bodyPr/>
          <a:lstStyle/>
          <a:p>
            <a:endParaRPr lang="en-IN"/>
          </a:p>
        </p:txBody>
      </p:sp>
      <p:sp>
        <p:nvSpPr>
          <p:cNvPr id="14" name="Text 12"/>
          <p:cNvSpPr/>
          <p:nvPr/>
        </p:nvSpPr>
        <p:spPr>
          <a:xfrm>
            <a:off x="658368" y="3913632"/>
            <a:ext cx="1188720" cy="292608"/>
          </a:xfrm>
          <a:prstGeom prst="rect">
            <a:avLst/>
          </a:prstGeom>
          <a:noFill/>
          <a:ln/>
        </p:spPr>
        <p:txBody>
          <a:bodyPr wrap="square" rtlCol="0" anchor="ctr"/>
          <a:lstStyle/>
          <a:p>
            <a:pPr marL="0" indent="0" algn="ctr">
              <a:buNone/>
            </a:pPr>
            <a:r>
              <a:rPr lang="en-US" sz="1000" b="1" dirty="0">
                <a:solidFill>
                  <a:srgbClr val="1B5E20"/>
                </a:solidFill>
                <a:latin typeface="Calibri" pitchFamily="34" charset="0"/>
                <a:ea typeface="Calibri" pitchFamily="34" charset="-122"/>
                <a:cs typeface="Calibri" pitchFamily="34" charset="-120"/>
              </a:rPr>
              <a:t>Completed</a:t>
            </a:r>
            <a:endParaRPr lang="en-US" sz="1000" dirty="0"/>
          </a:p>
        </p:txBody>
      </p:sp>
      <p:sp>
        <p:nvSpPr>
          <p:cNvPr id="15" name="Shape 13"/>
          <p:cNvSpPr/>
          <p:nvPr/>
        </p:nvSpPr>
        <p:spPr>
          <a:xfrm>
            <a:off x="2432304" y="1170432"/>
            <a:ext cx="1993392" cy="3547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16" name="Shape 14"/>
          <p:cNvSpPr/>
          <p:nvPr/>
        </p:nvSpPr>
        <p:spPr>
          <a:xfrm>
            <a:off x="2432304" y="1170432"/>
            <a:ext cx="1993392" cy="621792"/>
          </a:xfrm>
          <a:prstGeom prst="rect">
            <a:avLst/>
          </a:prstGeom>
          <a:solidFill>
            <a:srgbClr val="00796B"/>
          </a:solidFill>
          <a:ln w="12700">
            <a:solidFill>
              <a:srgbClr val="00796B"/>
            </a:solidFill>
            <a:prstDash val="solid"/>
          </a:ln>
        </p:spPr>
        <p:txBody>
          <a:bodyPr/>
          <a:lstStyle/>
          <a:p>
            <a:endParaRPr lang="en-IN"/>
          </a:p>
        </p:txBody>
      </p:sp>
      <p:sp>
        <p:nvSpPr>
          <p:cNvPr id="17" name="Text 15"/>
          <p:cNvSpPr/>
          <p:nvPr/>
        </p:nvSpPr>
        <p:spPr>
          <a:xfrm>
            <a:off x="2432304" y="1188720"/>
            <a:ext cx="1993392" cy="58521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EPIC-2</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Sprint 3</a:t>
            </a:r>
            <a:endParaRPr lang="en-US" sz="1100" dirty="0"/>
          </a:p>
        </p:txBody>
      </p:sp>
      <p:sp>
        <p:nvSpPr>
          <p:cNvPr id="18" name="Text 16"/>
          <p:cNvSpPr/>
          <p:nvPr/>
        </p:nvSpPr>
        <p:spPr>
          <a:xfrm>
            <a:off x="2432304" y="1847088"/>
            <a:ext cx="1993392" cy="402336"/>
          </a:xfrm>
          <a:prstGeom prst="rect">
            <a:avLst/>
          </a:prstGeom>
          <a:noFill/>
          <a:ln/>
        </p:spPr>
        <p:txBody>
          <a:bodyPr wrap="square" rtlCol="0" anchor="ctr"/>
          <a:lstStyle/>
          <a:p>
            <a:pPr marL="0" indent="0" algn="ctr">
              <a:buNone/>
            </a:pPr>
            <a:r>
              <a:rPr lang="en-US" sz="2000" b="1" dirty="0">
                <a:solidFill>
                  <a:srgbClr val="00796B"/>
                </a:solidFill>
                <a:latin typeface="Calibri" pitchFamily="34" charset="0"/>
                <a:ea typeface="Calibri" pitchFamily="34" charset="-122"/>
                <a:cs typeface="Calibri" pitchFamily="34" charset="-120"/>
              </a:rPr>
              <a:t>29 pts</a:t>
            </a:r>
            <a:endParaRPr lang="en-US" sz="2000" dirty="0"/>
          </a:p>
        </p:txBody>
      </p:sp>
      <p:sp>
        <p:nvSpPr>
          <p:cNvPr id="19" name="Text 17"/>
          <p:cNvSpPr/>
          <p:nvPr/>
        </p:nvSpPr>
        <p:spPr>
          <a:xfrm>
            <a:off x="2542032" y="2267712"/>
            <a:ext cx="1773936" cy="256032"/>
          </a:xfrm>
          <a:prstGeom prst="rect">
            <a:avLst/>
          </a:prstGeom>
          <a:noFill/>
          <a:ln/>
        </p:spPr>
        <p:txBody>
          <a:bodyPr wrap="square" rtlCol="0" anchor="ctr"/>
          <a:lstStyle/>
          <a:p>
            <a:pPr marL="0" indent="0" algn="ctr">
              <a:buNone/>
            </a:pPr>
            <a:r>
              <a:rPr lang="en-US" sz="950" dirty="0">
                <a:solidFill>
                  <a:srgbClr val="607D8B"/>
                </a:solidFill>
                <a:latin typeface="Calibri" pitchFamily="34" charset="0"/>
                <a:ea typeface="Calibri" pitchFamily="34" charset="-122"/>
                <a:cs typeface="Calibri" pitchFamily="34" charset="-120"/>
              </a:rPr>
              <a:t>TASK-201 → 203</a:t>
            </a:r>
            <a:endParaRPr lang="en-US" sz="950" dirty="0"/>
          </a:p>
        </p:txBody>
      </p:sp>
      <p:sp>
        <p:nvSpPr>
          <p:cNvPr id="20" name="Text 18"/>
          <p:cNvSpPr/>
          <p:nvPr/>
        </p:nvSpPr>
        <p:spPr>
          <a:xfrm>
            <a:off x="2523744" y="2596896"/>
            <a:ext cx="1810512" cy="1115568"/>
          </a:xfrm>
          <a:prstGeom prst="rect">
            <a:avLst/>
          </a:prstGeom>
          <a:noFill/>
          <a:ln/>
        </p:spPr>
        <p:txBody>
          <a:bodyPr wrap="square" rtlCol="0" anchor="ctr"/>
          <a:lstStyle/>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CrewAI setup</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CSV/API ingest</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Validation + Anomaly</a:t>
            </a:r>
            <a:endParaRPr lang="en-US" sz="1000" dirty="0"/>
          </a:p>
        </p:txBody>
      </p:sp>
      <p:sp>
        <p:nvSpPr>
          <p:cNvPr id="21" name="Shape 19"/>
          <p:cNvSpPr/>
          <p:nvPr/>
        </p:nvSpPr>
        <p:spPr>
          <a:xfrm>
            <a:off x="2834640" y="3913632"/>
            <a:ext cx="1188720" cy="292608"/>
          </a:xfrm>
          <a:prstGeom prst="rect">
            <a:avLst/>
          </a:prstGeom>
          <a:solidFill>
            <a:srgbClr val="E8F5E9"/>
          </a:solidFill>
          <a:ln w="12700">
            <a:solidFill>
              <a:srgbClr val="E8F5E9"/>
            </a:solidFill>
            <a:prstDash val="solid"/>
          </a:ln>
        </p:spPr>
        <p:txBody>
          <a:bodyPr/>
          <a:lstStyle/>
          <a:p>
            <a:endParaRPr lang="en-IN"/>
          </a:p>
        </p:txBody>
      </p:sp>
      <p:sp>
        <p:nvSpPr>
          <p:cNvPr id="22" name="Text 20"/>
          <p:cNvSpPr/>
          <p:nvPr/>
        </p:nvSpPr>
        <p:spPr>
          <a:xfrm>
            <a:off x="2834640" y="3913632"/>
            <a:ext cx="1188720" cy="292608"/>
          </a:xfrm>
          <a:prstGeom prst="rect">
            <a:avLst/>
          </a:prstGeom>
          <a:noFill/>
          <a:ln/>
        </p:spPr>
        <p:txBody>
          <a:bodyPr wrap="square" rtlCol="0" anchor="ctr"/>
          <a:lstStyle/>
          <a:p>
            <a:pPr marL="0" indent="0" algn="ctr">
              <a:buNone/>
            </a:pPr>
            <a:r>
              <a:rPr lang="en-US" sz="1000" b="1" dirty="0">
                <a:solidFill>
                  <a:srgbClr val="1B5E20"/>
                </a:solidFill>
                <a:latin typeface="Calibri" pitchFamily="34" charset="0"/>
                <a:ea typeface="Calibri" pitchFamily="34" charset="-122"/>
                <a:cs typeface="Calibri" pitchFamily="34" charset="-120"/>
              </a:rPr>
              <a:t>Completed</a:t>
            </a:r>
            <a:endParaRPr lang="en-US" sz="1000" dirty="0"/>
          </a:p>
        </p:txBody>
      </p:sp>
      <p:sp>
        <p:nvSpPr>
          <p:cNvPr id="23" name="Shape 21"/>
          <p:cNvSpPr/>
          <p:nvPr/>
        </p:nvSpPr>
        <p:spPr>
          <a:xfrm>
            <a:off x="4608576" y="1170432"/>
            <a:ext cx="1993392" cy="3547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4" name="Shape 22"/>
          <p:cNvSpPr/>
          <p:nvPr/>
        </p:nvSpPr>
        <p:spPr>
          <a:xfrm>
            <a:off x="4608576" y="1170432"/>
            <a:ext cx="1993392" cy="621792"/>
          </a:xfrm>
          <a:prstGeom prst="rect">
            <a:avLst/>
          </a:prstGeom>
          <a:solidFill>
            <a:srgbClr val="E65100"/>
          </a:solidFill>
          <a:ln w="12700">
            <a:solidFill>
              <a:srgbClr val="E65100"/>
            </a:solidFill>
            <a:prstDash val="solid"/>
          </a:ln>
        </p:spPr>
        <p:txBody>
          <a:bodyPr/>
          <a:lstStyle/>
          <a:p>
            <a:endParaRPr lang="en-IN"/>
          </a:p>
        </p:txBody>
      </p:sp>
      <p:sp>
        <p:nvSpPr>
          <p:cNvPr id="25" name="Text 23"/>
          <p:cNvSpPr/>
          <p:nvPr/>
        </p:nvSpPr>
        <p:spPr>
          <a:xfrm>
            <a:off x="4608576" y="1188720"/>
            <a:ext cx="1993392" cy="58521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EPIC-3</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Sprint 4</a:t>
            </a:r>
            <a:endParaRPr lang="en-US" sz="1100" dirty="0"/>
          </a:p>
        </p:txBody>
      </p:sp>
      <p:sp>
        <p:nvSpPr>
          <p:cNvPr id="26" name="Text 24"/>
          <p:cNvSpPr/>
          <p:nvPr/>
        </p:nvSpPr>
        <p:spPr>
          <a:xfrm>
            <a:off x="4608576" y="1847088"/>
            <a:ext cx="1993392" cy="402336"/>
          </a:xfrm>
          <a:prstGeom prst="rect">
            <a:avLst/>
          </a:prstGeom>
          <a:noFill/>
          <a:ln/>
        </p:spPr>
        <p:txBody>
          <a:bodyPr wrap="square" rtlCol="0" anchor="ctr"/>
          <a:lstStyle/>
          <a:p>
            <a:pPr marL="0" indent="0" algn="ctr">
              <a:buNone/>
            </a:pPr>
            <a:r>
              <a:rPr lang="en-US" sz="2000" b="1" dirty="0">
                <a:solidFill>
                  <a:srgbClr val="E65100"/>
                </a:solidFill>
                <a:latin typeface="Calibri" pitchFamily="34" charset="0"/>
                <a:ea typeface="Calibri" pitchFamily="34" charset="-122"/>
                <a:cs typeface="Calibri" pitchFamily="34" charset="-120"/>
              </a:rPr>
              <a:t>63 pts</a:t>
            </a:r>
            <a:endParaRPr lang="en-US" sz="2000" dirty="0"/>
          </a:p>
        </p:txBody>
      </p:sp>
      <p:sp>
        <p:nvSpPr>
          <p:cNvPr id="27" name="Text 25"/>
          <p:cNvSpPr/>
          <p:nvPr/>
        </p:nvSpPr>
        <p:spPr>
          <a:xfrm>
            <a:off x="4718304" y="2267712"/>
            <a:ext cx="1773936" cy="256032"/>
          </a:xfrm>
          <a:prstGeom prst="rect">
            <a:avLst/>
          </a:prstGeom>
          <a:noFill/>
          <a:ln/>
        </p:spPr>
        <p:txBody>
          <a:bodyPr wrap="square" rtlCol="0" anchor="ctr"/>
          <a:lstStyle/>
          <a:p>
            <a:pPr marL="0" indent="0" algn="ctr">
              <a:buNone/>
            </a:pPr>
            <a:r>
              <a:rPr lang="en-US" sz="950" dirty="0">
                <a:solidFill>
                  <a:srgbClr val="607D8B"/>
                </a:solidFill>
                <a:latin typeface="Calibri" pitchFamily="34" charset="0"/>
                <a:ea typeface="Calibri" pitchFamily="34" charset="-122"/>
                <a:cs typeface="Calibri" pitchFamily="34" charset="-120"/>
              </a:rPr>
              <a:t>TASK-301 → 305</a:t>
            </a:r>
            <a:endParaRPr lang="en-US" sz="950" dirty="0"/>
          </a:p>
        </p:txBody>
      </p:sp>
      <p:sp>
        <p:nvSpPr>
          <p:cNvPr id="28" name="Text 26"/>
          <p:cNvSpPr/>
          <p:nvPr/>
        </p:nvSpPr>
        <p:spPr>
          <a:xfrm>
            <a:off x="4700016" y="2596896"/>
            <a:ext cx="1810512" cy="1115568"/>
          </a:xfrm>
          <a:prstGeom prst="rect">
            <a:avLst/>
          </a:prstGeom>
          <a:noFill/>
          <a:ln/>
        </p:spPr>
        <p:txBody>
          <a:bodyPr wrap="square" rtlCol="0" anchor="ctr"/>
          <a:lstStyle/>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Supplier scoring</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NLP sentiment</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PO + Delivery track</a:t>
            </a:r>
            <a:endParaRPr lang="en-US" sz="1000" dirty="0"/>
          </a:p>
        </p:txBody>
      </p:sp>
      <p:sp>
        <p:nvSpPr>
          <p:cNvPr id="29" name="Shape 27"/>
          <p:cNvSpPr/>
          <p:nvPr/>
        </p:nvSpPr>
        <p:spPr>
          <a:xfrm>
            <a:off x="5010912" y="3913632"/>
            <a:ext cx="1188720" cy="292608"/>
          </a:xfrm>
          <a:prstGeom prst="rect">
            <a:avLst/>
          </a:prstGeom>
          <a:solidFill>
            <a:srgbClr val="E8F5E9"/>
          </a:solidFill>
          <a:ln w="12700">
            <a:solidFill>
              <a:srgbClr val="E8F5E9"/>
            </a:solidFill>
            <a:prstDash val="solid"/>
          </a:ln>
        </p:spPr>
        <p:txBody>
          <a:bodyPr/>
          <a:lstStyle/>
          <a:p>
            <a:endParaRPr lang="en-IN"/>
          </a:p>
        </p:txBody>
      </p:sp>
      <p:sp>
        <p:nvSpPr>
          <p:cNvPr id="30" name="Text 28"/>
          <p:cNvSpPr/>
          <p:nvPr/>
        </p:nvSpPr>
        <p:spPr>
          <a:xfrm>
            <a:off x="5010912" y="3913632"/>
            <a:ext cx="1188720" cy="292608"/>
          </a:xfrm>
          <a:prstGeom prst="rect">
            <a:avLst/>
          </a:prstGeom>
          <a:noFill/>
          <a:ln/>
        </p:spPr>
        <p:txBody>
          <a:bodyPr wrap="square" rtlCol="0" anchor="ctr"/>
          <a:lstStyle/>
          <a:p>
            <a:pPr marL="0" indent="0" algn="ctr">
              <a:buNone/>
            </a:pPr>
            <a:r>
              <a:rPr lang="en-US" sz="1000" b="1" dirty="0">
                <a:solidFill>
                  <a:srgbClr val="1B5E20"/>
                </a:solidFill>
                <a:latin typeface="Calibri" pitchFamily="34" charset="0"/>
                <a:ea typeface="Calibri" pitchFamily="34" charset="-122"/>
                <a:cs typeface="Calibri" pitchFamily="34" charset="-120"/>
              </a:rPr>
              <a:t>Completed</a:t>
            </a:r>
            <a:endParaRPr lang="en-US" sz="1000" dirty="0"/>
          </a:p>
        </p:txBody>
      </p:sp>
      <p:sp>
        <p:nvSpPr>
          <p:cNvPr id="31" name="Shape 29"/>
          <p:cNvSpPr/>
          <p:nvPr/>
        </p:nvSpPr>
        <p:spPr>
          <a:xfrm>
            <a:off x="6784848" y="1170432"/>
            <a:ext cx="1993392" cy="3547872"/>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32" name="Shape 30"/>
          <p:cNvSpPr/>
          <p:nvPr/>
        </p:nvSpPr>
        <p:spPr>
          <a:xfrm>
            <a:off x="6784848" y="1170432"/>
            <a:ext cx="1993392" cy="621792"/>
          </a:xfrm>
          <a:prstGeom prst="rect">
            <a:avLst/>
          </a:prstGeom>
          <a:solidFill>
            <a:srgbClr val="1A3A5C"/>
          </a:solidFill>
          <a:ln w="12700">
            <a:solidFill>
              <a:srgbClr val="1A3A5C"/>
            </a:solidFill>
            <a:prstDash val="solid"/>
          </a:ln>
        </p:spPr>
        <p:txBody>
          <a:bodyPr/>
          <a:lstStyle/>
          <a:p>
            <a:endParaRPr lang="en-IN"/>
          </a:p>
        </p:txBody>
      </p:sp>
      <p:sp>
        <p:nvSpPr>
          <p:cNvPr id="33" name="Text 31"/>
          <p:cNvSpPr/>
          <p:nvPr/>
        </p:nvSpPr>
        <p:spPr>
          <a:xfrm>
            <a:off x="6784848" y="1188720"/>
            <a:ext cx="1993392" cy="58521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Epic</a:t>
            </a:r>
            <a:endParaRPr lang="en-US" sz="1100" dirty="0"/>
          </a:p>
        </p:txBody>
      </p:sp>
      <p:sp>
        <p:nvSpPr>
          <p:cNvPr id="34" name="Text 32"/>
          <p:cNvSpPr/>
          <p:nvPr/>
        </p:nvSpPr>
        <p:spPr>
          <a:xfrm>
            <a:off x="6784848" y="1847088"/>
            <a:ext cx="1993392" cy="402336"/>
          </a:xfrm>
          <a:prstGeom prst="rect">
            <a:avLst/>
          </a:prstGeom>
          <a:noFill/>
          <a:ln/>
        </p:spPr>
        <p:txBody>
          <a:bodyPr wrap="square" rtlCol="0" anchor="ctr"/>
          <a:lstStyle/>
          <a:p>
            <a:pPr marL="0" indent="0" algn="ctr">
              <a:buNone/>
            </a:pPr>
            <a:r>
              <a:rPr lang="en-US" sz="2000" b="1" dirty="0">
                <a:solidFill>
                  <a:srgbClr val="1A3A5C"/>
                </a:solidFill>
                <a:latin typeface="Calibri" pitchFamily="34" charset="0"/>
                <a:ea typeface="Calibri" pitchFamily="34" charset="-122"/>
                <a:cs typeface="Calibri" pitchFamily="34" charset="-120"/>
              </a:rPr>
              <a:t>—</a:t>
            </a:r>
            <a:endParaRPr lang="en-US" sz="2000" dirty="0"/>
          </a:p>
        </p:txBody>
      </p:sp>
      <p:sp>
        <p:nvSpPr>
          <p:cNvPr id="35" name="Text 33"/>
          <p:cNvSpPr/>
          <p:nvPr/>
        </p:nvSpPr>
        <p:spPr>
          <a:xfrm>
            <a:off x="6894576" y="2267712"/>
            <a:ext cx="1773936" cy="256032"/>
          </a:xfrm>
          <a:prstGeom prst="rect">
            <a:avLst/>
          </a:prstGeom>
          <a:noFill/>
          <a:ln/>
        </p:spPr>
        <p:txBody>
          <a:bodyPr wrap="square" rtlCol="0" anchor="ctr"/>
          <a:lstStyle/>
          <a:p>
            <a:pPr marL="0" indent="0" algn="ctr">
              <a:buNone/>
            </a:pPr>
            <a:r>
              <a:rPr lang="en-US" sz="950" dirty="0">
                <a:solidFill>
                  <a:srgbClr val="607D8B"/>
                </a:solidFill>
                <a:latin typeface="Calibri" pitchFamily="34" charset="0"/>
                <a:ea typeface="Calibri" pitchFamily="34" charset="-122"/>
                <a:cs typeface="Calibri" pitchFamily="34" charset="-120"/>
              </a:rPr>
              <a:t>FE-501 → 504</a:t>
            </a:r>
            <a:endParaRPr lang="en-US" sz="950" dirty="0"/>
          </a:p>
        </p:txBody>
      </p:sp>
      <p:sp>
        <p:nvSpPr>
          <p:cNvPr id="36" name="Text 34"/>
          <p:cNvSpPr/>
          <p:nvPr/>
        </p:nvSpPr>
        <p:spPr>
          <a:xfrm>
            <a:off x="6876288" y="2596896"/>
            <a:ext cx="1810512" cy="1115568"/>
          </a:xfrm>
          <a:prstGeom prst="rect">
            <a:avLst/>
          </a:prstGeom>
          <a:noFill/>
          <a:ln/>
        </p:spPr>
        <p:txBody>
          <a:bodyPr wrap="square" rtlCol="0" anchor="ctr"/>
          <a:lstStyle/>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Agent Dashboard</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Approval Queue</a:t>
            </a:r>
            <a:endParaRPr lang="en-US" sz="1000" dirty="0"/>
          </a:p>
          <a:p>
            <a:pPr marL="0" indent="0" algn="ctr">
              <a:lnSpc>
                <a:spcPct val="140000"/>
              </a:lnSpc>
              <a:buNone/>
            </a:pPr>
            <a:r>
              <a:rPr lang="en-US" sz="1000" dirty="0">
                <a:solidFill>
                  <a:srgbClr val="2C3E50"/>
                </a:solidFill>
                <a:latin typeface="Calibri" pitchFamily="34" charset="0"/>
                <a:ea typeface="Calibri" pitchFamily="34" charset="-122"/>
                <a:cs typeface="Calibri" pitchFamily="34" charset="-120"/>
              </a:rPr>
              <a:t>Cleanup &amp; sync</a:t>
            </a:r>
            <a:endParaRPr lang="en-US" sz="1000" dirty="0"/>
          </a:p>
        </p:txBody>
      </p:sp>
      <p:sp>
        <p:nvSpPr>
          <p:cNvPr id="37" name="Shape 35"/>
          <p:cNvSpPr/>
          <p:nvPr/>
        </p:nvSpPr>
        <p:spPr>
          <a:xfrm>
            <a:off x="7187184" y="3913632"/>
            <a:ext cx="1188720" cy="292608"/>
          </a:xfrm>
          <a:prstGeom prst="rect">
            <a:avLst/>
          </a:prstGeom>
          <a:solidFill>
            <a:srgbClr val="E8F5E9"/>
          </a:solidFill>
          <a:ln w="12700">
            <a:solidFill>
              <a:srgbClr val="E8F5E9"/>
            </a:solidFill>
            <a:prstDash val="solid"/>
          </a:ln>
        </p:spPr>
        <p:txBody>
          <a:bodyPr/>
          <a:lstStyle/>
          <a:p>
            <a:endParaRPr lang="en-IN"/>
          </a:p>
        </p:txBody>
      </p:sp>
      <p:sp>
        <p:nvSpPr>
          <p:cNvPr id="38" name="Text 36"/>
          <p:cNvSpPr/>
          <p:nvPr/>
        </p:nvSpPr>
        <p:spPr>
          <a:xfrm>
            <a:off x="7187184" y="3913632"/>
            <a:ext cx="1188720" cy="292608"/>
          </a:xfrm>
          <a:prstGeom prst="rect">
            <a:avLst/>
          </a:prstGeom>
          <a:noFill/>
          <a:ln/>
        </p:spPr>
        <p:txBody>
          <a:bodyPr wrap="square" rtlCol="0" anchor="ctr"/>
          <a:lstStyle/>
          <a:p>
            <a:pPr marL="0" indent="0" algn="ctr">
              <a:buNone/>
            </a:pPr>
            <a:r>
              <a:rPr lang="en-US" sz="1000" b="1" dirty="0">
                <a:solidFill>
                  <a:srgbClr val="1B5E20"/>
                </a:solidFill>
                <a:latin typeface="Calibri" pitchFamily="34" charset="0"/>
                <a:ea typeface="Calibri" pitchFamily="34" charset="-122"/>
                <a:cs typeface="Calibri" pitchFamily="34" charset="-120"/>
              </a:rPr>
              <a:t>Completed</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Development Workflow — Git Branching &amp; Definition of Done</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256032" y="786384"/>
            <a:ext cx="4224528" cy="4059936"/>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7" name="Shape 5"/>
          <p:cNvSpPr/>
          <p:nvPr/>
        </p:nvSpPr>
        <p:spPr>
          <a:xfrm>
            <a:off x="256032" y="786384"/>
            <a:ext cx="4224528" cy="384048"/>
          </a:xfrm>
          <a:prstGeom prst="rect">
            <a:avLst/>
          </a:prstGeom>
          <a:solidFill>
            <a:srgbClr val="1A6FBF"/>
          </a:solidFill>
          <a:ln w="12700">
            <a:solidFill>
              <a:srgbClr val="1A6FBF"/>
            </a:solidFill>
            <a:prstDash val="solid"/>
          </a:ln>
        </p:spPr>
        <p:txBody>
          <a:bodyPr/>
          <a:lstStyle/>
          <a:p>
            <a:endParaRPr lang="en-IN"/>
          </a:p>
        </p:txBody>
      </p:sp>
      <p:sp>
        <p:nvSpPr>
          <p:cNvPr id="8" name="Text 6"/>
          <p:cNvSpPr/>
          <p:nvPr/>
        </p:nvSpPr>
        <p:spPr>
          <a:xfrm>
            <a:off x="384048" y="786384"/>
            <a:ext cx="40233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Branch Naming &amp; Commit Format</a:t>
            </a:r>
            <a:endParaRPr lang="en-US" sz="1200" dirty="0"/>
          </a:p>
        </p:txBody>
      </p:sp>
      <p:sp>
        <p:nvSpPr>
          <p:cNvPr id="9" name="Text 7"/>
          <p:cNvSpPr/>
          <p:nvPr/>
        </p:nvSpPr>
        <p:spPr>
          <a:xfrm>
            <a:off x="384048" y="1225296"/>
            <a:ext cx="4005072" cy="256032"/>
          </a:xfrm>
          <a:prstGeom prst="rect">
            <a:avLst/>
          </a:prstGeom>
          <a:noFill/>
          <a:ln/>
        </p:spPr>
        <p:txBody>
          <a:bodyPr wrap="square" rtlCol="0" anchor="ctr"/>
          <a:lstStyle/>
          <a:p>
            <a:pPr marL="0" indent="0">
              <a:buNone/>
            </a:pPr>
            <a:r>
              <a:rPr lang="en-US" sz="1100" b="1" dirty="0">
                <a:solidFill>
                  <a:srgbClr val="1A6FBF"/>
                </a:solidFill>
                <a:latin typeface="Consolas" pitchFamily="34" charset="0"/>
                <a:ea typeface="Consolas" pitchFamily="34" charset="-122"/>
                <a:cs typeface="Consolas" pitchFamily="34" charset="-120"/>
              </a:rPr>
              <a:t>Format:  task/{TASK_ID}/{short-description}</a:t>
            </a:r>
            <a:endParaRPr lang="en-US" sz="1100" dirty="0"/>
          </a:p>
        </p:txBody>
      </p:sp>
      <p:sp>
        <p:nvSpPr>
          <p:cNvPr id="10" name="Text 8"/>
          <p:cNvSpPr/>
          <p:nvPr/>
        </p:nvSpPr>
        <p:spPr>
          <a:xfrm>
            <a:off x="384048" y="1481328"/>
            <a:ext cx="4005072" cy="256032"/>
          </a:xfrm>
          <a:prstGeom prst="rect">
            <a:avLst/>
          </a:prstGeom>
          <a:noFill/>
          <a:ln/>
        </p:spPr>
        <p:txBody>
          <a:bodyPr wrap="square" rtlCol="0" anchor="ctr"/>
          <a:lstStyle/>
          <a:p>
            <a:pPr marL="0" indent="0">
              <a:buNone/>
            </a:pPr>
            <a:endParaRPr lang="en-US" sz="1000" dirty="0"/>
          </a:p>
        </p:txBody>
      </p:sp>
      <p:sp>
        <p:nvSpPr>
          <p:cNvPr id="11" name="Text 9"/>
          <p:cNvSpPr/>
          <p:nvPr/>
        </p:nvSpPr>
        <p:spPr>
          <a:xfrm>
            <a:off x="384048" y="1737360"/>
            <a:ext cx="4005072" cy="256032"/>
          </a:xfrm>
          <a:prstGeom prst="rect">
            <a:avLst/>
          </a:prstGeom>
          <a:noFill/>
          <a:ln/>
        </p:spPr>
        <p:txBody>
          <a:bodyPr wrap="square" rtlCol="0" anchor="ctr"/>
          <a:lstStyle/>
          <a:p>
            <a:pPr marL="0" indent="0">
              <a:buNone/>
            </a:pPr>
            <a:r>
              <a:rPr lang="en-US" sz="1000" dirty="0">
                <a:solidFill>
                  <a:srgbClr val="00796B"/>
                </a:solidFill>
                <a:latin typeface="Consolas" pitchFamily="34" charset="0"/>
                <a:ea typeface="Consolas" pitchFamily="34" charset="-122"/>
                <a:cs typeface="Consolas" pitchFamily="34" charset="-120"/>
              </a:rPr>
              <a:t>task/TASK-101/lightgbm-migration</a:t>
            </a:r>
            <a:endParaRPr lang="en-US" sz="1000" dirty="0"/>
          </a:p>
        </p:txBody>
      </p:sp>
      <p:sp>
        <p:nvSpPr>
          <p:cNvPr id="12" name="Text 10"/>
          <p:cNvSpPr/>
          <p:nvPr/>
        </p:nvSpPr>
        <p:spPr>
          <a:xfrm>
            <a:off x="384048" y="1993392"/>
            <a:ext cx="4005072" cy="256032"/>
          </a:xfrm>
          <a:prstGeom prst="rect">
            <a:avLst/>
          </a:prstGeom>
          <a:noFill/>
          <a:ln/>
        </p:spPr>
        <p:txBody>
          <a:bodyPr wrap="square" rtlCol="0" anchor="ctr"/>
          <a:lstStyle/>
          <a:p>
            <a:pPr marL="0" indent="0">
              <a:buNone/>
            </a:pPr>
            <a:r>
              <a:rPr lang="en-US" sz="1000" dirty="0">
                <a:solidFill>
                  <a:srgbClr val="00796B"/>
                </a:solidFill>
                <a:latin typeface="Consolas" pitchFamily="34" charset="0"/>
                <a:ea typeface="Consolas" pitchFamily="34" charset="-122"/>
                <a:cs typeface="Consolas" pitchFamily="34" charset="-120"/>
              </a:rPr>
              <a:t>task/TASK-202/data-ingestion-agent</a:t>
            </a:r>
            <a:endParaRPr lang="en-US" sz="1000" dirty="0"/>
          </a:p>
        </p:txBody>
      </p:sp>
      <p:sp>
        <p:nvSpPr>
          <p:cNvPr id="13" name="Text 11"/>
          <p:cNvSpPr/>
          <p:nvPr/>
        </p:nvSpPr>
        <p:spPr>
          <a:xfrm>
            <a:off x="384048" y="2249424"/>
            <a:ext cx="4005072" cy="256032"/>
          </a:xfrm>
          <a:prstGeom prst="rect">
            <a:avLst/>
          </a:prstGeom>
          <a:noFill/>
          <a:ln/>
        </p:spPr>
        <p:txBody>
          <a:bodyPr wrap="square" rtlCol="0" anchor="ctr"/>
          <a:lstStyle/>
          <a:p>
            <a:pPr marL="0" indent="0">
              <a:buNone/>
            </a:pPr>
            <a:r>
              <a:rPr lang="en-US" sz="1000" dirty="0">
                <a:solidFill>
                  <a:srgbClr val="00796B"/>
                </a:solidFill>
                <a:latin typeface="Consolas" pitchFamily="34" charset="0"/>
                <a:ea typeface="Consolas" pitchFamily="34" charset="-122"/>
                <a:cs typeface="Consolas" pitchFamily="34" charset="-120"/>
              </a:rPr>
              <a:t>task/TASK-303/supply-chain-scorecard</a:t>
            </a:r>
            <a:endParaRPr lang="en-US" sz="1000" dirty="0"/>
          </a:p>
        </p:txBody>
      </p:sp>
      <p:sp>
        <p:nvSpPr>
          <p:cNvPr id="14" name="Text 12"/>
          <p:cNvSpPr/>
          <p:nvPr/>
        </p:nvSpPr>
        <p:spPr>
          <a:xfrm>
            <a:off x="384048" y="2505456"/>
            <a:ext cx="4005072" cy="256032"/>
          </a:xfrm>
          <a:prstGeom prst="rect">
            <a:avLst/>
          </a:prstGeom>
          <a:noFill/>
          <a:ln/>
        </p:spPr>
        <p:txBody>
          <a:bodyPr wrap="square" rtlCol="0" anchor="ctr"/>
          <a:lstStyle/>
          <a:p>
            <a:pPr marL="0" indent="0">
              <a:buNone/>
            </a:pPr>
            <a:endParaRPr lang="en-US" sz="1000" dirty="0"/>
          </a:p>
        </p:txBody>
      </p:sp>
      <p:sp>
        <p:nvSpPr>
          <p:cNvPr id="15" name="Text 13"/>
          <p:cNvSpPr/>
          <p:nvPr/>
        </p:nvSpPr>
        <p:spPr>
          <a:xfrm>
            <a:off x="384048" y="2761488"/>
            <a:ext cx="4005072" cy="256032"/>
          </a:xfrm>
          <a:prstGeom prst="rect">
            <a:avLst/>
          </a:prstGeom>
          <a:noFill/>
          <a:ln/>
        </p:spPr>
        <p:txBody>
          <a:bodyPr wrap="square" rtlCol="0" anchor="ctr"/>
          <a:lstStyle/>
          <a:p>
            <a:pPr marL="0" indent="0">
              <a:buNone/>
            </a:pPr>
            <a:r>
              <a:rPr lang="en-US" sz="1100" b="1" dirty="0">
                <a:solidFill>
                  <a:srgbClr val="1A6FBF"/>
                </a:solidFill>
                <a:latin typeface="Consolas" pitchFamily="34" charset="0"/>
                <a:ea typeface="Consolas" pitchFamily="34" charset="-122"/>
                <a:cs typeface="Consolas" pitchFamily="34" charset="-120"/>
              </a:rPr>
              <a:t>Commit format:  [TASK-XXX] Brief description</a:t>
            </a:r>
            <a:endParaRPr lang="en-US" sz="1100" dirty="0"/>
          </a:p>
        </p:txBody>
      </p:sp>
      <p:sp>
        <p:nvSpPr>
          <p:cNvPr id="16" name="Text 14"/>
          <p:cNvSpPr/>
          <p:nvPr/>
        </p:nvSpPr>
        <p:spPr>
          <a:xfrm>
            <a:off x="384048" y="3017520"/>
            <a:ext cx="4005072" cy="256032"/>
          </a:xfrm>
          <a:prstGeom prst="rect">
            <a:avLst/>
          </a:prstGeom>
          <a:noFill/>
          <a:ln/>
        </p:spPr>
        <p:txBody>
          <a:bodyPr wrap="square" rtlCol="0" anchor="ctr"/>
          <a:lstStyle/>
          <a:p>
            <a:pPr marL="0" indent="0">
              <a:buNone/>
            </a:pPr>
            <a:endParaRPr lang="en-US" sz="1000" dirty="0"/>
          </a:p>
        </p:txBody>
      </p:sp>
      <p:sp>
        <p:nvSpPr>
          <p:cNvPr id="17" name="Text 15"/>
          <p:cNvSpPr/>
          <p:nvPr/>
        </p:nvSpPr>
        <p:spPr>
          <a:xfrm>
            <a:off x="384048" y="3273552"/>
            <a:ext cx="4005072" cy="256032"/>
          </a:xfrm>
          <a:prstGeom prst="rect">
            <a:avLst/>
          </a:prstGeom>
          <a:noFill/>
          <a:ln/>
        </p:spPr>
        <p:txBody>
          <a:bodyPr wrap="square" rtlCol="0" anchor="ctr"/>
          <a:lstStyle/>
          <a:p>
            <a:pPr marL="0" indent="0">
              <a:buNone/>
            </a:pPr>
            <a:r>
              <a:rPr lang="en-US" sz="1000" dirty="0">
                <a:solidFill>
                  <a:srgbClr val="00796B"/>
                </a:solidFill>
                <a:latin typeface="Consolas" pitchFamily="34" charset="0"/>
                <a:ea typeface="Consolas" pitchFamily="34" charset="-122"/>
                <a:cs typeface="Consolas" pitchFamily="34" charset="-120"/>
              </a:rPr>
              <a:t>[TASK-101] Create LightGBM training pipeline</a:t>
            </a:r>
            <a:endParaRPr lang="en-US" sz="1000" dirty="0"/>
          </a:p>
        </p:txBody>
      </p:sp>
      <p:sp>
        <p:nvSpPr>
          <p:cNvPr id="18" name="Text 16"/>
          <p:cNvSpPr/>
          <p:nvPr/>
        </p:nvSpPr>
        <p:spPr>
          <a:xfrm>
            <a:off x="384048" y="3529584"/>
            <a:ext cx="4005072" cy="256032"/>
          </a:xfrm>
          <a:prstGeom prst="rect">
            <a:avLst/>
          </a:prstGeom>
          <a:noFill/>
          <a:ln/>
        </p:spPr>
        <p:txBody>
          <a:bodyPr wrap="square" rtlCol="0" anchor="ctr"/>
          <a:lstStyle/>
          <a:p>
            <a:pPr marL="0" indent="0">
              <a:buNone/>
            </a:pPr>
            <a:r>
              <a:rPr lang="en-US" sz="1000" dirty="0">
                <a:solidFill>
                  <a:srgbClr val="00796B"/>
                </a:solidFill>
                <a:latin typeface="Consolas" pitchFamily="34" charset="0"/>
                <a:ea typeface="Consolas" pitchFamily="34" charset="-122"/>
                <a:cs typeface="Consolas" pitchFamily="34" charset="-120"/>
              </a:rPr>
              <a:t>[TASK-102] Add early stopping + benchmarking</a:t>
            </a:r>
            <a:endParaRPr lang="en-US" sz="1000" dirty="0"/>
          </a:p>
        </p:txBody>
      </p:sp>
      <p:sp>
        <p:nvSpPr>
          <p:cNvPr id="19" name="Text 17"/>
          <p:cNvSpPr/>
          <p:nvPr/>
        </p:nvSpPr>
        <p:spPr>
          <a:xfrm>
            <a:off x="384048" y="3785616"/>
            <a:ext cx="4005072" cy="256032"/>
          </a:xfrm>
          <a:prstGeom prst="rect">
            <a:avLst/>
          </a:prstGeom>
          <a:noFill/>
          <a:ln/>
        </p:spPr>
        <p:txBody>
          <a:bodyPr wrap="square" rtlCol="0" anchor="ctr"/>
          <a:lstStyle/>
          <a:p>
            <a:pPr marL="0" indent="0">
              <a:buNone/>
            </a:pPr>
            <a:r>
              <a:rPr lang="en-US" sz="1000" dirty="0">
                <a:solidFill>
                  <a:srgbClr val="00796B"/>
                </a:solidFill>
                <a:latin typeface="Consolas" pitchFamily="34" charset="0"/>
                <a:ea typeface="Consolas" pitchFamily="34" charset="-122"/>
                <a:cs typeface="Consolas" pitchFamily="34" charset="-120"/>
              </a:rPr>
              <a:t>[TASK-303] Implement supplier scoring module</a:t>
            </a:r>
            <a:endParaRPr lang="en-US" sz="1000" dirty="0"/>
          </a:p>
        </p:txBody>
      </p:sp>
      <p:sp>
        <p:nvSpPr>
          <p:cNvPr id="20" name="Shape 18"/>
          <p:cNvSpPr/>
          <p:nvPr/>
        </p:nvSpPr>
        <p:spPr>
          <a:xfrm>
            <a:off x="4645152" y="786384"/>
            <a:ext cx="4224528" cy="4059936"/>
          </a:xfrm>
          <a:prstGeom prst="rect">
            <a:avLst/>
          </a:prstGeom>
          <a:solidFill>
            <a:srgbClr val="FFFFFF"/>
          </a:solidFill>
          <a:ln w="12700">
            <a:solidFill>
              <a:srgbClr val="CBD8E4"/>
            </a:solidFill>
            <a:prstDash val="solid"/>
          </a:ln>
          <a:effectLst>
            <a:outerShdw blurRad="127000" dist="38100" dir="8100000" algn="bl" rotWithShape="0">
              <a:srgbClr val="000000">
                <a:alpha val="9000"/>
              </a:srgbClr>
            </a:outerShdw>
          </a:effectLst>
        </p:spPr>
        <p:txBody>
          <a:bodyPr/>
          <a:lstStyle/>
          <a:p>
            <a:endParaRPr lang="en-IN"/>
          </a:p>
        </p:txBody>
      </p:sp>
      <p:sp>
        <p:nvSpPr>
          <p:cNvPr id="21" name="Shape 19"/>
          <p:cNvSpPr/>
          <p:nvPr/>
        </p:nvSpPr>
        <p:spPr>
          <a:xfrm>
            <a:off x="4645152" y="786384"/>
            <a:ext cx="4224528" cy="384048"/>
          </a:xfrm>
          <a:prstGeom prst="rect">
            <a:avLst/>
          </a:prstGeom>
          <a:solidFill>
            <a:srgbClr val="00796B"/>
          </a:solidFill>
          <a:ln w="12700">
            <a:solidFill>
              <a:srgbClr val="00796B"/>
            </a:solidFill>
            <a:prstDash val="solid"/>
          </a:ln>
        </p:spPr>
        <p:txBody>
          <a:bodyPr/>
          <a:lstStyle/>
          <a:p>
            <a:endParaRPr lang="en-IN"/>
          </a:p>
        </p:txBody>
      </p:sp>
      <p:sp>
        <p:nvSpPr>
          <p:cNvPr id="22" name="Text 20"/>
          <p:cNvSpPr/>
          <p:nvPr/>
        </p:nvSpPr>
        <p:spPr>
          <a:xfrm>
            <a:off x="4773168" y="786384"/>
            <a:ext cx="40233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Definition of Done  (all required before merge)</a:t>
            </a:r>
            <a:endParaRPr lang="en-US" sz="1200" dirty="0"/>
          </a:p>
        </p:txBody>
      </p:sp>
      <p:sp>
        <p:nvSpPr>
          <p:cNvPr id="23" name="Shape 21"/>
          <p:cNvSpPr/>
          <p:nvPr/>
        </p:nvSpPr>
        <p:spPr>
          <a:xfrm>
            <a:off x="4773168" y="1335024"/>
            <a:ext cx="128016" cy="128016"/>
          </a:xfrm>
          <a:prstGeom prst="line">
            <a:avLst/>
          </a:prstGeom>
          <a:solidFill>
            <a:srgbClr val="00796B"/>
          </a:solidFill>
          <a:ln w="12700">
            <a:solidFill>
              <a:srgbClr val="00796B"/>
            </a:solidFill>
            <a:prstDash val="solid"/>
          </a:ln>
        </p:spPr>
        <p:txBody>
          <a:bodyPr/>
          <a:lstStyle/>
          <a:p>
            <a:endParaRPr lang="en-IN"/>
          </a:p>
        </p:txBody>
      </p:sp>
      <p:sp>
        <p:nvSpPr>
          <p:cNvPr id="24" name="Text 22"/>
          <p:cNvSpPr/>
          <p:nvPr/>
        </p:nvSpPr>
        <p:spPr>
          <a:xfrm>
            <a:off x="4974336" y="1243584"/>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Acceptance criteria fully implemented</a:t>
            </a:r>
            <a:endParaRPr lang="en-US" sz="1100" dirty="0"/>
          </a:p>
        </p:txBody>
      </p:sp>
      <p:sp>
        <p:nvSpPr>
          <p:cNvPr id="25" name="Shape 23"/>
          <p:cNvSpPr/>
          <p:nvPr/>
        </p:nvSpPr>
        <p:spPr>
          <a:xfrm>
            <a:off x="4773168" y="1755648"/>
            <a:ext cx="128016" cy="128016"/>
          </a:xfrm>
          <a:prstGeom prst="line">
            <a:avLst/>
          </a:prstGeom>
          <a:solidFill>
            <a:srgbClr val="00796B"/>
          </a:solidFill>
          <a:ln w="12700">
            <a:solidFill>
              <a:srgbClr val="00796B"/>
            </a:solidFill>
            <a:prstDash val="solid"/>
          </a:ln>
        </p:spPr>
        <p:txBody>
          <a:bodyPr/>
          <a:lstStyle/>
          <a:p>
            <a:endParaRPr lang="en-IN"/>
          </a:p>
        </p:txBody>
      </p:sp>
      <p:sp>
        <p:nvSpPr>
          <p:cNvPr id="26" name="Text 24"/>
          <p:cNvSpPr/>
          <p:nvPr/>
        </p:nvSpPr>
        <p:spPr>
          <a:xfrm>
            <a:off x="4974336" y="1664208"/>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Unit tests added and passing (95%+ coverage target)</a:t>
            </a:r>
            <a:endParaRPr lang="en-US" sz="1100" dirty="0"/>
          </a:p>
        </p:txBody>
      </p:sp>
      <p:sp>
        <p:nvSpPr>
          <p:cNvPr id="27" name="Shape 25"/>
          <p:cNvSpPr/>
          <p:nvPr/>
        </p:nvSpPr>
        <p:spPr>
          <a:xfrm>
            <a:off x="4773168" y="2176272"/>
            <a:ext cx="128016" cy="128016"/>
          </a:xfrm>
          <a:prstGeom prst="line">
            <a:avLst/>
          </a:prstGeom>
          <a:solidFill>
            <a:srgbClr val="00796B"/>
          </a:solidFill>
          <a:ln w="12700">
            <a:solidFill>
              <a:srgbClr val="00796B"/>
            </a:solidFill>
            <a:prstDash val="solid"/>
          </a:ln>
        </p:spPr>
        <p:txBody>
          <a:bodyPr/>
          <a:lstStyle/>
          <a:p>
            <a:endParaRPr lang="en-IN"/>
          </a:p>
        </p:txBody>
      </p:sp>
      <p:sp>
        <p:nvSpPr>
          <p:cNvPr id="28" name="Text 26"/>
          <p:cNvSpPr/>
          <p:nvPr/>
        </p:nvSpPr>
        <p:spPr>
          <a:xfrm>
            <a:off x="4974336" y="2084832"/>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Full backend regression test suite passing</a:t>
            </a:r>
            <a:endParaRPr lang="en-US" sz="1100" dirty="0"/>
          </a:p>
        </p:txBody>
      </p:sp>
      <p:sp>
        <p:nvSpPr>
          <p:cNvPr id="29" name="Shape 27"/>
          <p:cNvSpPr/>
          <p:nvPr/>
        </p:nvSpPr>
        <p:spPr>
          <a:xfrm>
            <a:off x="4773168" y="2596896"/>
            <a:ext cx="128016" cy="128016"/>
          </a:xfrm>
          <a:prstGeom prst="line">
            <a:avLst/>
          </a:prstGeom>
          <a:solidFill>
            <a:srgbClr val="00796B"/>
          </a:solidFill>
          <a:ln w="12700">
            <a:solidFill>
              <a:srgbClr val="00796B"/>
            </a:solidFill>
            <a:prstDash val="solid"/>
          </a:ln>
        </p:spPr>
        <p:txBody>
          <a:bodyPr/>
          <a:lstStyle/>
          <a:p>
            <a:endParaRPr lang="en-IN"/>
          </a:p>
        </p:txBody>
      </p:sp>
      <p:sp>
        <p:nvSpPr>
          <p:cNvPr id="30" name="Text 28"/>
          <p:cNvSpPr/>
          <p:nvPr/>
        </p:nvSpPr>
        <p:spPr>
          <a:xfrm>
            <a:off x="4974336" y="2505456"/>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IMPLEMENTATION_TICKETS.md + README updated</a:t>
            </a:r>
            <a:endParaRPr lang="en-US" sz="1100" dirty="0"/>
          </a:p>
        </p:txBody>
      </p:sp>
      <p:sp>
        <p:nvSpPr>
          <p:cNvPr id="31" name="Shape 29"/>
          <p:cNvSpPr/>
          <p:nvPr/>
        </p:nvSpPr>
        <p:spPr>
          <a:xfrm>
            <a:off x="4773168" y="3017520"/>
            <a:ext cx="128016" cy="128016"/>
          </a:xfrm>
          <a:prstGeom prst="line">
            <a:avLst/>
          </a:prstGeom>
          <a:solidFill>
            <a:srgbClr val="00796B"/>
          </a:solidFill>
          <a:ln w="12700">
            <a:solidFill>
              <a:srgbClr val="00796B"/>
            </a:solidFill>
            <a:prstDash val="solid"/>
          </a:ln>
        </p:spPr>
        <p:txBody>
          <a:bodyPr/>
          <a:lstStyle/>
          <a:p>
            <a:endParaRPr lang="en-IN"/>
          </a:p>
        </p:txBody>
      </p:sp>
      <p:sp>
        <p:nvSpPr>
          <p:cNvPr id="32" name="Text 30"/>
          <p:cNvSpPr/>
          <p:nvPr/>
        </p:nvSpPr>
        <p:spPr>
          <a:xfrm>
            <a:off x="4974336" y="2926080"/>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Changes committed to epic branch with proper format</a:t>
            </a:r>
            <a:endParaRPr lang="en-US" sz="1100" dirty="0"/>
          </a:p>
        </p:txBody>
      </p:sp>
      <p:sp>
        <p:nvSpPr>
          <p:cNvPr id="33" name="Shape 31"/>
          <p:cNvSpPr/>
          <p:nvPr/>
        </p:nvSpPr>
        <p:spPr>
          <a:xfrm>
            <a:off x="4773168" y="3438144"/>
            <a:ext cx="128016" cy="128016"/>
          </a:xfrm>
          <a:prstGeom prst="line">
            <a:avLst/>
          </a:prstGeom>
          <a:solidFill>
            <a:srgbClr val="00796B"/>
          </a:solidFill>
          <a:ln w="12700">
            <a:solidFill>
              <a:srgbClr val="00796B"/>
            </a:solidFill>
            <a:prstDash val="solid"/>
          </a:ln>
        </p:spPr>
        <p:txBody>
          <a:bodyPr/>
          <a:lstStyle/>
          <a:p>
            <a:endParaRPr lang="en-IN"/>
          </a:p>
        </p:txBody>
      </p:sp>
      <p:sp>
        <p:nvSpPr>
          <p:cNvPr id="34" name="Text 32"/>
          <p:cNvSpPr/>
          <p:nvPr/>
        </p:nvSpPr>
        <p:spPr>
          <a:xfrm>
            <a:off x="4974336" y="3346704"/>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Epic branch pushed only after ALL tasks in epic done</a:t>
            </a:r>
            <a:endParaRPr lang="en-US" sz="1100" dirty="0"/>
          </a:p>
        </p:txBody>
      </p:sp>
      <p:sp>
        <p:nvSpPr>
          <p:cNvPr id="35" name="Shape 33"/>
          <p:cNvSpPr/>
          <p:nvPr/>
        </p:nvSpPr>
        <p:spPr>
          <a:xfrm>
            <a:off x="4773168" y="3858768"/>
            <a:ext cx="128016" cy="128016"/>
          </a:xfrm>
          <a:prstGeom prst="line">
            <a:avLst/>
          </a:prstGeom>
          <a:solidFill>
            <a:srgbClr val="00796B"/>
          </a:solidFill>
          <a:ln w="12700">
            <a:solidFill>
              <a:srgbClr val="00796B"/>
            </a:solidFill>
            <a:prstDash val="solid"/>
          </a:ln>
        </p:spPr>
        <p:txBody>
          <a:bodyPr/>
          <a:lstStyle/>
          <a:p>
            <a:endParaRPr lang="en-IN"/>
          </a:p>
        </p:txBody>
      </p:sp>
      <p:sp>
        <p:nvSpPr>
          <p:cNvPr id="36" name="Text 34"/>
          <p:cNvSpPr/>
          <p:nvPr/>
        </p:nvSpPr>
        <p:spPr>
          <a:xfrm>
            <a:off x="4974336" y="3767328"/>
            <a:ext cx="3730752" cy="402336"/>
          </a:xfrm>
          <a:prstGeom prst="rect">
            <a:avLst/>
          </a:prstGeom>
          <a:noFill/>
          <a:ln/>
        </p:spPr>
        <p:txBody>
          <a:bodyPr wrap="square" rtlCol="0" anchor="ctr"/>
          <a:lstStyle/>
          <a:p>
            <a:pPr marL="0" indent="0">
              <a:lnSpc>
                <a:spcPct val="125000"/>
              </a:lnSpc>
              <a:buNone/>
            </a:pPr>
            <a:r>
              <a:rPr lang="en-US" sz="1100" dirty="0">
                <a:solidFill>
                  <a:srgbClr val="2C3E50"/>
                </a:solidFill>
                <a:latin typeface="Calibri" pitchFamily="34" charset="0"/>
                <a:ea typeface="Calibri" pitchFamily="34" charset="-122"/>
                <a:cs typeface="Calibri" pitchFamily="34" charset="-120"/>
              </a:rPr>
              <a:t>PR opened only after full regression passes</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3A5C"/>
          </a:solidFill>
          <a:ln w="12700">
            <a:solidFill>
              <a:srgbClr val="1A3A5C"/>
            </a:solidFill>
            <a:prstDash val="solid"/>
          </a:ln>
        </p:spPr>
        <p:txBody>
          <a:bodyPr/>
          <a:lstStyle/>
          <a:p>
            <a:endParaRPr lang="en-IN"/>
          </a:p>
        </p:txBody>
      </p:sp>
      <p:sp>
        <p:nvSpPr>
          <p:cNvPr id="4" name="Text 2"/>
          <p:cNvSpPr/>
          <p:nvPr/>
        </p:nvSpPr>
        <p:spPr>
          <a:xfrm>
            <a:off x="320040" y="457200"/>
            <a:ext cx="4572000" cy="2926080"/>
          </a:xfrm>
          <a:prstGeom prst="rect">
            <a:avLst/>
          </a:prstGeom>
          <a:noFill/>
          <a:ln/>
        </p:spPr>
        <p:txBody>
          <a:bodyPr wrap="square" rtlCol="0" anchor="ctr"/>
          <a:lstStyle/>
          <a:p>
            <a:pPr marL="0" indent="0">
              <a:buNone/>
            </a:pPr>
            <a:r>
              <a:rPr lang="en-US" sz="15000" b="1" dirty="0">
                <a:solidFill>
                  <a:srgbClr val="1A6FBF">
                    <a:alpha val="18000"/>
                  </a:srgbClr>
                </a:solidFill>
                <a:latin typeface="Calibri" pitchFamily="34" charset="0"/>
                <a:ea typeface="Calibri" pitchFamily="34" charset="-122"/>
                <a:cs typeface="Calibri" pitchFamily="34" charset="-120"/>
              </a:rPr>
              <a:t>10</a:t>
            </a:r>
            <a:endParaRPr lang="en-US" sz="15000" dirty="0"/>
          </a:p>
        </p:txBody>
      </p:sp>
      <p:sp>
        <p:nvSpPr>
          <p:cNvPr id="5" name="Text 3"/>
          <p:cNvSpPr/>
          <p:nvPr/>
        </p:nvSpPr>
        <p:spPr>
          <a:xfrm>
            <a:off x="365760" y="2286000"/>
            <a:ext cx="8046720" cy="100584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 &amp; Roadmap</a:t>
            </a:r>
            <a:endParaRPr lang="en-US" sz="3400" dirty="0"/>
          </a:p>
        </p:txBody>
      </p:sp>
      <p:sp>
        <p:nvSpPr>
          <p:cNvPr id="6" name="Text 4"/>
          <p:cNvSpPr/>
          <p:nvPr/>
        </p:nvSpPr>
        <p:spPr>
          <a:xfrm>
            <a:off x="365760" y="3291840"/>
            <a:ext cx="8046720" cy="548640"/>
          </a:xfrm>
          <a:prstGeom prst="rect">
            <a:avLst/>
          </a:prstGeom>
          <a:noFill/>
          <a:ln/>
        </p:spPr>
        <p:txBody>
          <a:bodyPr wrap="square" rtlCol="0" anchor="ctr"/>
          <a:lstStyle/>
          <a:p>
            <a:pPr marL="0" indent="0">
              <a:buNone/>
            </a:pPr>
            <a:r>
              <a:rPr lang="en-US" sz="1400" i="1" dirty="0">
                <a:solidFill>
                  <a:srgbClr val="7BAFD4"/>
                </a:solidFill>
                <a:latin typeface="Calibri" pitchFamily="34" charset="0"/>
                <a:ea typeface="Calibri" pitchFamily="34" charset="-122"/>
                <a:cs typeface="Calibri" pitchFamily="34" charset="-120"/>
              </a:rPr>
              <a:t>Industry impact, achieved results and future upgrades</a:t>
            </a:r>
            <a:endParaRPr lang="en-US" sz="1400" dirty="0"/>
          </a:p>
        </p:txBody>
      </p:sp>
      <p:sp>
        <p:nvSpPr>
          <p:cNvPr id="7" name="Shape 5"/>
          <p:cNvSpPr/>
          <p:nvPr/>
        </p:nvSpPr>
        <p:spPr>
          <a:xfrm>
            <a:off x="365760" y="4114800"/>
            <a:ext cx="3657600" cy="36576"/>
          </a:xfrm>
          <a:prstGeom prst="rect">
            <a:avLst/>
          </a:prstGeom>
          <a:solidFill>
            <a:srgbClr val="1A6FBF"/>
          </a:solidFill>
          <a:ln w="12700">
            <a:solidFill>
              <a:srgbClr val="1A6FBF"/>
            </a:solidFill>
            <a:prstDash val="solid"/>
          </a:ln>
        </p:spPr>
        <p:txBody>
          <a:bodyPr/>
          <a:lstStyle/>
          <a:p>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B1F3A"/>
          </a:solidFill>
          <a:ln w="12700">
            <a:solidFill>
              <a:srgbClr val="0B1F3A"/>
            </a:solidFill>
            <a:prstDash val="solid"/>
          </a:ln>
        </p:spPr>
        <p:txBody>
          <a:bodyPr/>
          <a:lstStyle/>
          <a:p>
            <a:endParaRPr lang="en-IN"/>
          </a:p>
        </p:txBody>
      </p:sp>
      <p:sp>
        <p:nvSpPr>
          <p:cNvPr id="3" name="Shape 1"/>
          <p:cNvSpPr/>
          <p:nvPr/>
        </p:nvSpPr>
        <p:spPr>
          <a:xfrm>
            <a:off x="0" y="0"/>
            <a:ext cx="201168" cy="640080"/>
          </a:xfrm>
          <a:prstGeom prst="rect">
            <a:avLst/>
          </a:prstGeom>
          <a:solidFill>
            <a:srgbClr val="1A6FBF"/>
          </a:solidFill>
          <a:ln w="12700">
            <a:solidFill>
              <a:srgbClr val="1A6FBF"/>
            </a:solidFill>
            <a:prstDash val="solid"/>
          </a:ln>
        </p:spPr>
        <p:txBody>
          <a:bodyPr/>
          <a:lstStyle/>
          <a:p>
            <a:endParaRPr lang="en-IN"/>
          </a:p>
        </p:txBody>
      </p:sp>
      <p:sp>
        <p:nvSpPr>
          <p:cNvPr id="4" name="Text 2"/>
          <p:cNvSpPr/>
          <p:nvPr/>
        </p:nvSpPr>
        <p:spPr>
          <a:xfrm>
            <a:off x="347472" y="0"/>
            <a:ext cx="859536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Conclusion — Industry Impact &amp; Future Roadmap</a:t>
            </a:r>
            <a:endParaRPr lang="en-US" sz="1800" dirty="0"/>
          </a:p>
        </p:txBody>
      </p:sp>
      <p:sp>
        <p:nvSpPr>
          <p:cNvPr id="5" name="Shape 3"/>
          <p:cNvSpPr/>
          <p:nvPr/>
        </p:nvSpPr>
        <p:spPr>
          <a:xfrm>
            <a:off x="201168" y="640080"/>
            <a:ext cx="8942832" cy="36576"/>
          </a:xfrm>
          <a:prstGeom prst="rect">
            <a:avLst/>
          </a:prstGeom>
          <a:solidFill>
            <a:srgbClr val="1A6FBF"/>
          </a:solidFill>
          <a:ln w="12700">
            <a:solidFill>
              <a:srgbClr val="1A6FBF"/>
            </a:solidFill>
            <a:prstDash val="solid"/>
          </a:ln>
        </p:spPr>
        <p:txBody>
          <a:bodyPr/>
          <a:lstStyle/>
          <a:p>
            <a:endParaRPr lang="en-IN"/>
          </a:p>
        </p:txBody>
      </p:sp>
      <p:sp>
        <p:nvSpPr>
          <p:cNvPr id="6" name="Text 4"/>
          <p:cNvSpPr/>
          <p:nvPr/>
        </p:nvSpPr>
        <p:spPr>
          <a:xfrm>
            <a:off x="292608" y="749808"/>
            <a:ext cx="4297680" cy="329184"/>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Industry Impact</a:t>
            </a:r>
            <a:endParaRPr lang="en-US" sz="1300" dirty="0"/>
          </a:p>
        </p:txBody>
      </p:sp>
      <p:sp>
        <p:nvSpPr>
          <p:cNvPr id="7" name="Shape 5"/>
          <p:cNvSpPr/>
          <p:nvPr/>
        </p:nvSpPr>
        <p:spPr>
          <a:xfrm>
            <a:off x="256032" y="1188720"/>
            <a:ext cx="4251960" cy="804672"/>
          </a:xfrm>
          <a:prstGeom prst="rect">
            <a:avLst/>
          </a:prstGeom>
          <a:solidFill>
            <a:srgbClr val="E8F1FA"/>
          </a:solidFill>
          <a:ln w="12700">
            <a:solidFill>
              <a:srgbClr val="E8F1FA"/>
            </a:solidFill>
            <a:prstDash val="solid"/>
          </a:ln>
          <a:effectLst>
            <a:outerShdw blurRad="127000" dist="38100" dir="8100000" algn="bl" rotWithShape="0">
              <a:srgbClr val="000000">
                <a:alpha val="9000"/>
              </a:srgbClr>
            </a:outerShdw>
          </a:effectLst>
        </p:spPr>
        <p:txBody>
          <a:bodyPr/>
          <a:lstStyle/>
          <a:p>
            <a:endParaRPr lang="en-IN"/>
          </a:p>
        </p:txBody>
      </p:sp>
      <p:sp>
        <p:nvSpPr>
          <p:cNvPr id="8" name="Shape 6"/>
          <p:cNvSpPr/>
          <p:nvPr/>
        </p:nvSpPr>
        <p:spPr>
          <a:xfrm>
            <a:off x="256032" y="1188720"/>
            <a:ext cx="91440" cy="804672"/>
          </a:xfrm>
          <a:prstGeom prst="rect">
            <a:avLst/>
          </a:prstGeom>
          <a:solidFill>
            <a:srgbClr val="1A6FBF"/>
          </a:solidFill>
          <a:ln w="12700">
            <a:solidFill>
              <a:srgbClr val="1A6FBF"/>
            </a:solidFill>
            <a:prstDash val="solid"/>
          </a:ln>
        </p:spPr>
        <p:txBody>
          <a:bodyPr/>
          <a:lstStyle/>
          <a:p>
            <a:endParaRPr lang="en-IN"/>
          </a:p>
        </p:txBody>
      </p:sp>
      <p:sp>
        <p:nvSpPr>
          <p:cNvPr id="9" name="Text 7"/>
          <p:cNvSpPr/>
          <p:nvPr/>
        </p:nvSpPr>
        <p:spPr>
          <a:xfrm>
            <a:off x="420624" y="1243584"/>
            <a:ext cx="4005072" cy="27432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Stockout Reduction</a:t>
            </a:r>
            <a:endParaRPr lang="en-US" sz="1200" dirty="0"/>
          </a:p>
        </p:txBody>
      </p:sp>
      <p:sp>
        <p:nvSpPr>
          <p:cNvPr id="10" name="Text 8"/>
          <p:cNvSpPr/>
          <p:nvPr/>
        </p:nvSpPr>
        <p:spPr>
          <a:xfrm>
            <a:off x="420624" y="1517904"/>
            <a:ext cx="4005072" cy="457200"/>
          </a:xfrm>
          <a:prstGeom prst="rect">
            <a:avLst/>
          </a:prstGeom>
          <a:noFill/>
          <a:ln/>
        </p:spPr>
        <p:txBody>
          <a:bodyPr wrap="square" rtlCol="0" anchor="ctr"/>
          <a:lstStyle/>
          <a:p>
            <a:pPr marL="0" indent="0">
              <a:lnSpc>
                <a:spcPct val="130000"/>
              </a:lnSpc>
              <a:buNone/>
            </a:pPr>
            <a:r>
              <a:rPr lang="en-US" sz="1050" dirty="0">
                <a:solidFill>
                  <a:srgbClr val="2C3E50"/>
                </a:solidFill>
                <a:latin typeface="Calibri" pitchFamily="34" charset="0"/>
                <a:ea typeface="Calibri" pitchFamily="34" charset="-122"/>
                <a:cs typeface="Calibri" pitchFamily="34" charset="-120"/>
              </a:rPr>
              <a:t>ML risk flagging surfaces at-risk items 14 days ahead — enabling proactive restocking before shortages.</a:t>
            </a:r>
            <a:endParaRPr lang="en-US" sz="1050" dirty="0"/>
          </a:p>
        </p:txBody>
      </p:sp>
      <p:sp>
        <p:nvSpPr>
          <p:cNvPr id="11" name="Shape 9"/>
          <p:cNvSpPr/>
          <p:nvPr/>
        </p:nvSpPr>
        <p:spPr>
          <a:xfrm>
            <a:off x="256032" y="2103120"/>
            <a:ext cx="4251960" cy="804672"/>
          </a:xfrm>
          <a:prstGeom prst="rect">
            <a:avLst/>
          </a:prstGeom>
          <a:solidFill>
            <a:srgbClr val="E0F2F1"/>
          </a:solidFill>
          <a:ln w="12700">
            <a:solidFill>
              <a:srgbClr val="E0F2F1"/>
            </a:solidFill>
            <a:prstDash val="solid"/>
          </a:ln>
          <a:effectLst>
            <a:outerShdw blurRad="127000" dist="38100" dir="8100000" algn="bl" rotWithShape="0">
              <a:srgbClr val="000000">
                <a:alpha val="9000"/>
              </a:srgbClr>
            </a:outerShdw>
          </a:effectLst>
        </p:spPr>
        <p:txBody>
          <a:bodyPr/>
          <a:lstStyle/>
          <a:p>
            <a:endParaRPr lang="en-IN"/>
          </a:p>
        </p:txBody>
      </p:sp>
      <p:sp>
        <p:nvSpPr>
          <p:cNvPr id="12" name="Shape 10"/>
          <p:cNvSpPr/>
          <p:nvPr/>
        </p:nvSpPr>
        <p:spPr>
          <a:xfrm>
            <a:off x="256032" y="2103120"/>
            <a:ext cx="91440" cy="804672"/>
          </a:xfrm>
          <a:prstGeom prst="rect">
            <a:avLst/>
          </a:prstGeom>
          <a:solidFill>
            <a:srgbClr val="00796B"/>
          </a:solidFill>
          <a:ln w="12700">
            <a:solidFill>
              <a:srgbClr val="00796B"/>
            </a:solidFill>
            <a:prstDash val="solid"/>
          </a:ln>
        </p:spPr>
        <p:txBody>
          <a:bodyPr/>
          <a:lstStyle/>
          <a:p>
            <a:endParaRPr lang="en-IN"/>
          </a:p>
        </p:txBody>
      </p:sp>
      <p:sp>
        <p:nvSpPr>
          <p:cNvPr id="13" name="Text 11"/>
          <p:cNvSpPr/>
          <p:nvPr/>
        </p:nvSpPr>
        <p:spPr>
          <a:xfrm>
            <a:off x="420624" y="2157984"/>
            <a:ext cx="4005072" cy="27432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Expiry Waste Cut</a:t>
            </a:r>
            <a:endParaRPr lang="en-US" sz="1200" dirty="0"/>
          </a:p>
        </p:txBody>
      </p:sp>
      <p:sp>
        <p:nvSpPr>
          <p:cNvPr id="14" name="Text 12"/>
          <p:cNvSpPr/>
          <p:nvPr/>
        </p:nvSpPr>
        <p:spPr>
          <a:xfrm>
            <a:off x="420624" y="2432304"/>
            <a:ext cx="4005072" cy="457200"/>
          </a:xfrm>
          <a:prstGeom prst="rect">
            <a:avLst/>
          </a:prstGeom>
          <a:noFill/>
          <a:ln/>
        </p:spPr>
        <p:txBody>
          <a:bodyPr wrap="square" rtlCol="0" anchor="ctr"/>
          <a:lstStyle/>
          <a:p>
            <a:pPr marL="0" indent="0">
              <a:lnSpc>
                <a:spcPct val="130000"/>
              </a:lnSpc>
              <a:buNone/>
            </a:pPr>
            <a:r>
              <a:rPr lang="en-US" sz="1050" dirty="0">
                <a:solidFill>
                  <a:srgbClr val="2C3E50"/>
                </a:solidFill>
                <a:latin typeface="Calibri" pitchFamily="34" charset="0"/>
                <a:ea typeface="Calibri" pitchFamily="34" charset="-122"/>
                <a:cs typeface="Calibri" pitchFamily="34" charset="-120"/>
              </a:rPr>
              <a:t>Expiry risk model identifies items expiring within configurable windows — targeting the 8–10% industry waste rate.</a:t>
            </a:r>
            <a:endParaRPr lang="en-US" sz="1050" dirty="0"/>
          </a:p>
        </p:txBody>
      </p:sp>
      <p:sp>
        <p:nvSpPr>
          <p:cNvPr id="15" name="Shape 13"/>
          <p:cNvSpPr/>
          <p:nvPr/>
        </p:nvSpPr>
        <p:spPr>
          <a:xfrm>
            <a:off x="256032" y="3017520"/>
            <a:ext cx="4251960" cy="804672"/>
          </a:xfrm>
          <a:prstGeom prst="rect">
            <a:avLst/>
          </a:prstGeom>
          <a:solidFill>
            <a:srgbClr val="FFF3E0"/>
          </a:solidFill>
          <a:ln w="12700">
            <a:solidFill>
              <a:srgbClr val="FFF3E0"/>
            </a:solidFill>
            <a:prstDash val="solid"/>
          </a:ln>
          <a:effectLst>
            <a:outerShdw blurRad="127000" dist="38100" dir="8100000" algn="bl" rotWithShape="0">
              <a:srgbClr val="000000">
                <a:alpha val="9000"/>
              </a:srgbClr>
            </a:outerShdw>
          </a:effectLst>
        </p:spPr>
        <p:txBody>
          <a:bodyPr/>
          <a:lstStyle/>
          <a:p>
            <a:endParaRPr lang="en-IN"/>
          </a:p>
        </p:txBody>
      </p:sp>
      <p:sp>
        <p:nvSpPr>
          <p:cNvPr id="16" name="Shape 14"/>
          <p:cNvSpPr/>
          <p:nvPr/>
        </p:nvSpPr>
        <p:spPr>
          <a:xfrm>
            <a:off x="256032" y="3017520"/>
            <a:ext cx="91440" cy="804672"/>
          </a:xfrm>
          <a:prstGeom prst="rect">
            <a:avLst/>
          </a:prstGeom>
          <a:solidFill>
            <a:srgbClr val="E65100"/>
          </a:solidFill>
          <a:ln w="12700">
            <a:solidFill>
              <a:srgbClr val="E65100"/>
            </a:solidFill>
            <a:prstDash val="solid"/>
          </a:ln>
        </p:spPr>
        <p:txBody>
          <a:bodyPr/>
          <a:lstStyle/>
          <a:p>
            <a:endParaRPr lang="en-IN"/>
          </a:p>
        </p:txBody>
      </p:sp>
      <p:sp>
        <p:nvSpPr>
          <p:cNvPr id="17" name="Text 15"/>
          <p:cNvSpPr/>
          <p:nvPr/>
        </p:nvSpPr>
        <p:spPr>
          <a:xfrm>
            <a:off x="420624" y="3072384"/>
            <a:ext cx="4005072" cy="27432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Cost Optimisation</a:t>
            </a:r>
            <a:endParaRPr lang="en-US" sz="1200" dirty="0"/>
          </a:p>
        </p:txBody>
      </p:sp>
      <p:sp>
        <p:nvSpPr>
          <p:cNvPr id="18" name="Text 16"/>
          <p:cNvSpPr/>
          <p:nvPr/>
        </p:nvSpPr>
        <p:spPr>
          <a:xfrm>
            <a:off x="420624" y="3346704"/>
            <a:ext cx="4005072" cy="457200"/>
          </a:xfrm>
          <a:prstGeom prst="rect">
            <a:avLst/>
          </a:prstGeom>
          <a:noFill/>
          <a:ln/>
        </p:spPr>
        <p:txBody>
          <a:bodyPr wrap="square" rtlCol="0" anchor="ctr"/>
          <a:lstStyle/>
          <a:p>
            <a:pPr marL="0" indent="0">
              <a:lnSpc>
                <a:spcPct val="130000"/>
              </a:lnSpc>
              <a:buNone/>
            </a:pPr>
            <a:r>
              <a:rPr lang="en-US" sz="1050" dirty="0">
                <a:solidFill>
                  <a:srgbClr val="2C3E50"/>
                </a:solidFill>
                <a:latin typeface="Calibri" pitchFamily="34" charset="0"/>
                <a:ea typeface="Calibri" pitchFamily="34" charset="-122"/>
                <a:cs typeface="Calibri" pitchFamily="34" charset="-120"/>
              </a:rPr>
              <a:t>Automated PO generation and supplier scoring eliminates over-ordering and emergency procurement premiums.</a:t>
            </a:r>
            <a:endParaRPr lang="en-US" sz="1050" dirty="0"/>
          </a:p>
        </p:txBody>
      </p:sp>
      <p:sp>
        <p:nvSpPr>
          <p:cNvPr id="19" name="Shape 17"/>
          <p:cNvSpPr/>
          <p:nvPr/>
        </p:nvSpPr>
        <p:spPr>
          <a:xfrm>
            <a:off x="256032" y="3931920"/>
            <a:ext cx="4251960" cy="804672"/>
          </a:xfrm>
          <a:prstGeom prst="rect">
            <a:avLst/>
          </a:prstGeom>
          <a:solidFill>
            <a:srgbClr val="FFEBEE"/>
          </a:solidFill>
          <a:ln w="12700">
            <a:solidFill>
              <a:srgbClr val="FFEBEE"/>
            </a:solidFill>
            <a:prstDash val="solid"/>
          </a:ln>
          <a:effectLst>
            <a:outerShdw blurRad="127000" dist="38100" dir="8100000" algn="bl" rotWithShape="0">
              <a:srgbClr val="000000">
                <a:alpha val="9000"/>
              </a:srgbClr>
            </a:outerShdw>
          </a:effectLst>
        </p:spPr>
        <p:txBody>
          <a:bodyPr/>
          <a:lstStyle/>
          <a:p>
            <a:endParaRPr lang="en-IN"/>
          </a:p>
        </p:txBody>
      </p:sp>
      <p:sp>
        <p:nvSpPr>
          <p:cNvPr id="20" name="Shape 18"/>
          <p:cNvSpPr/>
          <p:nvPr/>
        </p:nvSpPr>
        <p:spPr>
          <a:xfrm>
            <a:off x="256032" y="3931920"/>
            <a:ext cx="91440" cy="804672"/>
          </a:xfrm>
          <a:prstGeom prst="rect">
            <a:avLst/>
          </a:prstGeom>
          <a:solidFill>
            <a:srgbClr val="B71C1C"/>
          </a:solidFill>
          <a:ln w="12700">
            <a:solidFill>
              <a:srgbClr val="B71C1C"/>
            </a:solidFill>
            <a:prstDash val="solid"/>
          </a:ln>
        </p:spPr>
        <p:txBody>
          <a:bodyPr/>
          <a:lstStyle/>
          <a:p>
            <a:endParaRPr lang="en-IN"/>
          </a:p>
        </p:txBody>
      </p:sp>
      <p:sp>
        <p:nvSpPr>
          <p:cNvPr id="21" name="Text 19"/>
          <p:cNvSpPr/>
          <p:nvPr/>
        </p:nvSpPr>
        <p:spPr>
          <a:xfrm>
            <a:off x="420624" y="3986784"/>
            <a:ext cx="4005072" cy="27432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Patient Safety</a:t>
            </a:r>
            <a:endParaRPr lang="en-US" sz="1200" dirty="0"/>
          </a:p>
        </p:txBody>
      </p:sp>
      <p:sp>
        <p:nvSpPr>
          <p:cNvPr id="22" name="Text 20"/>
          <p:cNvSpPr/>
          <p:nvPr/>
        </p:nvSpPr>
        <p:spPr>
          <a:xfrm>
            <a:off x="420624" y="4261104"/>
            <a:ext cx="4005072" cy="457200"/>
          </a:xfrm>
          <a:prstGeom prst="rect">
            <a:avLst/>
          </a:prstGeom>
          <a:noFill/>
          <a:ln/>
        </p:spPr>
        <p:txBody>
          <a:bodyPr wrap="square" rtlCol="0" anchor="ctr"/>
          <a:lstStyle/>
          <a:p>
            <a:pPr marL="0" indent="0">
              <a:lnSpc>
                <a:spcPct val="130000"/>
              </a:lnSpc>
              <a:buNone/>
            </a:pPr>
            <a:r>
              <a:rPr lang="en-US" sz="1050" dirty="0">
                <a:solidFill>
                  <a:srgbClr val="2C3E50"/>
                </a:solidFill>
                <a:latin typeface="Calibri" pitchFamily="34" charset="0"/>
                <a:ea typeface="Calibri" pitchFamily="34" charset="-122"/>
                <a:cs typeface="Calibri" pitchFamily="34" charset="-120"/>
              </a:rPr>
              <a:t>Real-time alerts ensure critical medicines (blood products, surgical supplies) are available — reducing care interruptions.</a:t>
            </a:r>
            <a:endParaRPr lang="en-US" sz="1050" dirty="0"/>
          </a:p>
        </p:txBody>
      </p:sp>
      <p:sp>
        <p:nvSpPr>
          <p:cNvPr id="23" name="Text 21"/>
          <p:cNvSpPr/>
          <p:nvPr/>
        </p:nvSpPr>
        <p:spPr>
          <a:xfrm>
            <a:off x="4864608" y="749808"/>
            <a:ext cx="4005072" cy="329184"/>
          </a:xfrm>
          <a:prstGeom prst="rect">
            <a:avLst/>
          </a:prstGeom>
          <a:noFill/>
          <a:ln/>
        </p:spPr>
        <p:txBody>
          <a:bodyPr wrap="square" rtlCol="0" anchor="ctr"/>
          <a:lstStyle/>
          <a:p>
            <a:pPr marL="0" indent="0">
              <a:buNone/>
            </a:pPr>
            <a:r>
              <a:rPr lang="en-US" sz="1300" b="1" dirty="0">
                <a:solidFill>
                  <a:srgbClr val="0D1B2A"/>
                </a:solidFill>
                <a:latin typeface="Calibri" pitchFamily="34" charset="0"/>
                <a:ea typeface="Calibri" pitchFamily="34" charset="-122"/>
                <a:cs typeface="Calibri" pitchFamily="34" charset="-120"/>
              </a:rPr>
              <a:t>Achieved Results</a:t>
            </a:r>
            <a:endParaRPr lang="en-US" sz="1300" dirty="0"/>
          </a:p>
        </p:txBody>
      </p:sp>
      <p:sp>
        <p:nvSpPr>
          <p:cNvPr id="24" name="Shape 22"/>
          <p:cNvSpPr/>
          <p:nvPr/>
        </p:nvSpPr>
        <p:spPr>
          <a:xfrm>
            <a:off x="4864608" y="1188720"/>
            <a:ext cx="1874520" cy="713232"/>
          </a:xfrm>
          <a:prstGeom prst="rect">
            <a:avLst/>
          </a:prstGeom>
          <a:solidFill>
            <a:srgbClr val="E8F1FA"/>
          </a:solidFill>
          <a:ln w="12700">
            <a:solidFill>
              <a:srgbClr val="E8F1FA"/>
            </a:solidFill>
            <a:prstDash val="solid"/>
          </a:ln>
          <a:effectLst>
            <a:outerShdw blurRad="127000" dist="38100" dir="8100000" algn="bl" rotWithShape="0">
              <a:srgbClr val="000000">
                <a:alpha val="9000"/>
              </a:srgbClr>
            </a:outerShdw>
          </a:effectLst>
        </p:spPr>
        <p:txBody>
          <a:bodyPr/>
          <a:lstStyle/>
          <a:p>
            <a:endParaRPr lang="en-IN"/>
          </a:p>
        </p:txBody>
      </p:sp>
      <p:sp>
        <p:nvSpPr>
          <p:cNvPr id="25" name="Text 23"/>
          <p:cNvSpPr/>
          <p:nvPr/>
        </p:nvSpPr>
        <p:spPr>
          <a:xfrm>
            <a:off x="4864608" y="1261872"/>
            <a:ext cx="1874520" cy="370881"/>
          </a:xfrm>
          <a:prstGeom prst="rect">
            <a:avLst/>
          </a:prstGeom>
          <a:noFill/>
          <a:ln/>
        </p:spPr>
        <p:txBody>
          <a:bodyPr wrap="square" rtlCol="0" anchor="b"/>
          <a:lstStyle/>
          <a:p>
            <a:pPr marL="0" indent="0" algn="ctr">
              <a:buNone/>
            </a:pPr>
            <a:r>
              <a:rPr lang="en-US" sz="2800" b="1" dirty="0">
                <a:solidFill>
                  <a:srgbClr val="1A6FBF"/>
                </a:solidFill>
                <a:latin typeface="Calibri" pitchFamily="34" charset="0"/>
                <a:ea typeface="Calibri" pitchFamily="34" charset="-122"/>
                <a:cs typeface="Calibri" pitchFamily="34" charset="-120"/>
              </a:rPr>
              <a:t>0.9998</a:t>
            </a:r>
            <a:endParaRPr lang="en-US" sz="2800" dirty="0"/>
          </a:p>
        </p:txBody>
      </p:sp>
      <p:sp>
        <p:nvSpPr>
          <p:cNvPr id="26" name="Text 24"/>
          <p:cNvSpPr/>
          <p:nvPr/>
        </p:nvSpPr>
        <p:spPr>
          <a:xfrm>
            <a:off x="4937760" y="1588130"/>
            <a:ext cx="1728216" cy="285293"/>
          </a:xfrm>
          <a:prstGeom prst="rect">
            <a:avLst/>
          </a:prstGeom>
          <a:noFill/>
          <a:ln/>
        </p:spPr>
        <p:txBody>
          <a:bodyPr wrap="square" rtlCol="0" anchor="ctr"/>
          <a:lstStyle/>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CatBoost R²</a:t>
            </a:r>
            <a:endParaRPr lang="en-US" sz="1050" dirty="0"/>
          </a:p>
        </p:txBody>
      </p:sp>
      <p:sp>
        <p:nvSpPr>
          <p:cNvPr id="27" name="Shape 25"/>
          <p:cNvSpPr/>
          <p:nvPr/>
        </p:nvSpPr>
        <p:spPr>
          <a:xfrm>
            <a:off x="6858000" y="1188720"/>
            <a:ext cx="1874520" cy="713232"/>
          </a:xfrm>
          <a:prstGeom prst="rect">
            <a:avLst/>
          </a:prstGeom>
          <a:solidFill>
            <a:srgbClr val="E0F2F1"/>
          </a:solidFill>
          <a:ln w="12700">
            <a:solidFill>
              <a:srgbClr val="E0F2F1"/>
            </a:solidFill>
            <a:prstDash val="solid"/>
          </a:ln>
          <a:effectLst>
            <a:outerShdw blurRad="127000" dist="38100" dir="8100000" algn="bl" rotWithShape="0">
              <a:srgbClr val="000000">
                <a:alpha val="9000"/>
              </a:srgbClr>
            </a:outerShdw>
          </a:effectLst>
        </p:spPr>
        <p:txBody>
          <a:bodyPr/>
          <a:lstStyle/>
          <a:p>
            <a:endParaRPr lang="en-IN"/>
          </a:p>
        </p:txBody>
      </p:sp>
      <p:sp>
        <p:nvSpPr>
          <p:cNvPr id="28" name="Text 26"/>
          <p:cNvSpPr/>
          <p:nvPr/>
        </p:nvSpPr>
        <p:spPr>
          <a:xfrm>
            <a:off x="6858000" y="1261872"/>
            <a:ext cx="1874520" cy="370881"/>
          </a:xfrm>
          <a:prstGeom prst="rect">
            <a:avLst/>
          </a:prstGeom>
          <a:noFill/>
          <a:ln/>
        </p:spPr>
        <p:txBody>
          <a:bodyPr wrap="square" rtlCol="0" anchor="b"/>
          <a:lstStyle/>
          <a:p>
            <a:pPr marL="0" indent="0" algn="ctr">
              <a:buNone/>
            </a:pPr>
            <a:r>
              <a:rPr lang="en-US" sz="2800" b="1" dirty="0">
                <a:solidFill>
                  <a:srgbClr val="00796B"/>
                </a:solidFill>
                <a:latin typeface="Calibri" pitchFamily="34" charset="0"/>
                <a:ea typeface="Calibri" pitchFamily="34" charset="-122"/>
                <a:cs typeface="Calibri" pitchFamily="34" charset="-120"/>
              </a:rPr>
              <a:t>1.74 units</a:t>
            </a:r>
            <a:endParaRPr lang="en-US" sz="2800" dirty="0"/>
          </a:p>
        </p:txBody>
      </p:sp>
      <p:sp>
        <p:nvSpPr>
          <p:cNvPr id="29" name="Text 27"/>
          <p:cNvSpPr/>
          <p:nvPr/>
        </p:nvSpPr>
        <p:spPr>
          <a:xfrm>
            <a:off x="6931152" y="1588130"/>
            <a:ext cx="1728216" cy="285293"/>
          </a:xfrm>
          <a:prstGeom prst="rect">
            <a:avLst/>
          </a:prstGeom>
          <a:noFill/>
          <a:ln/>
        </p:spPr>
        <p:txBody>
          <a:bodyPr wrap="square" rtlCol="0" anchor="ctr"/>
          <a:lstStyle/>
          <a:p>
            <a:pPr marL="0" indent="0" algn="ctr">
              <a:lnSpc>
                <a:spcPct val="120000"/>
              </a:lnSpc>
              <a:buNone/>
            </a:pPr>
            <a:r>
              <a:rPr lang="en-US" sz="1050" dirty="0">
                <a:solidFill>
                  <a:srgbClr val="00796B"/>
                </a:solidFill>
                <a:latin typeface="Calibri" pitchFamily="34" charset="0"/>
                <a:ea typeface="Calibri" pitchFamily="34" charset="-122"/>
                <a:cs typeface="Calibri" pitchFamily="34" charset="-120"/>
              </a:rPr>
              <a:t>MAE</a:t>
            </a:r>
            <a:endParaRPr lang="en-US" sz="1050" dirty="0"/>
          </a:p>
        </p:txBody>
      </p:sp>
      <p:sp>
        <p:nvSpPr>
          <p:cNvPr id="30" name="Shape 28"/>
          <p:cNvSpPr/>
          <p:nvPr/>
        </p:nvSpPr>
        <p:spPr>
          <a:xfrm>
            <a:off x="4864608" y="2011680"/>
            <a:ext cx="1874520" cy="713232"/>
          </a:xfrm>
          <a:prstGeom prst="rect">
            <a:avLst/>
          </a:prstGeom>
          <a:solidFill>
            <a:srgbClr val="FFF3E0"/>
          </a:solidFill>
          <a:ln w="12700">
            <a:solidFill>
              <a:srgbClr val="FFF3E0"/>
            </a:solidFill>
            <a:prstDash val="solid"/>
          </a:ln>
          <a:effectLst>
            <a:outerShdw blurRad="127000" dist="38100" dir="8100000" algn="bl" rotWithShape="0">
              <a:srgbClr val="000000">
                <a:alpha val="9000"/>
              </a:srgbClr>
            </a:outerShdw>
          </a:effectLst>
        </p:spPr>
        <p:txBody>
          <a:bodyPr/>
          <a:lstStyle/>
          <a:p>
            <a:endParaRPr lang="en-IN"/>
          </a:p>
        </p:txBody>
      </p:sp>
      <p:sp>
        <p:nvSpPr>
          <p:cNvPr id="31" name="Text 29"/>
          <p:cNvSpPr/>
          <p:nvPr/>
        </p:nvSpPr>
        <p:spPr>
          <a:xfrm>
            <a:off x="4864608" y="2084832"/>
            <a:ext cx="1874520" cy="370881"/>
          </a:xfrm>
          <a:prstGeom prst="rect">
            <a:avLst/>
          </a:prstGeom>
          <a:noFill/>
          <a:ln/>
        </p:spPr>
        <p:txBody>
          <a:bodyPr wrap="square" rtlCol="0" anchor="b"/>
          <a:lstStyle/>
          <a:p>
            <a:pPr marL="0" indent="0" algn="ctr">
              <a:buNone/>
            </a:pPr>
            <a:r>
              <a:rPr lang="en-US" sz="2800" b="1" dirty="0">
                <a:solidFill>
                  <a:srgbClr val="E65100"/>
                </a:solidFill>
                <a:latin typeface="Calibri" pitchFamily="34" charset="0"/>
                <a:ea typeface="Calibri" pitchFamily="34" charset="-122"/>
                <a:cs typeface="Calibri" pitchFamily="34" charset="-120"/>
              </a:rPr>
              <a:t>1.59 ms</a:t>
            </a:r>
            <a:endParaRPr lang="en-US" sz="2800" dirty="0"/>
          </a:p>
        </p:txBody>
      </p:sp>
      <p:sp>
        <p:nvSpPr>
          <p:cNvPr id="32" name="Text 30"/>
          <p:cNvSpPr/>
          <p:nvPr/>
        </p:nvSpPr>
        <p:spPr>
          <a:xfrm>
            <a:off x="4937760" y="2411090"/>
            <a:ext cx="1728216" cy="285293"/>
          </a:xfrm>
          <a:prstGeom prst="rect">
            <a:avLst/>
          </a:prstGeom>
          <a:noFill/>
          <a:ln/>
        </p:spPr>
        <p:txBody>
          <a:bodyPr wrap="square" rtlCol="0" anchor="ctr"/>
          <a:lstStyle/>
          <a:p>
            <a:pPr marL="0" indent="0" algn="ctr">
              <a:lnSpc>
                <a:spcPct val="120000"/>
              </a:lnSpc>
              <a:buNone/>
            </a:pPr>
            <a:r>
              <a:rPr lang="en-US" sz="1050" dirty="0">
                <a:solidFill>
                  <a:srgbClr val="E65100"/>
                </a:solidFill>
                <a:latin typeface="Calibri" pitchFamily="34" charset="0"/>
                <a:ea typeface="Calibri" pitchFamily="34" charset="-122"/>
                <a:cs typeface="Calibri" pitchFamily="34" charset="-120"/>
              </a:rPr>
              <a:t>Inference p99</a:t>
            </a:r>
            <a:endParaRPr lang="en-US" sz="1050" dirty="0"/>
          </a:p>
        </p:txBody>
      </p:sp>
      <p:sp>
        <p:nvSpPr>
          <p:cNvPr id="33" name="Shape 31"/>
          <p:cNvSpPr/>
          <p:nvPr/>
        </p:nvSpPr>
        <p:spPr>
          <a:xfrm>
            <a:off x="6858000" y="2011680"/>
            <a:ext cx="1874520" cy="713232"/>
          </a:xfrm>
          <a:prstGeom prst="rect">
            <a:avLst/>
          </a:prstGeom>
          <a:solidFill>
            <a:srgbClr val="E8F1FA"/>
          </a:solidFill>
          <a:ln w="12700">
            <a:solidFill>
              <a:srgbClr val="E8F1FA"/>
            </a:solidFill>
            <a:prstDash val="solid"/>
          </a:ln>
          <a:effectLst>
            <a:outerShdw blurRad="127000" dist="38100" dir="8100000" algn="bl" rotWithShape="0">
              <a:srgbClr val="000000">
                <a:alpha val="9000"/>
              </a:srgbClr>
            </a:outerShdw>
          </a:effectLst>
        </p:spPr>
        <p:txBody>
          <a:bodyPr/>
          <a:lstStyle/>
          <a:p>
            <a:endParaRPr lang="en-IN"/>
          </a:p>
        </p:txBody>
      </p:sp>
      <p:sp>
        <p:nvSpPr>
          <p:cNvPr id="34" name="Text 32"/>
          <p:cNvSpPr/>
          <p:nvPr/>
        </p:nvSpPr>
        <p:spPr>
          <a:xfrm>
            <a:off x="6858000" y="2084832"/>
            <a:ext cx="1874520" cy="370881"/>
          </a:xfrm>
          <a:prstGeom prst="rect">
            <a:avLst/>
          </a:prstGeom>
          <a:noFill/>
          <a:ln/>
        </p:spPr>
        <p:txBody>
          <a:bodyPr wrap="square" rtlCol="0" anchor="b"/>
          <a:lstStyle/>
          <a:p>
            <a:pPr marL="0" indent="0" algn="ctr">
              <a:buNone/>
            </a:pPr>
            <a:r>
              <a:rPr lang="en-US" sz="2800" b="1" dirty="0">
                <a:solidFill>
                  <a:srgbClr val="1A6FBF"/>
                </a:solidFill>
                <a:latin typeface="Calibri" pitchFamily="34" charset="0"/>
                <a:ea typeface="Calibri" pitchFamily="34" charset="-122"/>
                <a:cs typeface="Calibri" pitchFamily="34" charset="-120"/>
              </a:rPr>
              <a:t>173+ pts</a:t>
            </a:r>
            <a:endParaRPr lang="en-US" sz="2800" dirty="0"/>
          </a:p>
        </p:txBody>
      </p:sp>
      <p:sp>
        <p:nvSpPr>
          <p:cNvPr id="35" name="Text 33"/>
          <p:cNvSpPr/>
          <p:nvPr/>
        </p:nvSpPr>
        <p:spPr>
          <a:xfrm>
            <a:off x="6931152" y="2411090"/>
            <a:ext cx="1728216" cy="285293"/>
          </a:xfrm>
          <a:prstGeom prst="rect">
            <a:avLst/>
          </a:prstGeom>
          <a:noFill/>
          <a:ln/>
        </p:spPr>
        <p:txBody>
          <a:bodyPr wrap="square" rtlCol="0" anchor="ctr"/>
          <a:lstStyle/>
          <a:p>
            <a:pPr marL="0" indent="0" algn="ctr">
              <a:lnSpc>
                <a:spcPct val="120000"/>
              </a:lnSpc>
              <a:buNone/>
            </a:pPr>
            <a:r>
              <a:rPr lang="en-US" sz="1050" dirty="0">
                <a:solidFill>
                  <a:srgbClr val="1A6FBF"/>
                </a:solidFill>
                <a:latin typeface="Calibri" pitchFamily="34" charset="0"/>
                <a:ea typeface="Calibri" pitchFamily="34" charset="-122"/>
                <a:cs typeface="Calibri" pitchFamily="34" charset="-120"/>
              </a:rPr>
              <a:t>Story points</a:t>
            </a:r>
            <a:endParaRPr lang="en-US" sz="1050" dirty="0"/>
          </a:p>
        </p:txBody>
      </p:sp>
      <p:sp>
        <p:nvSpPr>
          <p:cNvPr id="36" name="Shape 34"/>
          <p:cNvSpPr/>
          <p:nvPr/>
        </p:nvSpPr>
        <p:spPr>
          <a:xfrm>
            <a:off x="4864608" y="2834640"/>
            <a:ext cx="1874520" cy="713232"/>
          </a:xfrm>
          <a:prstGeom prst="rect">
            <a:avLst/>
          </a:prstGeom>
          <a:solidFill>
            <a:srgbClr val="E0F2F1"/>
          </a:solidFill>
          <a:ln w="12700">
            <a:solidFill>
              <a:srgbClr val="E0F2F1"/>
            </a:solidFill>
            <a:prstDash val="solid"/>
          </a:ln>
          <a:effectLst>
            <a:outerShdw blurRad="127000" dist="38100" dir="8100000" algn="bl" rotWithShape="0">
              <a:srgbClr val="000000">
                <a:alpha val="9000"/>
              </a:srgbClr>
            </a:outerShdw>
          </a:effectLst>
        </p:spPr>
        <p:txBody>
          <a:bodyPr/>
          <a:lstStyle/>
          <a:p>
            <a:endParaRPr lang="en-IN"/>
          </a:p>
        </p:txBody>
      </p:sp>
      <p:sp>
        <p:nvSpPr>
          <p:cNvPr id="37" name="Text 35"/>
          <p:cNvSpPr/>
          <p:nvPr/>
        </p:nvSpPr>
        <p:spPr>
          <a:xfrm>
            <a:off x="4864608" y="2907792"/>
            <a:ext cx="1874520" cy="370881"/>
          </a:xfrm>
          <a:prstGeom prst="rect">
            <a:avLst/>
          </a:prstGeom>
          <a:noFill/>
          <a:ln/>
        </p:spPr>
        <p:txBody>
          <a:bodyPr wrap="square" rtlCol="0" anchor="b"/>
          <a:lstStyle/>
          <a:p>
            <a:pPr marL="0" indent="0" algn="ctr">
              <a:buNone/>
            </a:pPr>
            <a:r>
              <a:rPr lang="en-US" sz="2800" b="1" dirty="0">
                <a:solidFill>
                  <a:srgbClr val="00796B"/>
                </a:solidFill>
                <a:latin typeface="Calibri" pitchFamily="34" charset="0"/>
                <a:ea typeface="Calibri" pitchFamily="34" charset="-122"/>
                <a:cs typeface="Calibri" pitchFamily="34" charset="-120"/>
              </a:rPr>
              <a:t>35+</a:t>
            </a:r>
            <a:endParaRPr lang="en-US" sz="2800" dirty="0"/>
          </a:p>
        </p:txBody>
      </p:sp>
      <p:sp>
        <p:nvSpPr>
          <p:cNvPr id="38" name="Text 36"/>
          <p:cNvSpPr/>
          <p:nvPr/>
        </p:nvSpPr>
        <p:spPr>
          <a:xfrm>
            <a:off x="4937760" y="3234050"/>
            <a:ext cx="1728216" cy="285293"/>
          </a:xfrm>
          <a:prstGeom prst="rect">
            <a:avLst/>
          </a:prstGeom>
          <a:noFill/>
          <a:ln/>
        </p:spPr>
        <p:txBody>
          <a:bodyPr wrap="square" rtlCol="0" anchor="ctr"/>
          <a:lstStyle/>
          <a:p>
            <a:pPr marL="0" indent="0" algn="ctr">
              <a:lnSpc>
                <a:spcPct val="120000"/>
              </a:lnSpc>
              <a:buNone/>
            </a:pPr>
            <a:r>
              <a:rPr lang="en-US" sz="1050" dirty="0">
                <a:solidFill>
                  <a:srgbClr val="00796B"/>
                </a:solidFill>
                <a:latin typeface="Calibri" pitchFamily="34" charset="0"/>
                <a:ea typeface="Calibri" pitchFamily="34" charset="-122"/>
                <a:cs typeface="Calibri" pitchFamily="34" charset="-120"/>
              </a:rPr>
              <a:t>API endpoints</a:t>
            </a:r>
            <a:endParaRPr lang="en-US" sz="1050" dirty="0"/>
          </a:p>
        </p:txBody>
      </p:sp>
      <p:sp>
        <p:nvSpPr>
          <p:cNvPr id="39" name="Shape 37"/>
          <p:cNvSpPr/>
          <p:nvPr/>
        </p:nvSpPr>
        <p:spPr>
          <a:xfrm>
            <a:off x="6858000" y="2834640"/>
            <a:ext cx="1874520" cy="713232"/>
          </a:xfrm>
          <a:prstGeom prst="rect">
            <a:avLst/>
          </a:prstGeom>
          <a:solidFill>
            <a:srgbClr val="E8F5E9"/>
          </a:solidFill>
          <a:ln w="12700">
            <a:solidFill>
              <a:srgbClr val="E8F5E9"/>
            </a:solidFill>
            <a:prstDash val="solid"/>
          </a:ln>
          <a:effectLst>
            <a:outerShdw blurRad="127000" dist="38100" dir="8100000" algn="bl" rotWithShape="0">
              <a:srgbClr val="000000">
                <a:alpha val="9000"/>
              </a:srgbClr>
            </a:outerShdw>
          </a:effectLst>
        </p:spPr>
        <p:txBody>
          <a:bodyPr/>
          <a:lstStyle/>
          <a:p>
            <a:endParaRPr lang="en-IN"/>
          </a:p>
        </p:txBody>
      </p:sp>
      <p:sp>
        <p:nvSpPr>
          <p:cNvPr id="40" name="Text 38"/>
          <p:cNvSpPr/>
          <p:nvPr/>
        </p:nvSpPr>
        <p:spPr>
          <a:xfrm>
            <a:off x="6858000" y="2907792"/>
            <a:ext cx="1874520" cy="370881"/>
          </a:xfrm>
          <a:prstGeom prst="rect">
            <a:avLst/>
          </a:prstGeom>
          <a:noFill/>
          <a:ln/>
        </p:spPr>
        <p:txBody>
          <a:bodyPr wrap="square" rtlCol="0" anchor="b"/>
          <a:lstStyle/>
          <a:p>
            <a:pPr marL="0" indent="0" algn="ctr">
              <a:buNone/>
            </a:pPr>
            <a:r>
              <a:rPr lang="en-US" sz="2800" b="1" dirty="0">
                <a:solidFill>
                  <a:srgbClr val="1B5E20"/>
                </a:solidFill>
                <a:latin typeface="Calibri" pitchFamily="34" charset="0"/>
                <a:ea typeface="Calibri" pitchFamily="34" charset="-122"/>
                <a:cs typeface="Calibri" pitchFamily="34" charset="-120"/>
              </a:rPr>
              <a:t>3 of 3</a:t>
            </a:r>
            <a:endParaRPr lang="en-US" sz="2800" dirty="0"/>
          </a:p>
        </p:txBody>
      </p:sp>
      <p:sp>
        <p:nvSpPr>
          <p:cNvPr id="41" name="Text 39"/>
          <p:cNvSpPr/>
          <p:nvPr/>
        </p:nvSpPr>
        <p:spPr>
          <a:xfrm>
            <a:off x="6931152" y="3234050"/>
            <a:ext cx="1728216" cy="285293"/>
          </a:xfrm>
          <a:prstGeom prst="rect">
            <a:avLst/>
          </a:prstGeom>
          <a:noFill/>
          <a:ln/>
        </p:spPr>
        <p:txBody>
          <a:bodyPr wrap="square" rtlCol="0" anchor="ctr"/>
          <a:lstStyle/>
          <a:p>
            <a:pPr marL="0" indent="0" algn="ctr">
              <a:lnSpc>
                <a:spcPct val="120000"/>
              </a:lnSpc>
              <a:buNone/>
            </a:pPr>
            <a:r>
              <a:rPr lang="en-US" sz="1050" dirty="0">
                <a:solidFill>
                  <a:srgbClr val="1B5E20"/>
                </a:solidFill>
                <a:latin typeface="Calibri" pitchFamily="34" charset="0"/>
                <a:ea typeface="Calibri" pitchFamily="34" charset="-122"/>
                <a:cs typeface="Calibri" pitchFamily="34" charset="-120"/>
              </a:rPr>
              <a:t>Epics completed</a:t>
            </a:r>
            <a:endParaRPr lang="en-US" sz="1050" dirty="0"/>
          </a:p>
        </p:txBody>
      </p:sp>
      <p:sp>
        <p:nvSpPr>
          <p:cNvPr id="42" name="Text 40"/>
          <p:cNvSpPr/>
          <p:nvPr/>
        </p:nvSpPr>
        <p:spPr>
          <a:xfrm>
            <a:off x="4864608" y="3694176"/>
            <a:ext cx="4005072" cy="310896"/>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Future Roadmap</a:t>
            </a:r>
            <a:endParaRPr lang="en-US" sz="1200" dirty="0"/>
          </a:p>
        </p:txBody>
      </p:sp>
      <p:sp>
        <p:nvSpPr>
          <p:cNvPr id="43" name="Shape 41"/>
          <p:cNvSpPr/>
          <p:nvPr/>
        </p:nvSpPr>
        <p:spPr>
          <a:xfrm>
            <a:off x="4864608" y="4133088"/>
            <a:ext cx="128016" cy="128016"/>
          </a:xfrm>
          <a:prstGeom prst="line">
            <a:avLst/>
          </a:prstGeom>
          <a:solidFill>
            <a:srgbClr val="1A6FBF"/>
          </a:solidFill>
          <a:ln w="12700">
            <a:solidFill>
              <a:srgbClr val="1A6FBF"/>
            </a:solidFill>
            <a:prstDash val="solid"/>
          </a:ln>
        </p:spPr>
        <p:txBody>
          <a:bodyPr/>
          <a:lstStyle/>
          <a:p>
            <a:endParaRPr lang="en-IN"/>
          </a:p>
        </p:txBody>
      </p:sp>
      <p:sp>
        <p:nvSpPr>
          <p:cNvPr id="44" name="Text 42"/>
          <p:cNvSpPr/>
          <p:nvPr/>
        </p:nvSpPr>
        <p:spPr>
          <a:xfrm>
            <a:off x="5065776" y="4041648"/>
            <a:ext cx="3803904"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Model retraining with real hospital EHR data</a:t>
            </a:r>
            <a:endParaRPr lang="en-US" sz="1050" dirty="0"/>
          </a:p>
        </p:txBody>
      </p:sp>
      <p:sp>
        <p:nvSpPr>
          <p:cNvPr id="45" name="Shape 43"/>
          <p:cNvSpPr/>
          <p:nvPr/>
        </p:nvSpPr>
        <p:spPr>
          <a:xfrm>
            <a:off x="4864608" y="4352544"/>
            <a:ext cx="128016" cy="128016"/>
          </a:xfrm>
          <a:prstGeom prst="line">
            <a:avLst/>
          </a:prstGeom>
          <a:solidFill>
            <a:srgbClr val="1A6FBF"/>
          </a:solidFill>
          <a:ln w="12700">
            <a:solidFill>
              <a:srgbClr val="1A6FBF"/>
            </a:solidFill>
            <a:prstDash val="solid"/>
          </a:ln>
        </p:spPr>
        <p:txBody>
          <a:bodyPr/>
          <a:lstStyle/>
          <a:p>
            <a:endParaRPr lang="en-IN"/>
          </a:p>
        </p:txBody>
      </p:sp>
      <p:sp>
        <p:nvSpPr>
          <p:cNvPr id="46" name="Text 44"/>
          <p:cNvSpPr/>
          <p:nvPr/>
        </p:nvSpPr>
        <p:spPr>
          <a:xfrm>
            <a:off x="5065776" y="4261104"/>
            <a:ext cx="3803904"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Confidence scoring + uncertainty estimation per prediction</a:t>
            </a:r>
            <a:endParaRPr lang="en-US" sz="1050" dirty="0"/>
          </a:p>
        </p:txBody>
      </p:sp>
      <p:sp>
        <p:nvSpPr>
          <p:cNvPr id="47" name="Shape 45"/>
          <p:cNvSpPr/>
          <p:nvPr/>
        </p:nvSpPr>
        <p:spPr>
          <a:xfrm>
            <a:off x="4864608" y="4572000"/>
            <a:ext cx="128016" cy="128016"/>
          </a:xfrm>
          <a:prstGeom prst="line">
            <a:avLst/>
          </a:prstGeom>
          <a:solidFill>
            <a:srgbClr val="1A6FBF"/>
          </a:solidFill>
          <a:ln w="12700">
            <a:solidFill>
              <a:srgbClr val="1A6FBF"/>
            </a:solidFill>
            <a:prstDash val="solid"/>
          </a:ln>
        </p:spPr>
        <p:txBody>
          <a:bodyPr/>
          <a:lstStyle/>
          <a:p>
            <a:endParaRPr lang="en-IN"/>
          </a:p>
        </p:txBody>
      </p:sp>
      <p:sp>
        <p:nvSpPr>
          <p:cNvPr id="48" name="Text 46"/>
          <p:cNvSpPr/>
          <p:nvPr/>
        </p:nvSpPr>
        <p:spPr>
          <a:xfrm>
            <a:off x="5065776" y="4480560"/>
            <a:ext cx="3803904"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Multi-hospital / multi-tenant support + RBAC</a:t>
            </a:r>
            <a:endParaRPr lang="en-US" sz="1050" dirty="0"/>
          </a:p>
        </p:txBody>
      </p:sp>
      <p:sp>
        <p:nvSpPr>
          <p:cNvPr id="49" name="Shape 47"/>
          <p:cNvSpPr/>
          <p:nvPr/>
        </p:nvSpPr>
        <p:spPr>
          <a:xfrm>
            <a:off x="4864608" y="4791456"/>
            <a:ext cx="128016" cy="128016"/>
          </a:xfrm>
          <a:prstGeom prst="line">
            <a:avLst/>
          </a:prstGeom>
          <a:solidFill>
            <a:srgbClr val="1A6FBF"/>
          </a:solidFill>
          <a:ln w="12700">
            <a:solidFill>
              <a:srgbClr val="1A6FBF"/>
            </a:solidFill>
            <a:prstDash val="solid"/>
          </a:ln>
        </p:spPr>
        <p:txBody>
          <a:bodyPr/>
          <a:lstStyle/>
          <a:p>
            <a:endParaRPr lang="en-IN"/>
          </a:p>
        </p:txBody>
      </p:sp>
      <p:sp>
        <p:nvSpPr>
          <p:cNvPr id="50" name="Text 48"/>
          <p:cNvSpPr/>
          <p:nvPr/>
        </p:nvSpPr>
        <p:spPr>
          <a:xfrm>
            <a:off x="5065776" y="4700016"/>
            <a:ext cx="3803904"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Real EDI/HL7 supplier integration for live PO submission</a:t>
            </a:r>
            <a:endParaRPr lang="en-US" sz="1050" dirty="0"/>
          </a:p>
        </p:txBody>
      </p:sp>
      <p:sp>
        <p:nvSpPr>
          <p:cNvPr id="51" name="Shape 49"/>
          <p:cNvSpPr/>
          <p:nvPr/>
        </p:nvSpPr>
        <p:spPr>
          <a:xfrm>
            <a:off x="4864608" y="5010912"/>
            <a:ext cx="128016" cy="128016"/>
          </a:xfrm>
          <a:prstGeom prst="line">
            <a:avLst/>
          </a:prstGeom>
          <a:solidFill>
            <a:srgbClr val="1A6FBF"/>
          </a:solidFill>
          <a:ln w="12700">
            <a:solidFill>
              <a:srgbClr val="1A6FBF"/>
            </a:solidFill>
            <a:prstDash val="solid"/>
          </a:ln>
        </p:spPr>
        <p:txBody>
          <a:bodyPr/>
          <a:lstStyle/>
          <a:p>
            <a:endParaRPr lang="en-IN"/>
          </a:p>
        </p:txBody>
      </p:sp>
      <p:sp>
        <p:nvSpPr>
          <p:cNvPr id="52" name="Text 50"/>
          <p:cNvSpPr/>
          <p:nvPr/>
        </p:nvSpPr>
        <p:spPr>
          <a:xfrm>
            <a:off x="5065776" y="4919472"/>
            <a:ext cx="3803904" cy="402336"/>
          </a:xfrm>
          <a:prstGeom prst="rect">
            <a:avLst/>
          </a:prstGeom>
          <a:noFill/>
          <a:ln/>
        </p:spPr>
        <p:txBody>
          <a:bodyPr wrap="square" rtlCol="0" anchor="ctr"/>
          <a:lstStyle/>
          <a:p>
            <a:pPr marL="0" indent="0">
              <a:lnSpc>
                <a:spcPct val="125000"/>
              </a:lnSpc>
              <a:buNone/>
            </a:pPr>
            <a:r>
              <a:rPr lang="en-US" sz="1050" dirty="0">
                <a:solidFill>
                  <a:srgbClr val="2C3E50"/>
                </a:solidFill>
                <a:latin typeface="Calibri" pitchFamily="34" charset="0"/>
                <a:ea typeface="Calibri" pitchFamily="34" charset="-122"/>
                <a:cs typeface="Calibri" pitchFamily="34" charset="-120"/>
              </a:rPr>
              <a:t>Mobile PWA for ward-level alerts and barcode scanning</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A6FBF"/>
          </a:solidFill>
          <a:ln w="12700">
            <a:solidFill>
              <a:srgbClr val="1A6FBF"/>
            </a:solidFill>
            <a:prstDash val="solid"/>
          </a:ln>
        </p:spPr>
        <p:txBody>
          <a:bodyPr/>
          <a:lstStyle/>
          <a:p>
            <a:endParaRPr lang="en-IN"/>
          </a:p>
        </p:txBody>
      </p:sp>
      <p:sp>
        <p:nvSpPr>
          <p:cNvPr id="3" name="Shape 1"/>
          <p:cNvSpPr/>
          <p:nvPr/>
        </p:nvSpPr>
        <p:spPr>
          <a:xfrm>
            <a:off x="8942832" y="0"/>
            <a:ext cx="201168" cy="5143500"/>
          </a:xfrm>
          <a:prstGeom prst="rect">
            <a:avLst/>
          </a:prstGeom>
          <a:solidFill>
            <a:srgbClr val="1A6FBF"/>
          </a:solidFill>
          <a:ln w="12700">
            <a:solidFill>
              <a:srgbClr val="1A6FBF"/>
            </a:solidFill>
            <a:prstDash val="solid"/>
          </a:ln>
        </p:spPr>
        <p:txBody>
          <a:bodyPr/>
          <a:lstStyle/>
          <a:p>
            <a:endParaRPr lang="en-IN"/>
          </a:p>
        </p:txBody>
      </p:sp>
      <p:sp>
        <p:nvSpPr>
          <p:cNvPr id="4" name="Shape 2"/>
          <p:cNvSpPr/>
          <p:nvPr/>
        </p:nvSpPr>
        <p:spPr>
          <a:xfrm>
            <a:off x="1371600" y="640080"/>
            <a:ext cx="6400800" cy="3840480"/>
          </a:xfrm>
          <a:prstGeom prst="rect">
            <a:avLst/>
          </a:prstGeom>
          <a:solidFill>
            <a:srgbClr val="13294B"/>
          </a:solidFill>
          <a:ln w="12700">
            <a:solidFill>
              <a:srgbClr val="13294B"/>
            </a:solidFill>
            <a:prstDash val="solid"/>
          </a:ln>
        </p:spPr>
        <p:txBody>
          <a:bodyPr/>
          <a:lstStyle/>
          <a:p>
            <a:endParaRPr lang="en-IN"/>
          </a:p>
        </p:txBody>
      </p:sp>
      <p:sp>
        <p:nvSpPr>
          <p:cNvPr id="5" name="Shape 3"/>
          <p:cNvSpPr/>
          <p:nvPr/>
        </p:nvSpPr>
        <p:spPr>
          <a:xfrm>
            <a:off x="1371600" y="640080"/>
            <a:ext cx="6400800" cy="54864"/>
          </a:xfrm>
          <a:prstGeom prst="rect">
            <a:avLst/>
          </a:prstGeom>
          <a:solidFill>
            <a:srgbClr val="1A6FBF"/>
          </a:solidFill>
          <a:ln w="12700">
            <a:solidFill>
              <a:srgbClr val="1A6FBF"/>
            </a:solidFill>
            <a:prstDash val="solid"/>
          </a:ln>
        </p:spPr>
        <p:txBody>
          <a:bodyPr/>
          <a:lstStyle/>
          <a:p>
            <a:endParaRPr lang="en-IN"/>
          </a:p>
        </p:txBody>
      </p:sp>
      <p:sp>
        <p:nvSpPr>
          <p:cNvPr id="6" name="Shape 4"/>
          <p:cNvSpPr/>
          <p:nvPr/>
        </p:nvSpPr>
        <p:spPr>
          <a:xfrm>
            <a:off x="1371600" y="4425696"/>
            <a:ext cx="6400800" cy="54864"/>
          </a:xfrm>
          <a:prstGeom prst="rect">
            <a:avLst/>
          </a:prstGeom>
          <a:solidFill>
            <a:srgbClr val="1A6FBF"/>
          </a:solidFill>
          <a:ln w="12700">
            <a:solidFill>
              <a:srgbClr val="1A6FBF"/>
            </a:solidFill>
            <a:prstDash val="solid"/>
          </a:ln>
        </p:spPr>
        <p:txBody>
          <a:bodyPr/>
          <a:lstStyle/>
          <a:p>
            <a:endParaRPr lang="en-IN"/>
          </a:p>
        </p:txBody>
      </p:sp>
      <p:sp>
        <p:nvSpPr>
          <p:cNvPr id="7" name="Text 5"/>
          <p:cNvSpPr/>
          <p:nvPr/>
        </p:nvSpPr>
        <p:spPr>
          <a:xfrm>
            <a:off x="1371600" y="822960"/>
            <a:ext cx="6400800" cy="1280160"/>
          </a:xfrm>
          <a:prstGeom prst="rect">
            <a:avLst/>
          </a:prstGeom>
          <a:noFill/>
          <a:ln/>
        </p:spPr>
        <p:txBody>
          <a:bodyPr wrap="square" rtlCol="0" anchor="ctr"/>
          <a:lstStyle/>
          <a:p>
            <a:pPr marL="0" indent="0" algn="ctr">
              <a:buNone/>
            </a:pPr>
            <a:r>
              <a:rPr lang="en-US" sz="5600" b="1" dirty="0">
                <a:solidFill>
                  <a:srgbClr val="FFFFFF"/>
                </a:solidFill>
                <a:latin typeface="Calibri" pitchFamily="34" charset="0"/>
                <a:ea typeface="Calibri" pitchFamily="34" charset="-122"/>
                <a:cs typeface="Calibri" pitchFamily="34" charset="-120"/>
              </a:rPr>
              <a:t>Thank You</a:t>
            </a:r>
            <a:endParaRPr lang="en-US" sz="5600" dirty="0"/>
          </a:p>
        </p:txBody>
      </p:sp>
      <p:sp>
        <p:nvSpPr>
          <p:cNvPr id="8" name="Text 6"/>
          <p:cNvSpPr/>
          <p:nvPr/>
        </p:nvSpPr>
        <p:spPr>
          <a:xfrm>
            <a:off x="1371600" y="2011680"/>
            <a:ext cx="6400800" cy="502920"/>
          </a:xfrm>
          <a:prstGeom prst="rect">
            <a:avLst/>
          </a:prstGeom>
          <a:noFill/>
          <a:ln/>
        </p:spPr>
        <p:txBody>
          <a:bodyPr wrap="square" rtlCol="0" anchor="ctr"/>
          <a:lstStyle/>
          <a:p>
            <a:pPr marL="0" indent="0" algn="ctr">
              <a:buNone/>
            </a:pPr>
            <a:r>
              <a:rPr lang="en-US" sz="1800" i="1" dirty="0">
                <a:solidFill>
                  <a:srgbClr val="7BAFD4"/>
                </a:solidFill>
                <a:latin typeface="Calibri" pitchFamily="34" charset="0"/>
                <a:ea typeface="Calibri" pitchFamily="34" charset="-122"/>
                <a:cs typeface="Calibri" pitchFamily="34" charset="-120"/>
              </a:rPr>
              <a:t>Questions &amp; Discussion</a:t>
            </a:r>
            <a:endParaRPr lang="en-US" sz="1800" dirty="0"/>
          </a:p>
        </p:txBody>
      </p:sp>
      <p:sp>
        <p:nvSpPr>
          <p:cNvPr id="9" name="Shape 7"/>
          <p:cNvSpPr/>
          <p:nvPr/>
        </p:nvSpPr>
        <p:spPr>
          <a:xfrm>
            <a:off x="2743200" y="2606040"/>
            <a:ext cx="3657600" cy="45720"/>
          </a:xfrm>
          <a:prstGeom prst="rect">
            <a:avLst/>
          </a:prstGeom>
          <a:solidFill>
            <a:srgbClr val="1A6FBF"/>
          </a:solidFill>
          <a:ln w="12700">
            <a:solidFill>
              <a:srgbClr val="1A6FBF"/>
            </a:solidFill>
            <a:prstDash val="solid"/>
          </a:ln>
        </p:spPr>
        <p:txBody>
          <a:bodyPr/>
          <a:lstStyle/>
          <a:p>
            <a:endParaRPr lang="en-IN"/>
          </a:p>
        </p:txBody>
      </p:sp>
      <p:sp>
        <p:nvSpPr>
          <p:cNvPr id="10" name="Shape 8"/>
          <p:cNvSpPr/>
          <p:nvPr/>
        </p:nvSpPr>
        <p:spPr>
          <a:xfrm>
            <a:off x="1481328" y="2779776"/>
            <a:ext cx="1956816" cy="804672"/>
          </a:xfrm>
          <a:prstGeom prst="rect">
            <a:avLst/>
          </a:prstGeom>
          <a:solidFill>
            <a:srgbClr val="1A3A5C"/>
          </a:solidFill>
          <a:ln w="12700">
            <a:solidFill>
              <a:srgbClr val="1A6FBF"/>
            </a:solidFill>
            <a:prstDash val="solid"/>
          </a:ln>
        </p:spPr>
        <p:txBody>
          <a:bodyPr/>
          <a:lstStyle/>
          <a:p>
            <a:endParaRPr lang="en-IN"/>
          </a:p>
        </p:txBody>
      </p:sp>
      <p:sp>
        <p:nvSpPr>
          <p:cNvPr id="11" name="Text 9"/>
          <p:cNvSpPr/>
          <p:nvPr/>
        </p:nvSpPr>
        <p:spPr>
          <a:xfrm>
            <a:off x="1572768" y="2834640"/>
            <a:ext cx="1773936" cy="329184"/>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Tenzin Kunga</a:t>
            </a:r>
            <a:endParaRPr lang="en-US" sz="1150" dirty="0"/>
          </a:p>
        </p:txBody>
      </p:sp>
      <p:sp>
        <p:nvSpPr>
          <p:cNvPr id="12" name="Text 10"/>
          <p:cNvSpPr/>
          <p:nvPr/>
        </p:nvSpPr>
        <p:spPr>
          <a:xfrm>
            <a:off x="1572768" y="3163824"/>
            <a:ext cx="1773936" cy="274320"/>
          </a:xfrm>
          <a:prstGeom prst="rect">
            <a:avLst/>
          </a:prstGeom>
          <a:noFill/>
          <a:ln/>
        </p:spPr>
        <p:txBody>
          <a:bodyPr wrap="square" rtlCol="0" anchor="ctr"/>
          <a:lstStyle/>
          <a:p>
            <a:pPr marL="0" indent="0">
              <a:buNone/>
            </a:pPr>
            <a:r>
              <a:rPr lang="en-US" sz="1050" dirty="0">
                <a:solidFill>
                  <a:srgbClr val="8AB4D4"/>
                </a:solidFill>
                <a:latin typeface="Calibri" pitchFamily="34" charset="0"/>
                <a:ea typeface="Calibri" pitchFamily="34" charset="-122"/>
                <a:cs typeface="Calibri" pitchFamily="34" charset="-120"/>
              </a:rPr>
              <a:t>23BTRCL088</a:t>
            </a:r>
            <a:endParaRPr lang="en-US" sz="1050" dirty="0"/>
          </a:p>
        </p:txBody>
      </p:sp>
      <p:sp>
        <p:nvSpPr>
          <p:cNvPr id="13" name="Shape 11"/>
          <p:cNvSpPr/>
          <p:nvPr/>
        </p:nvSpPr>
        <p:spPr>
          <a:xfrm>
            <a:off x="3566160" y="2779776"/>
            <a:ext cx="1956816" cy="804672"/>
          </a:xfrm>
          <a:prstGeom prst="rect">
            <a:avLst/>
          </a:prstGeom>
          <a:solidFill>
            <a:srgbClr val="1A3A5C"/>
          </a:solidFill>
          <a:ln w="12700">
            <a:solidFill>
              <a:srgbClr val="1A6FBF"/>
            </a:solidFill>
            <a:prstDash val="solid"/>
          </a:ln>
        </p:spPr>
        <p:txBody>
          <a:bodyPr/>
          <a:lstStyle/>
          <a:p>
            <a:endParaRPr lang="en-IN"/>
          </a:p>
        </p:txBody>
      </p:sp>
      <p:sp>
        <p:nvSpPr>
          <p:cNvPr id="14" name="Text 12"/>
          <p:cNvSpPr/>
          <p:nvPr/>
        </p:nvSpPr>
        <p:spPr>
          <a:xfrm>
            <a:off x="3657600" y="2834640"/>
            <a:ext cx="1773936" cy="329184"/>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Saunak Mahapatra</a:t>
            </a:r>
            <a:endParaRPr lang="en-US" sz="1150" dirty="0"/>
          </a:p>
        </p:txBody>
      </p:sp>
      <p:sp>
        <p:nvSpPr>
          <p:cNvPr id="15" name="Text 13"/>
          <p:cNvSpPr/>
          <p:nvPr/>
        </p:nvSpPr>
        <p:spPr>
          <a:xfrm>
            <a:off x="3657600" y="3163824"/>
            <a:ext cx="1773936" cy="274320"/>
          </a:xfrm>
          <a:prstGeom prst="rect">
            <a:avLst/>
          </a:prstGeom>
          <a:noFill/>
          <a:ln/>
        </p:spPr>
        <p:txBody>
          <a:bodyPr wrap="square" rtlCol="0" anchor="ctr"/>
          <a:lstStyle/>
          <a:p>
            <a:pPr marL="0" indent="0">
              <a:buNone/>
            </a:pPr>
            <a:r>
              <a:rPr lang="en-US" sz="1050" dirty="0">
                <a:solidFill>
                  <a:srgbClr val="8AB4D4"/>
                </a:solidFill>
                <a:latin typeface="Calibri" pitchFamily="34" charset="0"/>
                <a:ea typeface="Calibri" pitchFamily="34" charset="-122"/>
                <a:cs typeface="Calibri" pitchFamily="34" charset="-120"/>
              </a:rPr>
              <a:t>23BTRCL077</a:t>
            </a:r>
            <a:endParaRPr lang="en-US" sz="1050" dirty="0"/>
          </a:p>
        </p:txBody>
      </p:sp>
      <p:sp>
        <p:nvSpPr>
          <p:cNvPr id="16" name="Shape 14"/>
          <p:cNvSpPr/>
          <p:nvPr/>
        </p:nvSpPr>
        <p:spPr>
          <a:xfrm>
            <a:off x="5650992" y="2779776"/>
            <a:ext cx="1956816" cy="804672"/>
          </a:xfrm>
          <a:prstGeom prst="rect">
            <a:avLst/>
          </a:prstGeom>
          <a:solidFill>
            <a:srgbClr val="1A3A5C"/>
          </a:solidFill>
          <a:ln w="12700">
            <a:solidFill>
              <a:srgbClr val="1A6FBF"/>
            </a:solidFill>
            <a:prstDash val="solid"/>
          </a:ln>
        </p:spPr>
        <p:txBody>
          <a:bodyPr/>
          <a:lstStyle/>
          <a:p>
            <a:endParaRPr lang="en-IN"/>
          </a:p>
        </p:txBody>
      </p:sp>
      <p:sp>
        <p:nvSpPr>
          <p:cNvPr id="17" name="Text 15"/>
          <p:cNvSpPr/>
          <p:nvPr/>
        </p:nvSpPr>
        <p:spPr>
          <a:xfrm>
            <a:off x="5742432" y="2834640"/>
            <a:ext cx="1773936" cy="329184"/>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Saumitra Purkayastha</a:t>
            </a:r>
            <a:endParaRPr lang="en-US" sz="1150" dirty="0"/>
          </a:p>
        </p:txBody>
      </p:sp>
      <p:sp>
        <p:nvSpPr>
          <p:cNvPr id="18" name="Text 16"/>
          <p:cNvSpPr/>
          <p:nvPr/>
        </p:nvSpPr>
        <p:spPr>
          <a:xfrm>
            <a:off x="5742432" y="3163824"/>
            <a:ext cx="1773936" cy="274320"/>
          </a:xfrm>
          <a:prstGeom prst="rect">
            <a:avLst/>
          </a:prstGeom>
          <a:noFill/>
          <a:ln/>
        </p:spPr>
        <p:txBody>
          <a:bodyPr wrap="square" rtlCol="0" anchor="ctr"/>
          <a:lstStyle/>
          <a:p>
            <a:pPr marL="0" indent="0">
              <a:buNone/>
            </a:pPr>
            <a:r>
              <a:rPr lang="en-US" sz="1050" dirty="0">
                <a:solidFill>
                  <a:srgbClr val="8AB4D4"/>
                </a:solidFill>
                <a:latin typeface="Calibri" pitchFamily="34" charset="0"/>
                <a:ea typeface="Calibri" pitchFamily="34" charset="-122"/>
                <a:cs typeface="Calibri" pitchFamily="34" charset="-120"/>
              </a:rPr>
              <a:t>23BTRCL113</a:t>
            </a:r>
            <a:endParaRPr lang="en-US" sz="1050" dirty="0"/>
          </a:p>
        </p:txBody>
      </p:sp>
      <p:sp>
        <p:nvSpPr>
          <p:cNvPr id="19" name="Shape 17"/>
          <p:cNvSpPr/>
          <p:nvPr/>
        </p:nvSpPr>
        <p:spPr>
          <a:xfrm>
            <a:off x="2377440" y="3730752"/>
            <a:ext cx="4389120" cy="475488"/>
          </a:xfrm>
          <a:prstGeom prst="rect">
            <a:avLst/>
          </a:prstGeom>
          <a:solidFill>
            <a:srgbClr val="1A6FBF"/>
          </a:solidFill>
          <a:ln w="12700">
            <a:solidFill>
              <a:srgbClr val="1A6FBF"/>
            </a:solidFill>
            <a:prstDash val="solid"/>
          </a:ln>
        </p:spPr>
        <p:txBody>
          <a:bodyPr/>
          <a:lstStyle/>
          <a:p>
            <a:endParaRPr lang="en-IN"/>
          </a:p>
        </p:txBody>
      </p:sp>
      <p:sp>
        <p:nvSpPr>
          <p:cNvPr id="20" name="Text 18"/>
          <p:cNvSpPr/>
          <p:nvPr/>
        </p:nvSpPr>
        <p:spPr>
          <a:xfrm>
            <a:off x="2377440" y="3730752"/>
            <a:ext cx="4389120" cy="475488"/>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github.com/tampered-sin/v0-ahimp  |  branch: develop</a:t>
            </a:r>
            <a:endParaRPr lang="en-US" sz="1200" dirty="0"/>
          </a:p>
        </p:txBody>
      </p:sp>
      <p:sp>
        <p:nvSpPr>
          <p:cNvPr id="21" name="Text 19"/>
          <p:cNvSpPr/>
          <p:nvPr/>
        </p:nvSpPr>
        <p:spPr>
          <a:xfrm>
            <a:off x="457200" y="4809744"/>
            <a:ext cx="8229600" cy="237744"/>
          </a:xfrm>
          <a:prstGeom prst="rect">
            <a:avLst/>
          </a:prstGeom>
          <a:noFill/>
          <a:ln/>
        </p:spPr>
        <p:txBody>
          <a:bodyPr wrap="square" rtlCol="0" anchor="ctr"/>
          <a:lstStyle/>
          <a:p>
            <a:pPr marL="0" indent="0" algn="ctr">
              <a:buNone/>
            </a:pPr>
            <a:r>
              <a:rPr lang="en-US" sz="900" dirty="0">
                <a:solidFill>
                  <a:srgbClr val="7BAFD4"/>
                </a:solidFill>
                <a:latin typeface="Calibri" pitchFamily="34" charset="0"/>
                <a:ea typeface="Calibri" pitchFamily="34" charset="-122"/>
                <a:cs typeface="Calibri" pitchFamily="34" charset="-120"/>
              </a:rPr>
              <a:t>AHIM — AI-Powered Hospital Inventory Management  |  Academic Project 2025–26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2471</Words>
  <Application>Microsoft Office PowerPoint</Application>
  <PresentationFormat>On-screen Show (16:9)</PresentationFormat>
  <Paragraphs>489</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AHIM — AI-Powered Hospital Inventory Management</dc:title>
  <dc:subject>PptxGenJS Presentation</dc:subject>
  <dc:creator>PptxGenJS</dc:creator>
  <cp:lastModifiedBy>Saumitra Purkayastha</cp:lastModifiedBy>
  <cp:revision>1</cp:revision>
  <dcterms:created xsi:type="dcterms:W3CDTF">2026-04-19T06:01:43Z</dcterms:created>
  <dcterms:modified xsi:type="dcterms:W3CDTF">2026-04-19T16:36:39Z</dcterms:modified>
</cp:coreProperties>
</file>